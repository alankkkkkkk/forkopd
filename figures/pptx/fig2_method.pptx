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004800" cy="462686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002 (1) Hindsight predictor container"/>
          <p:cNvSpPr/>
          <p:nvPr/>
        </p:nvSpPr>
        <p:spPr>
          <a:xfrm>
            <a:off x="63500" y="437896"/>
            <a:ext cx="3225800" cy="3768344"/>
          </a:xfrm>
          <a:prstGeom prst="roundRect">
            <a:avLst>
              <a:gd name="adj" fmla="val 1984"/>
            </a:avLst>
          </a:prstGeom>
          <a:gradFill rotWithShape="1">
            <a:gsLst>
              <a:gs pos="0">
                <a:srgbClr val="F8FBFF"/>
              </a:gs>
              <a:gs pos="100000">
                <a:srgbClr val="F4F8FE"/>
              </a:gs>
            </a:gsLst>
            <a:lin ang="5400000" scaled="1"/>
          </a:gradFill>
          <a:ln w="19050">
            <a:solidFill>
              <a:srgbClr val="8FB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003 panel header"/>
          <p:cNvSpPr/>
          <p:nvPr/>
        </p:nvSpPr>
        <p:spPr>
          <a:xfrm>
            <a:off x="63500" y="437896"/>
            <a:ext cx="3225800" cy="338328"/>
          </a:xfrm>
          <a:custGeom>
            <a:avLst/>
            <a:gdLst/>
            <a:ahLst/>
            <a:cxnLst/>
            <a:rect l="l" t="t" r="r" b="b"/>
            <a:pathLst>
              <a:path w="508000" h="53000" fill="norm" stroke="1">
                <a:moveTo>
                  <a:pt x="0" y="53000"/>
                </a:moveTo>
                <a:lnTo>
                  <a:pt x="0" y="22000"/>
                </a:lnTo>
                <a:quadBezTo>
                  <a:pt x="0" y="0"/>
                  <a:pt x="22000" y="0"/>
                </a:quadBezTo>
                <a:lnTo>
                  <a:pt x="486000" y="0"/>
                </a:lnTo>
                <a:quadBezTo>
                  <a:pt x="508000" y="0"/>
                  <a:pt x="508000" y="22000"/>
                </a:quadBezTo>
                <a:lnTo>
                  <a:pt x="508000" y="53000"/>
                </a:lnTo>
                <a:close/>
              </a:path>
            </a:pathLst>
          </a:custGeom>
          <a:gradFill rotWithShape="1">
            <a:gsLst>
              <a:gs pos="0">
                <a:srgbClr val="E3EEFC"/>
              </a:gs>
              <a:gs pos="100000">
                <a:srgbClr val="E9F2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004 panel outline"/>
          <p:cNvSpPr/>
          <p:nvPr/>
        </p:nvSpPr>
        <p:spPr>
          <a:xfrm>
            <a:off x="63500" y="437896"/>
            <a:ext cx="3225800" cy="3768344"/>
          </a:xfrm>
          <a:prstGeom prst="roundRect">
            <a:avLst>
              <a:gd name="adj" fmla="val 1984"/>
            </a:avLst>
          </a:prstGeom>
          <a:noFill/>
          <a:ln w="19050">
            <a:solidFill>
              <a:srgbClr val="8FB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005 (1) Hindsight predictor"/>
          <p:cNvSpPr txBox="1"/>
          <p:nvPr/>
        </p:nvSpPr>
        <p:spPr>
          <a:xfrm>
            <a:off x="439789" y="470472"/>
            <a:ext cx="2473222" cy="2823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63040"/>
                </a:solidFill>
                <a:latin typeface="Times New Roman"/>
              </a:rPr>
              <a:t>(1) Hindsight predictor</a:t>
            </a:r>
          </a:p>
        </p:txBody>
      </p:sp>
      <p:sp>
        <p:nvSpPr>
          <p:cNvPr id="7" name="006 (2) Randomized forks container"/>
          <p:cNvSpPr/>
          <p:nvPr/>
        </p:nvSpPr>
        <p:spPr>
          <a:xfrm>
            <a:off x="3378200" y="1610106"/>
            <a:ext cx="3549650" cy="2596134"/>
          </a:xfrm>
          <a:prstGeom prst="roundRect">
            <a:avLst>
              <a:gd name="adj" fmla="val 2465"/>
            </a:avLst>
          </a:prstGeom>
          <a:gradFill rotWithShape="1">
            <a:gsLst>
              <a:gs pos="0">
                <a:srgbClr val="F8FBFF"/>
              </a:gs>
              <a:gs pos="100000">
                <a:srgbClr val="F4F8FE"/>
              </a:gs>
            </a:gsLst>
            <a:lin ang="5400000" scaled="1"/>
          </a:gradFill>
          <a:ln w="19050">
            <a:solidFill>
              <a:srgbClr val="8FB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007 panel header"/>
          <p:cNvSpPr/>
          <p:nvPr/>
        </p:nvSpPr>
        <p:spPr>
          <a:xfrm>
            <a:off x="3378200" y="1610106"/>
            <a:ext cx="3549650" cy="338328"/>
          </a:xfrm>
          <a:custGeom>
            <a:avLst/>
            <a:gdLst/>
            <a:ahLst/>
            <a:cxnLst/>
            <a:rect l="l" t="t" r="r" b="b"/>
            <a:pathLst>
              <a:path w="559000" h="53000" fill="norm" stroke="1">
                <a:moveTo>
                  <a:pt x="0" y="53000"/>
                </a:moveTo>
                <a:lnTo>
                  <a:pt x="0" y="22000"/>
                </a:lnTo>
                <a:quadBezTo>
                  <a:pt x="0" y="0"/>
                  <a:pt x="22000" y="0"/>
                </a:quadBezTo>
                <a:lnTo>
                  <a:pt x="537000" y="0"/>
                </a:lnTo>
                <a:quadBezTo>
                  <a:pt x="559000" y="0"/>
                  <a:pt x="559000" y="22000"/>
                </a:quadBezTo>
                <a:lnTo>
                  <a:pt x="559000" y="53000"/>
                </a:lnTo>
                <a:close/>
              </a:path>
            </a:pathLst>
          </a:custGeom>
          <a:gradFill rotWithShape="1">
            <a:gsLst>
              <a:gs pos="0">
                <a:srgbClr val="E3EEFC"/>
              </a:gs>
              <a:gs pos="100000">
                <a:srgbClr val="E9F2FD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008 panel outline"/>
          <p:cNvSpPr/>
          <p:nvPr/>
        </p:nvSpPr>
        <p:spPr>
          <a:xfrm>
            <a:off x="3378200" y="1610106"/>
            <a:ext cx="3549650" cy="2596134"/>
          </a:xfrm>
          <a:prstGeom prst="roundRect">
            <a:avLst>
              <a:gd name="adj" fmla="val 2465"/>
            </a:avLst>
          </a:prstGeom>
          <a:noFill/>
          <a:ln w="19050">
            <a:solidFill>
              <a:srgbClr val="8FB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009 (2) Randomized forks"/>
          <p:cNvSpPr txBox="1"/>
          <p:nvPr/>
        </p:nvSpPr>
        <p:spPr>
          <a:xfrm>
            <a:off x="3987990" y="1642682"/>
            <a:ext cx="2330071" cy="2823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63040"/>
                </a:solidFill>
                <a:latin typeface="Times New Roman"/>
              </a:rPr>
              <a:t>(2) Randomized forks</a:t>
            </a:r>
          </a:p>
        </p:txBody>
      </p:sp>
      <p:sp>
        <p:nvSpPr>
          <p:cNvPr id="11" name="010 (3) Rectified credit container"/>
          <p:cNvSpPr/>
          <p:nvPr/>
        </p:nvSpPr>
        <p:spPr>
          <a:xfrm>
            <a:off x="6991350" y="1610106"/>
            <a:ext cx="2940050" cy="2596134"/>
          </a:xfrm>
          <a:prstGeom prst="roundRect">
            <a:avLst>
              <a:gd name="adj" fmla="val 2465"/>
            </a:avLst>
          </a:prstGeom>
          <a:gradFill rotWithShape="1">
            <a:gsLst>
              <a:gs pos="0">
                <a:srgbClr val="FFFAF5"/>
              </a:gs>
              <a:gs pos="100000">
                <a:srgbClr val="FFFBF8"/>
              </a:gs>
            </a:gsLst>
            <a:lin ang="5400000" scaled="1"/>
          </a:gradFill>
          <a:ln w="19050">
            <a:solidFill>
              <a:srgbClr val="EBB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011 panel header"/>
          <p:cNvSpPr/>
          <p:nvPr/>
        </p:nvSpPr>
        <p:spPr>
          <a:xfrm>
            <a:off x="6991350" y="1610106"/>
            <a:ext cx="2940050" cy="338328"/>
          </a:xfrm>
          <a:custGeom>
            <a:avLst/>
            <a:gdLst/>
            <a:ahLst/>
            <a:cxnLst/>
            <a:rect l="l" t="t" r="r" b="b"/>
            <a:pathLst>
              <a:path w="463000" h="53000" fill="norm" stroke="1">
                <a:moveTo>
                  <a:pt x="0" y="53000"/>
                </a:moveTo>
                <a:lnTo>
                  <a:pt x="0" y="22000"/>
                </a:lnTo>
                <a:quadBezTo>
                  <a:pt x="0" y="0"/>
                  <a:pt x="22000" y="0"/>
                </a:quadBezTo>
                <a:lnTo>
                  <a:pt x="441000" y="0"/>
                </a:lnTo>
                <a:quadBezTo>
                  <a:pt x="463000" y="0"/>
                  <a:pt x="463000" y="22000"/>
                </a:quadBezTo>
                <a:lnTo>
                  <a:pt x="463000" y="53000"/>
                </a:lnTo>
                <a:close/>
              </a:path>
            </a:pathLst>
          </a:custGeom>
          <a:gradFill rotWithShape="1">
            <a:gsLst>
              <a:gs pos="0">
                <a:srgbClr val="FDEBDC"/>
              </a:gs>
              <a:gs pos="100000">
                <a:srgbClr val="FCE5D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012 panel outline"/>
          <p:cNvSpPr/>
          <p:nvPr/>
        </p:nvSpPr>
        <p:spPr>
          <a:xfrm>
            <a:off x="6991350" y="1610106"/>
            <a:ext cx="2940050" cy="2596134"/>
          </a:xfrm>
          <a:prstGeom prst="roundRect">
            <a:avLst>
              <a:gd name="adj" fmla="val 2465"/>
            </a:avLst>
          </a:prstGeom>
          <a:noFill/>
          <a:ln w="19050">
            <a:solidFill>
              <a:srgbClr val="EBB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013 (3) Rectified credit"/>
          <p:cNvSpPr txBox="1"/>
          <p:nvPr/>
        </p:nvSpPr>
        <p:spPr>
          <a:xfrm>
            <a:off x="7453104" y="1642682"/>
            <a:ext cx="2016543" cy="2823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63040"/>
                </a:solidFill>
                <a:latin typeface="Times New Roman"/>
              </a:rPr>
              <a:t>(3) Rectified credit</a:t>
            </a:r>
          </a:p>
        </p:txBody>
      </p:sp>
      <p:sp>
        <p:nvSpPr>
          <p:cNvPr id="15" name="014 (4) Policy update container"/>
          <p:cNvSpPr/>
          <p:nvPr/>
        </p:nvSpPr>
        <p:spPr>
          <a:xfrm>
            <a:off x="10033000" y="437896"/>
            <a:ext cx="2914650" cy="3768344"/>
          </a:xfrm>
          <a:prstGeom prst="roundRect">
            <a:avLst>
              <a:gd name="adj" fmla="val 2196"/>
            </a:avLst>
          </a:prstGeom>
          <a:gradFill rotWithShape="1">
            <a:gsLst>
              <a:gs pos="0">
                <a:srgbClr val="FFFAF5"/>
              </a:gs>
              <a:gs pos="100000">
                <a:srgbClr val="FFFBF8"/>
              </a:gs>
            </a:gsLst>
            <a:lin ang="5400000" scaled="1"/>
          </a:gradFill>
          <a:ln w="19050">
            <a:solidFill>
              <a:srgbClr val="EBB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015 panel header"/>
          <p:cNvSpPr/>
          <p:nvPr/>
        </p:nvSpPr>
        <p:spPr>
          <a:xfrm>
            <a:off x="10033000" y="437896"/>
            <a:ext cx="2914650" cy="338328"/>
          </a:xfrm>
          <a:custGeom>
            <a:avLst/>
            <a:gdLst/>
            <a:ahLst/>
            <a:cxnLst/>
            <a:rect l="l" t="t" r="r" b="b"/>
            <a:pathLst>
              <a:path w="459000" h="53000" fill="norm" stroke="1">
                <a:moveTo>
                  <a:pt x="0" y="53000"/>
                </a:moveTo>
                <a:lnTo>
                  <a:pt x="0" y="22000"/>
                </a:lnTo>
                <a:quadBezTo>
                  <a:pt x="0" y="0"/>
                  <a:pt x="22000" y="0"/>
                </a:quadBezTo>
                <a:lnTo>
                  <a:pt x="437000" y="0"/>
                </a:lnTo>
                <a:quadBezTo>
                  <a:pt x="459000" y="0"/>
                  <a:pt x="459000" y="22000"/>
                </a:quadBezTo>
                <a:lnTo>
                  <a:pt x="459000" y="53000"/>
                </a:lnTo>
                <a:close/>
              </a:path>
            </a:pathLst>
          </a:custGeom>
          <a:gradFill rotWithShape="1">
            <a:gsLst>
              <a:gs pos="0">
                <a:srgbClr val="FDEBDC"/>
              </a:gs>
              <a:gs pos="100000">
                <a:srgbClr val="FCE5D2"/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016 panel outline"/>
          <p:cNvSpPr/>
          <p:nvPr/>
        </p:nvSpPr>
        <p:spPr>
          <a:xfrm>
            <a:off x="10033000" y="437896"/>
            <a:ext cx="2914650" cy="3768344"/>
          </a:xfrm>
          <a:prstGeom prst="roundRect">
            <a:avLst>
              <a:gd name="adj" fmla="val 2196"/>
            </a:avLst>
          </a:prstGeom>
          <a:noFill/>
          <a:ln w="19050">
            <a:solidFill>
              <a:srgbClr val="EBB0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017 (4) Policy update"/>
          <p:cNvSpPr txBox="1"/>
          <p:nvPr/>
        </p:nvSpPr>
        <p:spPr>
          <a:xfrm>
            <a:off x="10573307" y="470472"/>
            <a:ext cx="1834037" cy="2823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63040"/>
                </a:solidFill>
                <a:latin typeface="Times New Roman"/>
              </a:rPr>
              <a:t>(4) Policy update</a:t>
            </a:r>
          </a:p>
        </p:txBody>
      </p:sp>
      <p:sp>
        <p:nvSpPr>
          <p:cNvPr id="19" name="018 Original response from old policy π{sub:old} (no"/>
          <p:cNvSpPr txBox="1"/>
          <p:nvPr/>
        </p:nvSpPr>
        <p:spPr>
          <a:xfrm>
            <a:off x="3783444" y="45720"/>
            <a:ext cx="4695216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63040"/>
                </a:solidFill>
                <a:latin typeface="Times New Roman"/>
              </a:rPr>
              <a:t xml:space="preserve">Original response from the old policy </a:t>
            </a:r>
            <a:r>
              <a:rPr sz="1600" b="0" i="1">
                <a:solidFill>
                  <a:srgbClr val="263040"/>
                </a:solidFill>
                <a:latin typeface="Times New Roman"/>
              </a:rPr>
              <a:t>π</a:t>
            </a:r>
            <a:r>
              <a:rPr sz="1248" b="0" i="0" baseline="-20000">
                <a:solidFill>
                  <a:srgbClr val="263040"/>
                </a:solidFill>
                <a:latin typeface="Times New Roman"/>
              </a:rPr>
              <a:t>old</a:t>
            </a:r>
            <a:r>
              <a:rPr sz="1600" b="0" i="0">
                <a:solidFill>
                  <a:srgbClr val="263040"/>
                </a:solidFill>
                <a:latin typeface="Times New Roman"/>
              </a:rPr>
              <a:t xml:space="preserve"> (no reference)</a:t>
            </a:r>
          </a:p>
        </p:txBody>
      </p:sp>
      <p:sp>
        <p:nvSpPr>
          <p:cNvPr id="20" name="019 prompt x"/>
          <p:cNvSpPr txBox="1"/>
          <p:nvPr/>
        </p:nvSpPr>
        <p:spPr>
          <a:xfrm>
            <a:off x="4224528" y="521208"/>
            <a:ext cx="773909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3040"/>
                </a:solidFill>
                <a:latin typeface="Times New Roman"/>
              </a:rPr>
              <a:t xml:space="preserve">prompt </a:t>
            </a:r>
            <a:r>
              <a:rPr sz="1500" b="0" i="1">
                <a:solidFill>
                  <a:srgbClr val="263040"/>
                </a:solidFill>
                <a:latin typeface="Times New Roman"/>
              </a:rPr>
              <a:t>x</a:t>
            </a:r>
          </a:p>
        </p:txBody>
      </p:sp>
      <p:sp>
        <p:nvSpPr>
          <p:cNvPr id="21" name="020 path"/>
          <p:cNvSpPr/>
          <p:nvPr/>
        </p:nvSpPr>
        <p:spPr>
          <a:xfrm>
            <a:off x="4189730" y="731520"/>
            <a:ext cx="63" cy="265176"/>
          </a:xfrm>
          <a:custGeom>
            <a:avLst/>
            <a:gdLst/>
            <a:ahLst/>
            <a:cxnLst/>
            <a:rect l="l" t="t" r="r" b="b"/>
            <a:pathLst>
              <a:path w="10" h="39000" fill="none" stroke="1">
                <a:moveTo>
                  <a:pt x="0" y="0"/>
                </a:moveTo>
                <a:lnTo>
                  <a:pt x="0" y="39000"/>
                </a:lnTo>
              </a:path>
            </a:pathLst>
          </a:custGeom>
          <a:noFill/>
          <a:ln w="10795">
            <a:solidFill>
              <a:srgbClr val="9A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021 circle"/>
          <p:cNvSpPr/>
          <p:nvPr/>
        </p:nvSpPr>
        <p:spPr>
          <a:xfrm>
            <a:off x="4157980" y="971296"/>
            <a:ext cx="63500" cy="635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9A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27" name="Token a{sub:1}"/>
          <p:cNvGrpSpPr/>
          <p:nvPr/>
        </p:nvGrpSpPr>
        <p:grpSpPr>
          <a:xfrm>
            <a:off x="4189730" y="742696"/>
            <a:ext cx="571500" cy="419100"/>
            <a:chOff x="4692650" y="914400"/>
            <a:chExt cx="571500" cy="419100"/>
          </a:xfrm>
        </p:grpSpPr>
        <p:sp>
          <p:nvSpPr>
            <p:cNvPr id="23" name="022 token thickness"/>
            <p:cNvSpPr/>
            <p:nvPr/>
          </p:nvSpPr>
          <p:spPr>
            <a:xfrm>
              <a:off x="4692650" y="1078992"/>
              <a:ext cx="571500" cy="229108"/>
            </a:xfrm>
            <a:custGeom>
              <a:avLst/>
              <a:gdLst/>
              <a:ahLst/>
              <a:cxnLst/>
              <a:rect l="l" t="t" r="r" b="b"/>
              <a:pathLst>
                <a:path w="90000" h="36080" fill="norm" stroke="1">
                  <a:moveTo>
                    <a:pt x="0" y="3780"/>
                  </a:moveTo>
                  <a:lnTo>
                    <a:pt x="41400" y="28080"/>
                  </a:lnTo>
                  <a:lnTo>
                    <a:pt x="90000" y="0"/>
                  </a:lnTo>
                  <a:lnTo>
                    <a:pt x="90000" y="8640"/>
                  </a:lnTo>
                  <a:lnTo>
                    <a:pt x="41400" y="36080"/>
                  </a:lnTo>
                  <a:lnTo>
                    <a:pt x="0" y="12960"/>
                  </a:lnTo>
                  <a:close/>
                </a:path>
              </a:pathLst>
            </a:custGeom>
            <a:solidFill>
              <a:srgbClr val="94C1E5"/>
            </a:solidFill>
            <a:ln w="8255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023 token top"/>
            <p:cNvSpPr/>
            <p:nvPr/>
          </p:nvSpPr>
          <p:spPr>
            <a:xfrm>
              <a:off x="4692650" y="914400"/>
              <a:ext cx="571500" cy="342900"/>
            </a:xfrm>
            <a:custGeom>
              <a:avLst/>
              <a:gdLst/>
              <a:ahLst/>
              <a:cxnLst/>
              <a:rect l="l" t="t" r="r" b="b"/>
              <a:pathLst>
                <a:path w="90000" h="54000" fill="norm" stroke="1">
                  <a:moveTo>
                    <a:pt x="0" y="29700"/>
                  </a:moveTo>
                  <a:lnTo>
                    <a:pt x="48600" y="0"/>
                  </a:lnTo>
                  <a:lnTo>
                    <a:pt x="90000" y="25920"/>
                  </a:lnTo>
                  <a:lnTo>
                    <a:pt x="41400" y="54000"/>
                  </a:lnTo>
                  <a:close/>
                </a:path>
              </a:pathLst>
            </a:custGeom>
            <a:solidFill>
              <a:srgbClr val="BCDFF5"/>
            </a:solidFill>
            <a:ln w="9525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025 a{sub:1}"/>
            <p:cNvSpPr txBox="1"/>
            <p:nvPr/>
          </p:nvSpPr>
          <p:spPr>
            <a:xfrm>
              <a:off x="4692650" y="928116"/>
              <a:ext cx="571500" cy="3154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 i="1">
                  <a:solidFill>
                    <a:srgbClr val="263040"/>
                  </a:solidFill>
                  <a:latin typeface="Times New Roman"/>
                </a:rPr>
                <a:t>a</a:t>
              </a:r>
              <a:r>
                <a:rPr sz="1326" b="0" i="1" baseline="-20000">
                  <a:solidFill>
                    <a:srgbClr val="263040"/>
                  </a:solidFill>
                  <a:latin typeface="Times New Roman"/>
                </a:rPr>
                <a:t>1</a:t>
              </a:r>
            </a:p>
          </p:txBody>
        </p:sp>
      </p:grpSp>
      <p:grpSp>
        <p:nvGrpSpPr>
          <p:cNvPr id="32" name="Token a{sub:2}"/>
          <p:cNvGrpSpPr/>
          <p:nvPr/>
        </p:nvGrpSpPr>
        <p:grpSpPr>
          <a:xfrm>
            <a:off x="4710430" y="742696"/>
            <a:ext cx="571500" cy="419100"/>
            <a:chOff x="5213350" y="914400"/>
            <a:chExt cx="571500" cy="419100"/>
          </a:xfrm>
        </p:grpSpPr>
        <p:sp>
          <p:nvSpPr>
            <p:cNvPr id="28" name="026 token thickness"/>
            <p:cNvSpPr/>
            <p:nvPr/>
          </p:nvSpPr>
          <p:spPr>
            <a:xfrm>
              <a:off x="5213350" y="1078992"/>
              <a:ext cx="571500" cy="229108"/>
            </a:xfrm>
            <a:custGeom>
              <a:avLst/>
              <a:gdLst/>
              <a:ahLst/>
              <a:cxnLst/>
              <a:rect l="l" t="t" r="r" b="b"/>
              <a:pathLst>
                <a:path w="90000" h="36080" fill="norm" stroke="1">
                  <a:moveTo>
                    <a:pt x="0" y="3780"/>
                  </a:moveTo>
                  <a:lnTo>
                    <a:pt x="41400" y="28080"/>
                  </a:lnTo>
                  <a:lnTo>
                    <a:pt x="90000" y="0"/>
                  </a:lnTo>
                  <a:lnTo>
                    <a:pt x="90000" y="8640"/>
                  </a:lnTo>
                  <a:lnTo>
                    <a:pt x="41400" y="36080"/>
                  </a:lnTo>
                  <a:lnTo>
                    <a:pt x="0" y="12960"/>
                  </a:lnTo>
                  <a:close/>
                </a:path>
              </a:pathLst>
            </a:custGeom>
            <a:solidFill>
              <a:srgbClr val="94C1E5"/>
            </a:solidFill>
            <a:ln w="8255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027 token top"/>
            <p:cNvSpPr/>
            <p:nvPr/>
          </p:nvSpPr>
          <p:spPr>
            <a:xfrm>
              <a:off x="5213350" y="914400"/>
              <a:ext cx="571500" cy="342900"/>
            </a:xfrm>
            <a:custGeom>
              <a:avLst/>
              <a:gdLst/>
              <a:ahLst/>
              <a:cxnLst/>
              <a:rect l="l" t="t" r="r" b="b"/>
              <a:pathLst>
                <a:path w="90000" h="54000" fill="norm" stroke="1">
                  <a:moveTo>
                    <a:pt x="0" y="29700"/>
                  </a:moveTo>
                  <a:lnTo>
                    <a:pt x="48600" y="0"/>
                  </a:lnTo>
                  <a:lnTo>
                    <a:pt x="90000" y="25920"/>
                  </a:lnTo>
                  <a:lnTo>
                    <a:pt x="41400" y="54000"/>
                  </a:lnTo>
                  <a:close/>
                </a:path>
              </a:pathLst>
            </a:custGeom>
            <a:solidFill>
              <a:srgbClr val="BCDFF5"/>
            </a:solidFill>
            <a:ln w="9525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029 a{sub:2}"/>
            <p:cNvSpPr txBox="1"/>
            <p:nvPr/>
          </p:nvSpPr>
          <p:spPr>
            <a:xfrm>
              <a:off x="5213350" y="928116"/>
              <a:ext cx="571500" cy="3154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 i="1">
                  <a:solidFill>
                    <a:srgbClr val="263040"/>
                  </a:solidFill>
                  <a:latin typeface="Times New Roman"/>
                </a:rPr>
                <a:t>a</a:t>
              </a:r>
              <a:r>
                <a:rPr sz="1326" b="0" i="1" baseline="-20000">
                  <a:solidFill>
                    <a:srgbClr val="263040"/>
                  </a:solidFill>
                  <a:latin typeface="Times New Roman"/>
                </a:rPr>
                <a:t>2</a:t>
              </a:r>
            </a:p>
          </p:txBody>
        </p:sp>
      </p:grpSp>
      <p:grpSp>
        <p:nvGrpSpPr>
          <p:cNvPr id="37" name="Token a{sub:2}"/>
          <p:cNvGrpSpPr/>
          <p:nvPr/>
        </p:nvGrpSpPr>
        <p:grpSpPr>
          <a:xfrm>
            <a:off x="5231130" y="742696"/>
            <a:ext cx="571500" cy="419100"/>
            <a:chOff x="5734050" y="914400"/>
            <a:chExt cx="571500" cy="419100"/>
          </a:xfrm>
        </p:grpSpPr>
        <p:sp>
          <p:nvSpPr>
            <p:cNvPr id="33" name="030 token thickness"/>
            <p:cNvSpPr/>
            <p:nvPr/>
          </p:nvSpPr>
          <p:spPr>
            <a:xfrm>
              <a:off x="5734050" y="1078992"/>
              <a:ext cx="571500" cy="229108"/>
            </a:xfrm>
            <a:custGeom>
              <a:avLst/>
              <a:gdLst/>
              <a:ahLst/>
              <a:cxnLst/>
              <a:rect l="l" t="t" r="r" b="b"/>
              <a:pathLst>
                <a:path w="90000" h="36080" fill="norm" stroke="1">
                  <a:moveTo>
                    <a:pt x="0" y="3780"/>
                  </a:moveTo>
                  <a:lnTo>
                    <a:pt x="41400" y="28080"/>
                  </a:lnTo>
                  <a:lnTo>
                    <a:pt x="90000" y="0"/>
                  </a:lnTo>
                  <a:lnTo>
                    <a:pt x="90000" y="8640"/>
                  </a:lnTo>
                  <a:lnTo>
                    <a:pt x="41400" y="36080"/>
                  </a:lnTo>
                  <a:lnTo>
                    <a:pt x="0" y="12960"/>
                  </a:lnTo>
                  <a:close/>
                </a:path>
              </a:pathLst>
            </a:custGeom>
            <a:solidFill>
              <a:srgbClr val="94C1E5"/>
            </a:solidFill>
            <a:ln w="8255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031 token top"/>
            <p:cNvSpPr/>
            <p:nvPr/>
          </p:nvSpPr>
          <p:spPr>
            <a:xfrm>
              <a:off x="5734050" y="914400"/>
              <a:ext cx="571500" cy="342900"/>
            </a:xfrm>
            <a:custGeom>
              <a:avLst/>
              <a:gdLst/>
              <a:ahLst/>
              <a:cxnLst/>
              <a:rect l="l" t="t" r="r" b="b"/>
              <a:pathLst>
                <a:path w="90000" h="54000" fill="norm" stroke="1">
                  <a:moveTo>
                    <a:pt x="0" y="29700"/>
                  </a:moveTo>
                  <a:lnTo>
                    <a:pt x="48600" y="0"/>
                  </a:lnTo>
                  <a:lnTo>
                    <a:pt x="90000" y="25920"/>
                  </a:lnTo>
                  <a:lnTo>
                    <a:pt x="41400" y="54000"/>
                  </a:lnTo>
                  <a:close/>
                </a:path>
              </a:pathLst>
            </a:custGeom>
            <a:solidFill>
              <a:srgbClr val="BCDFF5"/>
            </a:solidFill>
            <a:ln w="9525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033 a{sub:2}"/>
            <p:cNvSpPr txBox="1"/>
            <p:nvPr/>
          </p:nvSpPr>
          <p:spPr>
            <a:xfrm>
              <a:off x="5734050" y="928116"/>
              <a:ext cx="571500" cy="3154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 i="1">
                  <a:solidFill>
                    <a:srgbClr val="263040"/>
                  </a:solidFill>
                  <a:latin typeface="Times New Roman"/>
                </a:rPr>
                <a:t>a</a:t>
              </a:r>
              <a:r>
                <a:rPr sz="1326" b="0" i="1" baseline="-20000">
                  <a:solidFill>
                    <a:srgbClr val="263040"/>
                  </a:solidFill>
                  <a:latin typeface="Times New Roman"/>
                </a:rPr>
                <a:t>3</a:t>
              </a:r>
            </a:p>
          </p:txBody>
        </p:sp>
      </p:grpSp>
      <p:grpSp>
        <p:nvGrpSpPr>
          <p:cNvPr id="42" name="Token a{sub:3}"/>
          <p:cNvGrpSpPr/>
          <p:nvPr/>
        </p:nvGrpSpPr>
        <p:grpSpPr>
          <a:xfrm>
            <a:off x="5758180" y="742696"/>
            <a:ext cx="571500" cy="419100"/>
            <a:chOff x="6261100" y="914400"/>
            <a:chExt cx="571500" cy="419100"/>
          </a:xfrm>
        </p:grpSpPr>
        <p:sp>
          <p:nvSpPr>
            <p:cNvPr id="38" name="034 token thickness"/>
            <p:cNvSpPr/>
            <p:nvPr/>
          </p:nvSpPr>
          <p:spPr>
            <a:xfrm>
              <a:off x="6261100" y="1078992"/>
              <a:ext cx="571500" cy="229108"/>
            </a:xfrm>
            <a:custGeom>
              <a:avLst/>
              <a:gdLst/>
              <a:ahLst/>
              <a:cxnLst/>
              <a:rect l="l" t="t" r="r" b="b"/>
              <a:pathLst>
                <a:path w="90000" h="36080" fill="norm" stroke="1">
                  <a:moveTo>
                    <a:pt x="0" y="3780"/>
                  </a:moveTo>
                  <a:lnTo>
                    <a:pt x="41400" y="28080"/>
                  </a:lnTo>
                  <a:lnTo>
                    <a:pt x="90000" y="0"/>
                  </a:lnTo>
                  <a:lnTo>
                    <a:pt x="90000" y="8640"/>
                  </a:lnTo>
                  <a:lnTo>
                    <a:pt x="41400" y="36080"/>
                  </a:lnTo>
                  <a:lnTo>
                    <a:pt x="0" y="12960"/>
                  </a:lnTo>
                  <a:close/>
                </a:path>
              </a:pathLst>
            </a:custGeom>
            <a:solidFill>
              <a:srgbClr val="94C1E5"/>
            </a:solidFill>
            <a:ln w="8255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035 token top"/>
            <p:cNvSpPr/>
            <p:nvPr/>
          </p:nvSpPr>
          <p:spPr>
            <a:xfrm>
              <a:off x="6261100" y="914400"/>
              <a:ext cx="571500" cy="342900"/>
            </a:xfrm>
            <a:custGeom>
              <a:avLst/>
              <a:gdLst/>
              <a:ahLst/>
              <a:cxnLst/>
              <a:rect l="l" t="t" r="r" b="b"/>
              <a:pathLst>
                <a:path w="90000" h="54000" fill="norm" stroke="1">
                  <a:moveTo>
                    <a:pt x="0" y="29700"/>
                  </a:moveTo>
                  <a:lnTo>
                    <a:pt x="48600" y="0"/>
                  </a:lnTo>
                  <a:lnTo>
                    <a:pt x="90000" y="25920"/>
                  </a:lnTo>
                  <a:lnTo>
                    <a:pt x="41400" y="54000"/>
                  </a:lnTo>
                  <a:close/>
                </a:path>
              </a:pathLst>
            </a:custGeom>
            <a:solidFill>
              <a:srgbClr val="BCDFF5"/>
            </a:solidFill>
            <a:ln w="9525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037 a{sub:3}"/>
            <p:cNvSpPr txBox="1"/>
            <p:nvPr/>
          </p:nvSpPr>
          <p:spPr>
            <a:xfrm>
              <a:off x="6261100" y="928116"/>
              <a:ext cx="571500" cy="3154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 i="1">
                  <a:solidFill>
                    <a:srgbClr val="263040"/>
                  </a:solidFill>
                  <a:latin typeface="Times New Roman"/>
                </a:rPr>
                <a:t>a</a:t>
              </a:r>
              <a:r>
                <a:rPr sz="1326" b="0" i="1" baseline="-20000">
                  <a:solidFill>
                    <a:srgbClr val="263040"/>
                  </a:solidFill>
                  <a:latin typeface="Times New Roman"/>
                </a:rPr>
                <a:t>4</a:t>
              </a:r>
            </a:p>
          </p:txBody>
        </p:sp>
      </p:grpSp>
      <p:grpSp>
        <p:nvGrpSpPr>
          <p:cNvPr id="47" name="Token a{sub:5}"/>
          <p:cNvGrpSpPr/>
          <p:nvPr/>
        </p:nvGrpSpPr>
        <p:grpSpPr>
          <a:xfrm>
            <a:off x="6285230" y="742696"/>
            <a:ext cx="571500" cy="419100"/>
            <a:chOff x="6788150" y="914400"/>
            <a:chExt cx="571500" cy="419100"/>
          </a:xfrm>
        </p:grpSpPr>
        <p:sp>
          <p:nvSpPr>
            <p:cNvPr id="43" name="038 token thickness"/>
            <p:cNvSpPr/>
            <p:nvPr/>
          </p:nvSpPr>
          <p:spPr>
            <a:xfrm>
              <a:off x="6788150" y="1078992"/>
              <a:ext cx="571500" cy="229108"/>
            </a:xfrm>
            <a:custGeom>
              <a:avLst/>
              <a:gdLst/>
              <a:ahLst/>
              <a:cxnLst/>
              <a:rect l="l" t="t" r="r" b="b"/>
              <a:pathLst>
                <a:path w="90000" h="36080" fill="norm" stroke="1">
                  <a:moveTo>
                    <a:pt x="0" y="3780"/>
                  </a:moveTo>
                  <a:lnTo>
                    <a:pt x="41400" y="28080"/>
                  </a:lnTo>
                  <a:lnTo>
                    <a:pt x="90000" y="0"/>
                  </a:lnTo>
                  <a:lnTo>
                    <a:pt x="90000" y="8640"/>
                  </a:lnTo>
                  <a:lnTo>
                    <a:pt x="41400" y="36080"/>
                  </a:lnTo>
                  <a:lnTo>
                    <a:pt x="0" y="12960"/>
                  </a:lnTo>
                  <a:close/>
                </a:path>
              </a:pathLst>
            </a:custGeom>
            <a:solidFill>
              <a:srgbClr val="E89591"/>
            </a:solidFill>
            <a:ln w="8255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039 token top"/>
            <p:cNvSpPr/>
            <p:nvPr/>
          </p:nvSpPr>
          <p:spPr>
            <a:xfrm>
              <a:off x="6788150" y="914400"/>
              <a:ext cx="571500" cy="342900"/>
            </a:xfrm>
            <a:custGeom>
              <a:avLst/>
              <a:gdLst/>
              <a:ahLst/>
              <a:cxnLst/>
              <a:rect l="l" t="t" r="r" b="b"/>
              <a:pathLst>
                <a:path w="90000" h="54000" fill="norm" stroke="1">
                  <a:moveTo>
                    <a:pt x="0" y="29700"/>
                  </a:moveTo>
                  <a:lnTo>
                    <a:pt x="48600" y="0"/>
                  </a:lnTo>
                  <a:lnTo>
                    <a:pt x="90000" y="25920"/>
                  </a:lnTo>
                  <a:lnTo>
                    <a:pt x="41400" y="54000"/>
                  </a:lnTo>
                  <a:close/>
                </a:path>
              </a:pathLst>
            </a:custGeom>
            <a:solidFill>
              <a:srgbClr val="F5AEA9"/>
            </a:solidFill>
            <a:ln w="9525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041 a{sub:5}"/>
            <p:cNvSpPr txBox="1"/>
            <p:nvPr/>
          </p:nvSpPr>
          <p:spPr>
            <a:xfrm>
              <a:off x="6788150" y="928116"/>
              <a:ext cx="571500" cy="3154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 i="1">
                  <a:solidFill>
                    <a:srgbClr val="263040"/>
                  </a:solidFill>
                  <a:latin typeface="Times New Roman"/>
                </a:rPr>
                <a:t>a</a:t>
              </a:r>
              <a:r>
                <a:rPr sz="1326" b="0" i="1" baseline="-20000">
                  <a:solidFill>
                    <a:srgbClr val="263040"/>
                  </a:solidFill>
                  <a:latin typeface="Times New Roman"/>
                </a:rPr>
                <a:t>5</a:t>
              </a:r>
            </a:p>
          </p:txBody>
        </p:sp>
      </p:grpSp>
      <p:grpSp>
        <p:nvGrpSpPr>
          <p:cNvPr id="52" name="Token a{sub:6}"/>
          <p:cNvGrpSpPr/>
          <p:nvPr/>
        </p:nvGrpSpPr>
        <p:grpSpPr>
          <a:xfrm>
            <a:off x="6812280" y="742696"/>
            <a:ext cx="571500" cy="419100"/>
            <a:chOff x="7315200" y="914400"/>
            <a:chExt cx="571500" cy="419100"/>
          </a:xfrm>
        </p:grpSpPr>
        <p:sp>
          <p:nvSpPr>
            <p:cNvPr id="48" name="042 token thickness"/>
            <p:cNvSpPr/>
            <p:nvPr/>
          </p:nvSpPr>
          <p:spPr>
            <a:xfrm>
              <a:off x="7315200" y="1078992"/>
              <a:ext cx="571500" cy="229108"/>
            </a:xfrm>
            <a:custGeom>
              <a:avLst/>
              <a:gdLst/>
              <a:ahLst/>
              <a:cxnLst/>
              <a:rect l="l" t="t" r="r" b="b"/>
              <a:pathLst>
                <a:path w="90000" h="36080" fill="norm" stroke="1">
                  <a:moveTo>
                    <a:pt x="0" y="3780"/>
                  </a:moveTo>
                  <a:lnTo>
                    <a:pt x="41400" y="28080"/>
                  </a:lnTo>
                  <a:lnTo>
                    <a:pt x="90000" y="0"/>
                  </a:lnTo>
                  <a:lnTo>
                    <a:pt x="90000" y="8640"/>
                  </a:lnTo>
                  <a:lnTo>
                    <a:pt x="41400" y="36080"/>
                  </a:lnTo>
                  <a:lnTo>
                    <a:pt x="0" y="12960"/>
                  </a:lnTo>
                  <a:close/>
                </a:path>
              </a:pathLst>
            </a:custGeom>
            <a:solidFill>
              <a:srgbClr val="F5C98E"/>
            </a:solidFill>
            <a:ln w="8255">
              <a:solidFill>
                <a:srgbClr val="A367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043 token top"/>
            <p:cNvSpPr/>
            <p:nvPr/>
          </p:nvSpPr>
          <p:spPr>
            <a:xfrm>
              <a:off x="7315200" y="914400"/>
              <a:ext cx="571500" cy="342900"/>
            </a:xfrm>
            <a:custGeom>
              <a:avLst/>
              <a:gdLst/>
              <a:ahLst/>
              <a:cxnLst/>
              <a:rect l="l" t="t" r="r" b="b"/>
              <a:pathLst>
                <a:path w="90000" h="54000" fill="norm" stroke="1">
                  <a:moveTo>
                    <a:pt x="0" y="29700"/>
                  </a:moveTo>
                  <a:lnTo>
                    <a:pt x="48600" y="0"/>
                  </a:lnTo>
                  <a:lnTo>
                    <a:pt x="90000" y="25920"/>
                  </a:lnTo>
                  <a:lnTo>
                    <a:pt x="41400" y="54000"/>
                  </a:lnTo>
                  <a:close/>
                </a:path>
              </a:pathLst>
            </a:custGeom>
            <a:solidFill>
              <a:srgbClr val="FFDCAD"/>
            </a:solidFill>
            <a:ln w="9525">
              <a:solidFill>
                <a:srgbClr val="A367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045 a{sub:6}"/>
            <p:cNvSpPr txBox="1"/>
            <p:nvPr/>
          </p:nvSpPr>
          <p:spPr>
            <a:xfrm>
              <a:off x="7315200" y="928116"/>
              <a:ext cx="571500" cy="3154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 i="1">
                  <a:solidFill>
                    <a:srgbClr val="263040"/>
                  </a:solidFill>
                  <a:latin typeface="Times New Roman"/>
                </a:rPr>
                <a:t>a</a:t>
              </a:r>
              <a:r>
                <a:rPr sz="1326" b="0" i="1" baseline="-20000">
                  <a:solidFill>
                    <a:srgbClr val="263040"/>
                  </a:solidFill>
                  <a:latin typeface="Times New Roman"/>
                </a:rPr>
                <a:t>6</a:t>
              </a:r>
            </a:p>
          </p:txBody>
        </p:sp>
      </p:grpSp>
      <p:grpSp>
        <p:nvGrpSpPr>
          <p:cNvPr id="57" name="Token a{sub:7}"/>
          <p:cNvGrpSpPr/>
          <p:nvPr/>
        </p:nvGrpSpPr>
        <p:grpSpPr>
          <a:xfrm>
            <a:off x="7339330" y="742696"/>
            <a:ext cx="571500" cy="419100"/>
            <a:chOff x="7842250" y="914400"/>
            <a:chExt cx="571500" cy="419100"/>
          </a:xfrm>
        </p:grpSpPr>
        <p:sp>
          <p:nvSpPr>
            <p:cNvPr id="53" name="046 token thickness"/>
            <p:cNvSpPr/>
            <p:nvPr/>
          </p:nvSpPr>
          <p:spPr>
            <a:xfrm>
              <a:off x="7842250" y="1078992"/>
              <a:ext cx="571500" cy="229108"/>
            </a:xfrm>
            <a:custGeom>
              <a:avLst/>
              <a:gdLst/>
              <a:ahLst/>
              <a:cxnLst/>
              <a:rect l="l" t="t" r="r" b="b"/>
              <a:pathLst>
                <a:path w="90000" h="36080" fill="norm" stroke="1">
                  <a:moveTo>
                    <a:pt x="0" y="3780"/>
                  </a:moveTo>
                  <a:lnTo>
                    <a:pt x="41400" y="28080"/>
                  </a:lnTo>
                  <a:lnTo>
                    <a:pt x="90000" y="0"/>
                  </a:lnTo>
                  <a:lnTo>
                    <a:pt x="90000" y="8640"/>
                  </a:lnTo>
                  <a:lnTo>
                    <a:pt x="41400" y="36080"/>
                  </a:lnTo>
                  <a:lnTo>
                    <a:pt x="0" y="12960"/>
                  </a:lnTo>
                  <a:close/>
                </a:path>
              </a:pathLst>
            </a:custGeom>
            <a:solidFill>
              <a:srgbClr val="F5C98E"/>
            </a:solidFill>
            <a:ln w="8255">
              <a:solidFill>
                <a:srgbClr val="A367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047 token top"/>
            <p:cNvSpPr/>
            <p:nvPr/>
          </p:nvSpPr>
          <p:spPr>
            <a:xfrm>
              <a:off x="7842250" y="914400"/>
              <a:ext cx="571500" cy="342900"/>
            </a:xfrm>
            <a:custGeom>
              <a:avLst/>
              <a:gdLst/>
              <a:ahLst/>
              <a:cxnLst/>
              <a:rect l="l" t="t" r="r" b="b"/>
              <a:pathLst>
                <a:path w="90000" h="54000" fill="norm" stroke="1">
                  <a:moveTo>
                    <a:pt x="0" y="29700"/>
                  </a:moveTo>
                  <a:lnTo>
                    <a:pt x="48600" y="0"/>
                  </a:lnTo>
                  <a:lnTo>
                    <a:pt x="90000" y="25920"/>
                  </a:lnTo>
                  <a:lnTo>
                    <a:pt x="41400" y="54000"/>
                  </a:lnTo>
                  <a:close/>
                </a:path>
              </a:pathLst>
            </a:custGeom>
            <a:solidFill>
              <a:srgbClr val="FFDCAD"/>
            </a:solidFill>
            <a:ln w="9525">
              <a:solidFill>
                <a:srgbClr val="A3673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049 a{sub:7}"/>
            <p:cNvSpPr txBox="1"/>
            <p:nvPr/>
          </p:nvSpPr>
          <p:spPr>
            <a:xfrm>
              <a:off x="7842250" y="928116"/>
              <a:ext cx="571500" cy="31546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 i="1">
                  <a:solidFill>
                    <a:srgbClr val="263040"/>
                  </a:solidFill>
                  <a:latin typeface="Times New Roman"/>
                </a:rPr>
                <a:t>a</a:t>
              </a:r>
              <a:r>
                <a:rPr sz="1326" b="0" i="1" baseline="-20000">
                  <a:solidFill>
                    <a:srgbClr val="263040"/>
                  </a:solidFill>
                  <a:latin typeface="Times New Roman"/>
                </a:rPr>
                <a:t>7</a:t>
              </a:r>
            </a:p>
          </p:txBody>
        </p:sp>
      </p:grpSp>
      <p:sp>
        <p:nvSpPr>
          <p:cNvPr id="60" name="052 path"/>
          <p:cNvSpPr/>
          <p:nvPr/>
        </p:nvSpPr>
        <p:spPr>
          <a:xfrm>
            <a:off x="4735830" y="996696"/>
            <a:ext cx="63" cy="146304"/>
          </a:xfrm>
          <a:custGeom>
            <a:avLst/>
            <a:gdLst/>
            <a:ahLst/>
            <a:cxnLst/>
            <a:rect l="l" t="t" r="r" b="b"/>
            <a:pathLst>
              <a:path w="10" h="23000" fill="none" stroke="1">
                <a:moveTo>
                  <a:pt x="0" y="0"/>
                </a:moveTo>
                <a:lnTo>
                  <a:pt x="0" y="23000"/>
                </a:lnTo>
              </a:path>
            </a:pathLst>
          </a:custGeom>
          <a:noFill/>
          <a:ln w="635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053 s{sub:1}"/>
          <p:cNvSpPr txBox="1"/>
          <p:nvPr/>
        </p:nvSpPr>
        <p:spPr>
          <a:xfrm>
            <a:off x="4580382" y="1179576"/>
            <a:ext cx="310896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3040"/>
                </a:solidFill>
                <a:latin typeface="Times New Roman"/>
              </a:rPr>
              <a:t>s</a:t>
            </a:r>
            <a:r>
              <a:rPr sz="1170" b="0" i="1" baseline="-20000">
                <a:solidFill>
                  <a:srgbClr val="263040"/>
                </a:solidFill>
                <a:latin typeface="Times New Roman"/>
              </a:rPr>
              <a:t>1</a:t>
            </a:r>
          </a:p>
        </p:txBody>
      </p:sp>
      <p:sp>
        <p:nvSpPr>
          <p:cNvPr id="62" name="054 path"/>
          <p:cNvSpPr/>
          <p:nvPr/>
        </p:nvSpPr>
        <p:spPr>
          <a:xfrm>
            <a:off x="5256530" y="996696"/>
            <a:ext cx="63" cy="146304"/>
          </a:xfrm>
          <a:custGeom>
            <a:avLst/>
            <a:gdLst/>
            <a:ahLst/>
            <a:cxnLst/>
            <a:rect l="l" t="t" r="r" b="b"/>
            <a:pathLst>
              <a:path w="10" h="23000" fill="none" stroke="1">
                <a:moveTo>
                  <a:pt x="0" y="0"/>
                </a:moveTo>
                <a:lnTo>
                  <a:pt x="0" y="23000"/>
                </a:lnTo>
              </a:path>
            </a:pathLst>
          </a:custGeom>
          <a:noFill/>
          <a:ln w="635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055 s{sub:2}"/>
          <p:cNvSpPr txBox="1"/>
          <p:nvPr/>
        </p:nvSpPr>
        <p:spPr>
          <a:xfrm>
            <a:off x="5101082" y="1179576"/>
            <a:ext cx="310896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3040"/>
                </a:solidFill>
                <a:latin typeface="Times New Roman"/>
              </a:rPr>
              <a:t>s</a:t>
            </a:r>
            <a:r>
              <a:rPr sz="1170" b="0" i="1" baseline="-20000">
                <a:solidFill>
                  <a:srgbClr val="263040"/>
                </a:solidFill>
                <a:latin typeface="Times New Roman"/>
              </a:rPr>
              <a:t>2</a:t>
            </a:r>
          </a:p>
        </p:txBody>
      </p:sp>
      <p:sp>
        <p:nvSpPr>
          <p:cNvPr id="64" name="056 path"/>
          <p:cNvSpPr/>
          <p:nvPr/>
        </p:nvSpPr>
        <p:spPr>
          <a:xfrm>
            <a:off x="5780405" y="996696"/>
            <a:ext cx="63" cy="146304"/>
          </a:xfrm>
          <a:custGeom>
            <a:avLst/>
            <a:gdLst/>
            <a:ahLst/>
            <a:cxnLst/>
            <a:rect l="l" t="t" r="r" b="b"/>
            <a:pathLst>
              <a:path w="10" h="23000" fill="none" stroke="1">
                <a:moveTo>
                  <a:pt x="0" y="0"/>
                </a:moveTo>
                <a:lnTo>
                  <a:pt x="0" y="23000"/>
                </a:lnTo>
              </a:path>
            </a:pathLst>
          </a:custGeom>
          <a:noFill/>
          <a:ln w="635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057 s{sub:2}"/>
          <p:cNvSpPr txBox="1"/>
          <p:nvPr/>
        </p:nvSpPr>
        <p:spPr>
          <a:xfrm>
            <a:off x="5624957" y="1179576"/>
            <a:ext cx="310896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3040"/>
                </a:solidFill>
                <a:latin typeface="Times New Roman"/>
              </a:rPr>
              <a:t>s</a:t>
            </a:r>
            <a:r>
              <a:rPr sz="1170" b="0" i="1" baseline="-20000">
                <a:solidFill>
                  <a:srgbClr val="263040"/>
                </a:solidFill>
                <a:latin typeface="Times New Roman"/>
              </a:rPr>
              <a:t>3</a:t>
            </a:r>
          </a:p>
        </p:txBody>
      </p:sp>
      <p:sp>
        <p:nvSpPr>
          <p:cNvPr id="66" name="058 path"/>
          <p:cNvSpPr/>
          <p:nvPr/>
        </p:nvSpPr>
        <p:spPr>
          <a:xfrm>
            <a:off x="6307455" y="996696"/>
            <a:ext cx="63" cy="146304"/>
          </a:xfrm>
          <a:custGeom>
            <a:avLst/>
            <a:gdLst/>
            <a:ahLst/>
            <a:cxnLst/>
            <a:rect l="l" t="t" r="r" b="b"/>
            <a:pathLst>
              <a:path w="10" h="23000" fill="none" stroke="1">
                <a:moveTo>
                  <a:pt x="0" y="0"/>
                </a:moveTo>
                <a:lnTo>
                  <a:pt x="0" y="23000"/>
                </a:lnTo>
              </a:path>
            </a:pathLst>
          </a:custGeom>
          <a:noFill/>
          <a:ln w="635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059 s{sub:4}"/>
          <p:cNvSpPr txBox="1"/>
          <p:nvPr/>
        </p:nvSpPr>
        <p:spPr>
          <a:xfrm>
            <a:off x="6152007" y="1179576"/>
            <a:ext cx="310896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3040"/>
                </a:solidFill>
                <a:latin typeface="Times New Roman"/>
              </a:rPr>
              <a:t>s</a:t>
            </a:r>
            <a:r>
              <a:rPr sz="1170" b="0" i="1" baseline="-20000">
                <a:solidFill>
                  <a:srgbClr val="263040"/>
                </a:solidFill>
                <a:latin typeface="Times New Roman"/>
              </a:rPr>
              <a:t>4</a:t>
            </a:r>
          </a:p>
        </p:txBody>
      </p:sp>
      <p:sp>
        <p:nvSpPr>
          <p:cNvPr id="68" name="060 path"/>
          <p:cNvSpPr/>
          <p:nvPr/>
        </p:nvSpPr>
        <p:spPr>
          <a:xfrm>
            <a:off x="6834505" y="996696"/>
            <a:ext cx="63" cy="146304"/>
          </a:xfrm>
          <a:custGeom>
            <a:avLst/>
            <a:gdLst/>
            <a:ahLst/>
            <a:cxnLst/>
            <a:rect l="l" t="t" r="r" b="b"/>
            <a:pathLst>
              <a:path w="10" h="23000" fill="none" stroke="1">
                <a:moveTo>
                  <a:pt x="0" y="0"/>
                </a:moveTo>
                <a:lnTo>
                  <a:pt x="0" y="23000"/>
                </a:lnTo>
              </a:path>
            </a:pathLst>
          </a:custGeom>
          <a:noFill/>
          <a:ln w="635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061 s{sub:5}"/>
          <p:cNvSpPr txBox="1"/>
          <p:nvPr/>
        </p:nvSpPr>
        <p:spPr>
          <a:xfrm>
            <a:off x="6679057" y="1179576"/>
            <a:ext cx="310896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3040"/>
                </a:solidFill>
                <a:latin typeface="Times New Roman"/>
              </a:rPr>
              <a:t>s</a:t>
            </a:r>
            <a:r>
              <a:rPr sz="1170" b="0" i="1" baseline="-20000">
                <a:solidFill>
                  <a:srgbClr val="263040"/>
                </a:solidFill>
                <a:latin typeface="Times New Roman"/>
              </a:rPr>
              <a:t>5</a:t>
            </a:r>
          </a:p>
        </p:txBody>
      </p:sp>
      <p:sp>
        <p:nvSpPr>
          <p:cNvPr id="70" name="062 path"/>
          <p:cNvSpPr/>
          <p:nvPr/>
        </p:nvSpPr>
        <p:spPr>
          <a:xfrm>
            <a:off x="7361555" y="996696"/>
            <a:ext cx="63" cy="146304"/>
          </a:xfrm>
          <a:custGeom>
            <a:avLst/>
            <a:gdLst/>
            <a:ahLst/>
            <a:cxnLst/>
            <a:rect l="l" t="t" r="r" b="b"/>
            <a:pathLst>
              <a:path w="10" h="23000" fill="none" stroke="1">
                <a:moveTo>
                  <a:pt x="0" y="0"/>
                </a:moveTo>
                <a:lnTo>
                  <a:pt x="0" y="23000"/>
                </a:lnTo>
              </a:path>
            </a:pathLst>
          </a:custGeom>
          <a:noFill/>
          <a:ln w="635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063 s{sub:6}"/>
          <p:cNvSpPr txBox="1"/>
          <p:nvPr/>
        </p:nvSpPr>
        <p:spPr>
          <a:xfrm>
            <a:off x="7206107" y="1179576"/>
            <a:ext cx="310896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3040"/>
                </a:solidFill>
                <a:latin typeface="Times New Roman"/>
              </a:rPr>
              <a:t>s</a:t>
            </a:r>
            <a:r>
              <a:rPr sz="1170" b="0" i="1" baseline="-20000">
                <a:solidFill>
                  <a:srgbClr val="263040"/>
                </a:solidFill>
                <a:latin typeface="Times New Roman"/>
              </a:rPr>
              <a:t>6</a:t>
            </a:r>
          </a:p>
        </p:txBody>
      </p:sp>
      <p:sp>
        <p:nvSpPr>
          <p:cNvPr id="72" name="064 path"/>
          <p:cNvSpPr/>
          <p:nvPr/>
        </p:nvSpPr>
        <p:spPr>
          <a:xfrm>
            <a:off x="7910830" y="996696"/>
            <a:ext cx="63" cy="146304"/>
          </a:xfrm>
          <a:custGeom>
            <a:avLst/>
            <a:gdLst/>
            <a:ahLst/>
            <a:cxnLst/>
            <a:rect l="l" t="t" r="r" b="b"/>
            <a:pathLst>
              <a:path w="10" h="23000" fill="none" stroke="1">
                <a:moveTo>
                  <a:pt x="0" y="0"/>
                </a:moveTo>
                <a:lnTo>
                  <a:pt x="0" y="23000"/>
                </a:lnTo>
              </a:path>
            </a:pathLst>
          </a:custGeom>
          <a:noFill/>
          <a:ln w="635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065 s{sub:7}"/>
          <p:cNvSpPr txBox="1"/>
          <p:nvPr/>
        </p:nvSpPr>
        <p:spPr>
          <a:xfrm>
            <a:off x="7755382" y="1179576"/>
            <a:ext cx="310896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3040"/>
                </a:solidFill>
                <a:latin typeface="Times New Roman"/>
              </a:rPr>
              <a:t>s</a:t>
            </a:r>
            <a:r>
              <a:rPr sz="1170" b="0" i="1" baseline="-20000">
                <a:solidFill>
                  <a:srgbClr val="263040"/>
                </a:solidFill>
                <a:latin typeface="Times New Roman"/>
              </a:rPr>
              <a:t>7</a:t>
            </a:r>
          </a:p>
        </p:txBody>
      </p:sp>
      <p:sp>
        <p:nvSpPr>
          <p:cNvPr id="78" name="069 wrong turn"/>
          <p:cNvSpPr txBox="1"/>
          <p:nvPr/>
        </p:nvSpPr>
        <p:spPr>
          <a:xfrm>
            <a:off x="6033182" y="356616"/>
            <a:ext cx="1075595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4544A"/>
                </a:solidFill>
                <a:latin typeface="Times New Roman"/>
              </a:rPr>
              <a:t>wrong turn</a:t>
            </a:r>
          </a:p>
        </p:txBody>
      </p:sp>
      <p:sp>
        <p:nvSpPr>
          <p:cNvPr id="59" name="051 s{sub:0}"/>
          <p:cNvSpPr txBox="1"/>
          <p:nvPr/>
        </p:nvSpPr>
        <p:spPr>
          <a:xfrm>
            <a:off x="4034282" y="1179576"/>
            <a:ext cx="310896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3040"/>
                </a:solidFill>
                <a:latin typeface="Times New Roman"/>
              </a:rPr>
              <a:t>s</a:t>
            </a:r>
            <a:r>
              <a:rPr sz="1170" b="0" i="1" baseline="-20000">
                <a:solidFill>
                  <a:srgbClr val="263040"/>
                </a:solidFill>
                <a:latin typeface="Times New Roman"/>
              </a:rPr>
              <a:t>0</a:t>
            </a:r>
          </a:p>
        </p:txBody>
      </p:sp>
      <p:sp>
        <p:nvSpPr>
          <p:cNvPr id="88" name="079 path"/>
          <p:cNvSpPr/>
          <p:nvPr/>
        </p:nvSpPr>
        <p:spPr>
          <a:xfrm>
            <a:off x="393192" y="905256"/>
            <a:ext cx="551815" cy="195580"/>
          </a:xfrm>
          <a:custGeom>
            <a:avLst/>
            <a:gdLst/>
            <a:ahLst/>
            <a:cxnLst/>
            <a:rect l="l" t="t" r="r" b="b"/>
            <a:pathLst>
              <a:path w="79000" h="28000" fill="norm" stroke="1">
                <a:moveTo>
                  <a:pt x="0" y="26000"/>
                </a:moveTo>
                <a:lnTo>
                  <a:pt x="36000" y="1000"/>
                </a:lnTo>
                <a:lnTo>
                  <a:pt x="79000" y="0"/>
                </a:lnTo>
                <a:lnTo>
                  <a:pt x="46000" y="28000"/>
                </a:lnTo>
                <a:close/>
              </a:path>
            </a:pathLst>
          </a:custGeom>
          <a:solidFill>
            <a:srgbClr val="D8D6F1"/>
          </a:solidFill>
          <a:ln w="10160">
            <a:solidFill>
              <a:srgbClr val="38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080 path"/>
          <p:cNvSpPr/>
          <p:nvPr/>
        </p:nvSpPr>
        <p:spPr>
          <a:xfrm>
            <a:off x="393192" y="1086866"/>
            <a:ext cx="328295" cy="97790"/>
          </a:xfrm>
          <a:custGeom>
            <a:avLst/>
            <a:gdLst/>
            <a:ahLst/>
            <a:cxnLst/>
            <a:rect l="l" t="t" r="r" b="b"/>
            <a:pathLst>
              <a:path w="47000" h="14000" fill="norm" stroke="1">
                <a:moveTo>
                  <a:pt x="0" y="0"/>
                </a:moveTo>
                <a:lnTo>
                  <a:pt x="46000" y="2000"/>
                </a:lnTo>
                <a:lnTo>
                  <a:pt x="47000" y="14000"/>
                </a:lnTo>
                <a:lnTo>
                  <a:pt x="1000" y="12000"/>
                </a:lnTo>
                <a:close/>
              </a:path>
            </a:pathLst>
          </a:custGeom>
          <a:solidFill>
            <a:srgbClr val="F1F0F6"/>
          </a:solidFill>
          <a:ln w="10160">
            <a:solidFill>
              <a:srgbClr val="38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081 path"/>
          <p:cNvSpPr/>
          <p:nvPr/>
        </p:nvSpPr>
        <p:spPr>
          <a:xfrm>
            <a:off x="721487" y="905256"/>
            <a:ext cx="237490" cy="279400"/>
          </a:xfrm>
          <a:custGeom>
            <a:avLst/>
            <a:gdLst/>
            <a:ahLst/>
            <a:cxnLst/>
            <a:rect l="l" t="t" r="r" b="b"/>
            <a:pathLst>
              <a:path w="34000" h="40000" fill="norm" stroke="1">
                <a:moveTo>
                  <a:pt x="0" y="28000"/>
                </a:moveTo>
                <a:lnTo>
                  <a:pt x="32000" y="0"/>
                </a:lnTo>
                <a:lnTo>
                  <a:pt x="34000" y="12000"/>
                </a:lnTo>
                <a:lnTo>
                  <a:pt x="2000" y="40000"/>
                </a:lnTo>
                <a:close/>
              </a:path>
            </a:pathLst>
          </a:custGeom>
          <a:solidFill>
            <a:srgbClr val="B9B4DB"/>
          </a:solidFill>
          <a:ln w="9525">
            <a:solidFill>
              <a:srgbClr val="3835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082 path"/>
          <p:cNvSpPr/>
          <p:nvPr/>
        </p:nvSpPr>
        <p:spPr>
          <a:xfrm>
            <a:off x="414147" y="1142746"/>
            <a:ext cx="293370" cy="13970"/>
          </a:xfrm>
          <a:custGeom>
            <a:avLst/>
            <a:gdLst/>
            <a:ahLst/>
            <a:cxnLst/>
            <a:rect l="l" t="t" r="r" b="b"/>
            <a:pathLst>
              <a:path w="42000" h="2000" fill="none" stroke="1">
                <a:moveTo>
                  <a:pt x="0" y="0"/>
                </a:moveTo>
                <a:lnTo>
                  <a:pt x="42000" y="2000"/>
                </a:lnTo>
              </a:path>
            </a:pathLst>
          </a:custGeom>
          <a:noFill/>
          <a:ln w="6350">
            <a:solidFill>
              <a:srgbClr val="777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084 box"/>
          <p:cNvSpPr/>
          <p:nvPr/>
        </p:nvSpPr>
        <p:spPr>
          <a:xfrm>
            <a:off x="1344168" y="868680"/>
            <a:ext cx="1655064" cy="475488"/>
          </a:xfrm>
          <a:prstGeom prst="roundRect">
            <a:avLst>
              <a:gd name="adj" fmla="val 19354"/>
            </a:avLst>
          </a:prstGeom>
          <a:gradFill rotWithShape="1">
            <a:gsLst>
              <a:gs pos="0">
                <a:srgbClr val="EDF4FD"/>
              </a:gs>
              <a:gs pos="100000">
                <a:srgbClr val="FAFCFF"/>
              </a:gs>
            </a:gsLst>
            <a:lin ang="5400000" scaled="1"/>
          </a:gradFill>
          <a:ln w="7620">
            <a:solidFill>
              <a:srgbClr val="8FB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086 box"/>
          <p:cNvSpPr/>
          <p:nvPr/>
        </p:nvSpPr>
        <p:spPr>
          <a:xfrm>
            <a:off x="1344168" y="1444752"/>
            <a:ext cx="1655064" cy="475488"/>
          </a:xfrm>
          <a:prstGeom prst="roundRect">
            <a:avLst>
              <a:gd name="adj" fmla="val 20338"/>
            </a:avLst>
          </a:prstGeom>
          <a:gradFill rotWithShape="1">
            <a:gsLst>
              <a:gs pos="0">
                <a:srgbClr val="EDF4FD"/>
              </a:gs>
              <a:gs pos="100000">
                <a:srgbClr val="FAFCFF"/>
              </a:gs>
            </a:gsLst>
            <a:lin ang="5400000" scaled="1"/>
          </a:gradFill>
          <a:ln w="7620">
            <a:solidFill>
              <a:srgbClr val="8FB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088 box"/>
          <p:cNvSpPr/>
          <p:nvPr/>
        </p:nvSpPr>
        <p:spPr>
          <a:xfrm>
            <a:off x="274320" y="2075688"/>
            <a:ext cx="2724912" cy="493776"/>
          </a:xfrm>
          <a:prstGeom prst="roundRect">
            <a:avLst>
              <a:gd name="adj" fmla="val 14457"/>
            </a:avLst>
          </a:prstGeom>
          <a:gradFill rotWithShape="1">
            <a:gsLst>
              <a:gs pos="0">
                <a:srgbClr val="EDF4FD"/>
              </a:gs>
              <a:gs pos="100000">
                <a:srgbClr val="FAFCFF"/>
              </a:gs>
            </a:gsLst>
            <a:lin ang="5400000" scaled="1"/>
          </a:gradFill>
          <a:ln w="7620">
            <a:solidFill>
              <a:srgbClr val="8FB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125 path"/>
          <p:cNvSpPr/>
          <p:nvPr/>
        </p:nvSpPr>
        <p:spPr>
          <a:xfrm>
            <a:off x="431800" y="3675888"/>
            <a:ext cx="2584450" cy="63"/>
          </a:xfrm>
          <a:custGeom>
            <a:avLst/>
            <a:gdLst/>
            <a:ahLst/>
            <a:cxnLst/>
            <a:rect l="l" t="t" r="r" b="b"/>
            <a:pathLst>
              <a:path w="407000" h="10" fill="none" stroke="1">
                <a:moveTo>
                  <a:pt x="0" y="0"/>
                </a:moveTo>
                <a:lnTo>
                  <a:pt x="407000" y="0"/>
                </a:lnTo>
              </a:path>
            </a:pathLst>
          </a:custGeom>
          <a:noFill/>
          <a:ln w="12700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126 box"/>
          <p:cNvSpPr/>
          <p:nvPr/>
        </p:nvSpPr>
        <p:spPr>
          <a:xfrm>
            <a:off x="749300" y="3453638"/>
            <a:ext cx="184150" cy="222250"/>
          </a:xfrm>
          <a:prstGeom prst="rect">
            <a:avLst/>
          </a:prstGeom>
          <a:gradFill rotWithShape="1">
            <a:gsLst>
              <a:gs pos="0">
                <a:srgbClr val="A9C8EE"/>
              </a:gs>
              <a:gs pos="100000">
                <a:srgbClr val="D3E3F7"/>
              </a:gs>
            </a:gsLst>
            <a:lin ang="5400000" scaled="1"/>
          </a:gradFill>
          <a:ln w="6350">
            <a:solidFill>
              <a:srgbClr val="6F9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127 path"/>
          <p:cNvSpPr/>
          <p:nvPr/>
        </p:nvSpPr>
        <p:spPr>
          <a:xfrm>
            <a:off x="844550" y="3675888"/>
            <a:ext cx="63" cy="63500"/>
          </a:xfrm>
          <a:custGeom>
            <a:avLst/>
            <a:gdLst/>
            <a:ahLst/>
            <a:cxnLst/>
            <a:rect l="l" t="t" r="r" b="b"/>
            <a:pathLst>
              <a:path w="10" h="10000" fill="none" stroke="1">
                <a:moveTo>
                  <a:pt x="0" y="0"/>
                </a:moveTo>
                <a:lnTo>
                  <a:pt x="0" y="10000"/>
                </a:lnTo>
              </a:path>
            </a:pathLst>
          </a:custGeom>
          <a:noFill/>
          <a:ln w="825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128 s{sub:1}"/>
          <p:cNvSpPr txBox="1"/>
          <p:nvPr/>
        </p:nvSpPr>
        <p:spPr>
          <a:xfrm>
            <a:off x="685927" y="3749040"/>
            <a:ext cx="3108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3040"/>
                </a:solidFill>
                <a:latin typeface="Times New Roman"/>
              </a:rPr>
              <a:t>s</a:t>
            </a:r>
            <a:r>
              <a:rPr sz="1170" b="0" i="0" baseline="-20000">
                <a:solidFill>
                  <a:srgbClr val="263040"/>
                </a:solidFill>
                <a:latin typeface="Times New Roman"/>
              </a:rPr>
              <a:t>1</a:t>
            </a:r>
          </a:p>
        </p:txBody>
      </p:sp>
      <p:sp>
        <p:nvSpPr>
          <p:cNvPr id="138" name="129 box"/>
          <p:cNvSpPr/>
          <p:nvPr/>
        </p:nvSpPr>
        <p:spPr>
          <a:xfrm>
            <a:off x="1168400" y="3445700"/>
            <a:ext cx="184150" cy="230188"/>
          </a:xfrm>
          <a:prstGeom prst="rect">
            <a:avLst/>
          </a:prstGeom>
          <a:gradFill rotWithShape="1">
            <a:gsLst>
              <a:gs pos="0">
                <a:srgbClr val="A9C8EE"/>
              </a:gs>
              <a:gs pos="100000">
                <a:srgbClr val="D3E3F7"/>
              </a:gs>
            </a:gsLst>
            <a:lin ang="5400000" scaled="1"/>
          </a:gradFill>
          <a:ln w="6350">
            <a:solidFill>
              <a:srgbClr val="6F9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130 path"/>
          <p:cNvSpPr/>
          <p:nvPr/>
        </p:nvSpPr>
        <p:spPr>
          <a:xfrm>
            <a:off x="1263650" y="3675888"/>
            <a:ext cx="63" cy="63500"/>
          </a:xfrm>
          <a:custGeom>
            <a:avLst/>
            <a:gdLst/>
            <a:ahLst/>
            <a:cxnLst/>
            <a:rect l="l" t="t" r="r" b="b"/>
            <a:pathLst>
              <a:path w="10" h="10000" fill="none" stroke="1">
                <a:moveTo>
                  <a:pt x="0" y="0"/>
                </a:moveTo>
                <a:lnTo>
                  <a:pt x="0" y="10000"/>
                </a:lnTo>
              </a:path>
            </a:pathLst>
          </a:custGeom>
          <a:noFill/>
          <a:ln w="825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131 s{sub:2}"/>
          <p:cNvSpPr txBox="1"/>
          <p:nvPr/>
        </p:nvSpPr>
        <p:spPr>
          <a:xfrm>
            <a:off x="1105027" y="3749040"/>
            <a:ext cx="3108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3040"/>
                </a:solidFill>
                <a:latin typeface="Times New Roman"/>
              </a:rPr>
              <a:t>s</a:t>
            </a:r>
            <a:r>
              <a:rPr sz="1170" b="0" i="0" baseline="-20000">
                <a:solidFill>
                  <a:srgbClr val="263040"/>
                </a:solidFill>
                <a:latin typeface="Times New Roman"/>
              </a:rPr>
              <a:t>2</a:t>
            </a:r>
          </a:p>
        </p:txBody>
      </p:sp>
      <p:sp>
        <p:nvSpPr>
          <p:cNvPr id="141" name="132 box"/>
          <p:cNvSpPr/>
          <p:nvPr/>
        </p:nvSpPr>
        <p:spPr>
          <a:xfrm>
            <a:off x="1549400" y="3437763"/>
            <a:ext cx="184150" cy="238125"/>
          </a:xfrm>
          <a:prstGeom prst="rect">
            <a:avLst/>
          </a:prstGeom>
          <a:gradFill rotWithShape="1">
            <a:gsLst>
              <a:gs pos="0">
                <a:srgbClr val="A9C8EE"/>
              </a:gs>
              <a:gs pos="100000">
                <a:srgbClr val="D3E3F7"/>
              </a:gs>
            </a:gsLst>
            <a:lin ang="5400000" scaled="1"/>
          </a:gradFill>
          <a:ln w="6350">
            <a:solidFill>
              <a:srgbClr val="6F9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133 path"/>
          <p:cNvSpPr/>
          <p:nvPr/>
        </p:nvSpPr>
        <p:spPr>
          <a:xfrm>
            <a:off x="1644650" y="3675888"/>
            <a:ext cx="63" cy="63500"/>
          </a:xfrm>
          <a:custGeom>
            <a:avLst/>
            <a:gdLst/>
            <a:ahLst/>
            <a:cxnLst/>
            <a:rect l="l" t="t" r="r" b="b"/>
            <a:pathLst>
              <a:path w="10" h="10000" fill="none" stroke="1">
                <a:moveTo>
                  <a:pt x="0" y="0"/>
                </a:moveTo>
                <a:lnTo>
                  <a:pt x="0" y="10000"/>
                </a:lnTo>
              </a:path>
            </a:pathLst>
          </a:custGeom>
          <a:noFill/>
          <a:ln w="825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134 s{sub:3}"/>
          <p:cNvSpPr txBox="1"/>
          <p:nvPr/>
        </p:nvSpPr>
        <p:spPr>
          <a:xfrm>
            <a:off x="1486027" y="3749040"/>
            <a:ext cx="3108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3040"/>
                </a:solidFill>
                <a:latin typeface="Times New Roman"/>
              </a:rPr>
              <a:t>s</a:t>
            </a:r>
            <a:r>
              <a:rPr sz="1170" b="0" i="0" baseline="-20000">
                <a:solidFill>
                  <a:srgbClr val="263040"/>
                </a:solidFill>
                <a:latin typeface="Times New Roman"/>
              </a:rPr>
              <a:t>3</a:t>
            </a:r>
          </a:p>
        </p:txBody>
      </p:sp>
      <p:sp>
        <p:nvSpPr>
          <p:cNvPr id="144" name="135 box"/>
          <p:cNvSpPr/>
          <p:nvPr/>
        </p:nvSpPr>
        <p:spPr>
          <a:xfrm>
            <a:off x="1936750" y="3421888"/>
            <a:ext cx="184150" cy="254000"/>
          </a:xfrm>
          <a:prstGeom prst="rect">
            <a:avLst/>
          </a:prstGeom>
          <a:gradFill rotWithShape="1">
            <a:gsLst>
              <a:gs pos="0">
                <a:srgbClr val="A9C8EE"/>
              </a:gs>
              <a:gs pos="100000">
                <a:srgbClr val="D3E3F7"/>
              </a:gs>
            </a:gsLst>
            <a:lin ang="5400000" scaled="1"/>
          </a:gradFill>
          <a:ln w="6350">
            <a:solidFill>
              <a:srgbClr val="6F9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136 path"/>
          <p:cNvSpPr/>
          <p:nvPr/>
        </p:nvSpPr>
        <p:spPr>
          <a:xfrm>
            <a:off x="2032000" y="3675888"/>
            <a:ext cx="63" cy="63500"/>
          </a:xfrm>
          <a:custGeom>
            <a:avLst/>
            <a:gdLst/>
            <a:ahLst/>
            <a:cxnLst/>
            <a:rect l="l" t="t" r="r" b="b"/>
            <a:pathLst>
              <a:path w="10" h="10000" fill="none" stroke="1">
                <a:moveTo>
                  <a:pt x="0" y="0"/>
                </a:moveTo>
                <a:lnTo>
                  <a:pt x="0" y="10000"/>
                </a:lnTo>
              </a:path>
            </a:pathLst>
          </a:custGeom>
          <a:noFill/>
          <a:ln w="825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137 s{sub:4}"/>
          <p:cNvSpPr txBox="1"/>
          <p:nvPr/>
        </p:nvSpPr>
        <p:spPr>
          <a:xfrm>
            <a:off x="1873377" y="3749040"/>
            <a:ext cx="3108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3040"/>
                </a:solidFill>
                <a:latin typeface="Times New Roman"/>
              </a:rPr>
              <a:t>s</a:t>
            </a:r>
            <a:r>
              <a:rPr sz="1170" b="0" i="0" baseline="-20000">
                <a:solidFill>
                  <a:srgbClr val="263040"/>
                </a:solidFill>
                <a:latin typeface="Times New Roman"/>
              </a:rPr>
              <a:t>4</a:t>
            </a:r>
          </a:p>
        </p:txBody>
      </p:sp>
      <p:sp>
        <p:nvSpPr>
          <p:cNvPr id="147" name="138 box"/>
          <p:cNvSpPr/>
          <p:nvPr/>
        </p:nvSpPr>
        <p:spPr>
          <a:xfrm>
            <a:off x="2330450" y="3279013"/>
            <a:ext cx="184150" cy="396875"/>
          </a:xfrm>
          <a:prstGeom prst="rect">
            <a:avLst/>
          </a:prstGeom>
          <a:gradFill rotWithShape="1">
            <a:gsLst>
              <a:gs pos="0">
                <a:srgbClr val="A9C8EE"/>
              </a:gs>
              <a:gs pos="100000">
                <a:srgbClr val="D3E3F7"/>
              </a:gs>
            </a:gsLst>
            <a:lin ang="5400000" scaled="1"/>
          </a:gradFill>
          <a:ln w="6350">
            <a:solidFill>
              <a:srgbClr val="6F9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139 path"/>
          <p:cNvSpPr/>
          <p:nvPr/>
        </p:nvSpPr>
        <p:spPr>
          <a:xfrm>
            <a:off x="2425700" y="3675888"/>
            <a:ext cx="63" cy="63500"/>
          </a:xfrm>
          <a:custGeom>
            <a:avLst/>
            <a:gdLst/>
            <a:ahLst/>
            <a:cxnLst/>
            <a:rect l="l" t="t" r="r" b="b"/>
            <a:pathLst>
              <a:path w="10" h="10000" fill="none" stroke="1">
                <a:moveTo>
                  <a:pt x="0" y="0"/>
                </a:moveTo>
                <a:lnTo>
                  <a:pt x="0" y="10000"/>
                </a:lnTo>
              </a:path>
            </a:pathLst>
          </a:custGeom>
          <a:noFill/>
          <a:ln w="825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140 s{sub:5}"/>
          <p:cNvSpPr txBox="1"/>
          <p:nvPr/>
        </p:nvSpPr>
        <p:spPr>
          <a:xfrm>
            <a:off x="2267077" y="3749040"/>
            <a:ext cx="3108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3040"/>
                </a:solidFill>
                <a:latin typeface="Times New Roman"/>
              </a:rPr>
              <a:t>s</a:t>
            </a:r>
            <a:r>
              <a:rPr sz="1170" b="0" i="0" baseline="-20000">
                <a:solidFill>
                  <a:srgbClr val="263040"/>
                </a:solidFill>
                <a:latin typeface="Times New Roman"/>
              </a:rPr>
              <a:t>5</a:t>
            </a:r>
          </a:p>
        </p:txBody>
      </p:sp>
      <p:sp>
        <p:nvSpPr>
          <p:cNvPr id="150" name="141 box"/>
          <p:cNvSpPr/>
          <p:nvPr/>
        </p:nvSpPr>
        <p:spPr>
          <a:xfrm>
            <a:off x="2730500" y="3390138"/>
            <a:ext cx="184150" cy="285750"/>
          </a:xfrm>
          <a:prstGeom prst="rect">
            <a:avLst/>
          </a:prstGeom>
          <a:gradFill rotWithShape="1">
            <a:gsLst>
              <a:gs pos="0">
                <a:srgbClr val="A9C8EE"/>
              </a:gs>
              <a:gs pos="100000">
                <a:srgbClr val="D3E3F7"/>
              </a:gs>
            </a:gsLst>
            <a:lin ang="5400000" scaled="1"/>
          </a:gradFill>
          <a:ln w="6350">
            <a:solidFill>
              <a:srgbClr val="6F9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142 path"/>
          <p:cNvSpPr/>
          <p:nvPr/>
        </p:nvSpPr>
        <p:spPr>
          <a:xfrm>
            <a:off x="2825750" y="3675888"/>
            <a:ext cx="63" cy="63500"/>
          </a:xfrm>
          <a:custGeom>
            <a:avLst/>
            <a:gdLst/>
            <a:ahLst/>
            <a:cxnLst/>
            <a:rect l="l" t="t" r="r" b="b"/>
            <a:pathLst>
              <a:path w="10" h="10000" fill="none" stroke="1">
                <a:moveTo>
                  <a:pt x="0" y="0"/>
                </a:moveTo>
                <a:lnTo>
                  <a:pt x="0" y="10000"/>
                </a:lnTo>
              </a:path>
            </a:pathLst>
          </a:custGeom>
          <a:noFill/>
          <a:ln w="8255">
            <a:solidFill>
              <a:srgbClr val="2424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143 s{sub:6}"/>
          <p:cNvSpPr txBox="1"/>
          <p:nvPr/>
        </p:nvSpPr>
        <p:spPr>
          <a:xfrm>
            <a:off x="2667127" y="3749040"/>
            <a:ext cx="3108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3040"/>
                </a:solidFill>
                <a:latin typeface="Times New Roman"/>
              </a:rPr>
              <a:t>s</a:t>
            </a:r>
            <a:r>
              <a:rPr sz="1170" b="0" i="0" baseline="-20000">
                <a:solidFill>
                  <a:srgbClr val="263040"/>
                </a:solidFill>
                <a:latin typeface="Times New Roman"/>
              </a:rPr>
              <a:t>6</a:t>
            </a:r>
          </a:p>
        </p:txBody>
      </p:sp>
      <p:sp>
        <p:nvSpPr>
          <p:cNvPr id="153" name="144 circle"/>
          <p:cNvSpPr/>
          <p:nvPr/>
        </p:nvSpPr>
        <p:spPr>
          <a:xfrm>
            <a:off x="393700" y="3637788"/>
            <a:ext cx="76200" cy="76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145 circle"/>
          <p:cNvSpPr/>
          <p:nvPr/>
        </p:nvSpPr>
        <p:spPr>
          <a:xfrm>
            <a:off x="2984500" y="3637788"/>
            <a:ext cx="76200" cy="76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A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147 box"/>
          <p:cNvSpPr/>
          <p:nvPr/>
        </p:nvSpPr>
        <p:spPr>
          <a:xfrm>
            <a:off x="3529584" y="2048256"/>
            <a:ext cx="1298448" cy="384048"/>
          </a:xfrm>
          <a:prstGeom prst="roundRect">
            <a:avLst>
              <a:gd name="adj" fmla="val 21428"/>
            </a:avLst>
          </a:prstGeom>
          <a:gradFill rotWithShape="1">
            <a:gsLst>
              <a:gs pos="0">
                <a:srgbClr val="EDF4FD"/>
              </a:gs>
              <a:gs pos="100000">
                <a:srgbClr val="FAFCFF"/>
              </a:gs>
            </a:gsLst>
            <a:lin ang="5400000" scaled="1"/>
          </a:gradFill>
          <a:ln w="7620">
            <a:solidFill>
              <a:srgbClr val="8FB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65" name="Token "/>
          <p:cNvGrpSpPr/>
          <p:nvPr/>
        </p:nvGrpSpPr>
        <p:grpSpPr>
          <a:xfrm>
            <a:off x="3639312" y="2731008"/>
            <a:ext cx="266700" cy="222250"/>
            <a:chOff x="4953000" y="2711450"/>
            <a:chExt cx="266700" cy="222250"/>
          </a:xfrm>
        </p:grpSpPr>
        <p:sp>
          <p:nvSpPr>
            <p:cNvPr id="162" name="152 token thickness"/>
            <p:cNvSpPr/>
            <p:nvPr/>
          </p:nvSpPr>
          <p:spPr>
            <a:xfrm>
              <a:off x="4953000" y="2793746"/>
              <a:ext cx="266700" cy="139954"/>
            </a:xfrm>
            <a:custGeom>
              <a:avLst/>
              <a:gdLst/>
              <a:ahLst/>
              <a:cxnLst/>
              <a:rect l="l" t="t" r="r" b="b"/>
              <a:pathLst>
                <a:path w="42000" h="22040" fill="norm" stroke="1">
                  <a:moveTo>
                    <a:pt x="0" y="1890"/>
                  </a:moveTo>
                  <a:lnTo>
                    <a:pt x="19320" y="14040"/>
                  </a:lnTo>
                  <a:lnTo>
                    <a:pt x="42000" y="0"/>
                  </a:lnTo>
                  <a:lnTo>
                    <a:pt x="42000" y="4320"/>
                  </a:lnTo>
                  <a:lnTo>
                    <a:pt x="19320" y="22040"/>
                  </a:lnTo>
                  <a:lnTo>
                    <a:pt x="0" y="6480"/>
                  </a:lnTo>
                  <a:close/>
                </a:path>
              </a:pathLst>
            </a:custGeom>
            <a:solidFill>
              <a:srgbClr val="E89591"/>
            </a:solidFill>
            <a:ln w="8255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3" name="153 token top"/>
            <p:cNvSpPr/>
            <p:nvPr/>
          </p:nvSpPr>
          <p:spPr>
            <a:xfrm>
              <a:off x="4953000" y="2711450"/>
              <a:ext cx="266700" cy="171450"/>
            </a:xfrm>
            <a:custGeom>
              <a:avLst/>
              <a:gdLst/>
              <a:ahLst/>
              <a:cxnLst/>
              <a:rect l="l" t="t" r="r" b="b"/>
              <a:pathLst>
                <a:path w="42000" h="27000" fill="norm" stroke="1">
                  <a:moveTo>
                    <a:pt x="0" y="14850"/>
                  </a:moveTo>
                  <a:lnTo>
                    <a:pt x="22680" y="0"/>
                  </a:lnTo>
                  <a:lnTo>
                    <a:pt x="42000" y="12960"/>
                  </a:lnTo>
                  <a:lnTo>
                    <a:pt x="19320" y="27000"/>
                  </a:lnTo>
                  <a:close/>
                </a:path>
              </a:pathLst>
            </a:custGeom>
            <a:solidFill>
              <a:srgbClr val="F5AEA9"/>
            </a:solidFill>
            <a:ln w="9525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4" name="154 path"/>
            <p:cNvSpPr/>
            <p:nvPr/>
          </p:nvSpPr>
          <p:spPr>
            <a:xfrm>
              <a:off x="5075682" y="2882900"/>
              <a:ext cx="63" cy="50800"/>
            </a:xfrm>
            <a:custGeom>
              <a:avLst/>
              <a:gdLst/>
              <a:ahLst/>
              <a:cxnLst/>
              <a:rect l="l" t="t" r="r" b="b"/>
              <a:pathLst>
                <a:path w="10" h="8000" fill="none" stroke="1">
                  <a:moveTo>
                    <a:pt x="0" y="0"/>
                  </a:moveTo>
                  <a:lnTo>
                    <a:pt x="0" y="8000"/>
                  </a:lnTo>
                </a:path>
              </a:pathLst>
            </a:custGeom>
            <a:noFill/>
            <a:ln w="6350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6" name="155 s{sub:5}"/>
          <p:cNvSpPr txBox="1"/>
          <p:nvPr/>
        </p:nvSpPr>
        <p:spPr>
          <a:xfrm>
            <a:off x="3617214" y="2971546"/>
            <a:ext cx="31089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263040"/>
                </a:solidFill>
                <a:latin typeface="Times New Roman"/>
              </a:rPr>
              <a:t>s</a:t>
            </a:r>
            <a:r>
              <a:rPr sz="1170" b="0" i="0" baseline="-20000">
                <a:solidFill>
                  <a:srgbClr val="263040"/>
                </a:solidFill>
                <a:latin typeface="Times New Roman"/>
              </a:rPr>
              <a:t>5</a:t>
            </a:r>
          </a:p>
        </p:txBody>
      </p:sp>
      <p:sp>
        <p:nvSpPr>
          <p:cNvPr id="167" name="156 arrow curve"/>
          <p:cNvSpPr/>
          <p:nvPr/>
        </p:nvSpPr>
        <p:spPr>
          <a:xfrm>
            <a:off x="3931412" y="2673858"/>
            <a:ext cx="273050" cy="146050"/>
          </a:xfrm>
          <a:custGeom>
            <a:avLst/>
            <a:gdLst/>
            <a:ahLst/>
            <a:cxnLst/>
            <a:rect l="l" t="t" r="r" b="b"/>
            <a:pathLst>
              <a:path w="43000" h="23000" fill="none" stroke="1">
                <a:moveTo>
                  <a:pt x="0" y="23000"/>
                </a:moveTo>
                <a:lnTo>
                  <a:pt x="43000" y="0"/>
                </a:lnTo>
              </a:path>
            </a:pathLst>
          </a:custGeom>
          <a:noFill/>
          <a:ln w="9525">
            <a:solidFill>
              <a:srgbClr val="8F4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157 arrowhead"/>
          <p:cNvSpPr/>
          <p:nvPr/>
        </p:nvSpPr>
        <p:spPr>
          <a:xfrm>
            <a:off x="4134991" y="2673858"/>
            <a:ext cx="69470" cy="55146"/>
          </a:xfrm>
          <a:custGeom>
            <a:avLst/>
            <a:gdLst/>
            <a:ahLst/>
            <a:cxnLst/>
            <a:rect l="l" t="t" r="r" b="b"/>
            <a:pathLst>
              <a:path w="10940" h="8684" fill="norm" stroke="1">
                <a:moveTo>
                  <a:pt x="10940" y="0"/>
                </a:moveTo>
                <a:lnTo>
                  <a:pt x="0" y="748"/>
                </a:lnTo>
                <a:lnTo>
                  <a:pt x="4245" y="8685"/>
                </a:lnTo>
                <a:close/>
              </a:path>
            </a:pathLst>
          </a:custGeom>
          <a:solidFill>
            <a:srgbClr val="8F4B25"/>
          </a:solidFill>
          <a:ln w="3810">
            <a:solidFill>
              <a:srgbClr val="8F4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158 arrow curve"/>
          <p:cNvSpPr/>
          <p:nvPr/>
        </p:nvSpPr>
        <p:spPr>
          <a:xfrm>
            <a:off x="3931412" y="2908808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40000" h="32000" fill="none" stroke="1">
                <a:moveTo>
                  <a:pt x="0" y="0"/>
                </a:moveTo>
                <a:lnTo>
                  <a:pt x="40000" y="32000"/>
                </a:lnTo>
              </a:path>
            </a:pathLst>
          </a:custGeom>
          <a:noFill/>
          <a:ln w="9525">
            <a:solidFill>
              <a:srgbClr val="8F4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159 arrowhead"/>
          <p:cNvSpPr/>
          <p:nvPr/>
        </p:nvSpPr>
        <p:spPr>
          <a:xfrm>
            <a:off x="4117976" y="3050026"/>
            <a:ext cx="67435" cy="61981"/>
          </a:xfrm>
          <a:custGeom>
            <a:avLst/>
            <a:gdLst/>
            <a:ahLst/>
            <a:cxnLst/>
            <a:rect l="l" t="t" r="r" b="b"/>
            <a:pathLst>
              <a:path w="10619" h="9760" fill="norm" stroke="1">
                <a:moveTo>
                  <a:pt x="10620" y="9761"/>
                </a:moveTo>
                <a:lnTo>
                  <a:pt x="5622" y="0"/>
                </a:lnTo>
                <a:lnTo>
                  <a:pt x="0" y="7028"/>
                </a:lnTo>
                <a:close/>
              </a:path>
            </a:pathLst>
          </a:custGeom>
          <a:solidFill>
            <a:srgbClr val="8F4B25"/>
          </a:solidFill>
          <a:ln w="3810">
            <a:solidFill>
              <a:srgbClr val="8F4B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74" name="Token "/>
          <p:cNvGrpSpPr/>
          <p:nvPr/>
        </p:nvGrpSpPr>
        <p:grpSpPr>
          <a:xfrm>
            <a:off x="4210812" y="2578608"/>
            <a:ext cx="273050" cy="222250"/>
            <a:chOff x="5524500" y="2559050"/>
            <a:chExt cx="273050" cy="222250"/>
          </a:xfrm>
        </p:grpSpPr>
        <p:sp>
          <p:nvSpPr>
            <p:cNvPr id="171" name="160 token thickness"/>
            <p:cNvSpPr/>
            <p:nvPr/>
          </p:nvSpPr>
          <p:spPr>
            <a:xfrm>
              <a:off x="5524500" y="2641346"/>
              <a:ext cx="273050" cy="139954"/>
            </a:xfrm>
            <a:custGeom>
              <a:avLst/>
              <a:gdLst/>
              <a:ahLst/>
              <a:cxnLst/>
              <a:rect l="l" t="t" r="r" b="b"/>
              <a:pathLst>
                <a:path w="43000" h="22040" fill="norm" stroke="1">
                  <a:moveTo>
                    <a:pt x="0" y="1890"/>
                  </a:moveTo>
                  <a:lnTo>
                    <a:pt x="19780" y="14040"/>
                  </a:lnTo>
                  <a:lnTo>
                    <a:pt x="43000" y="0"/>
                  </a:lnTo>
                  <a:lnTo>
                    <a:pt x="43000" y="4320"/>
                  </a:lnTo>
                  <a:lnTo>
                    <a:pt x="19780" y="22040"/>
                  </a:lnTo>
                  <a:lnTo>
                    <a:pt x="0" y="6480"/>
                  </a:lnTo>
                  <a:close/>
                </a:path>
              </a:pathLst>
            </a:custGeom>
            <a:solidFill>
              <a:srgbClr val="E89591"/>
            </a:solidFill>
            <a:ln w="8255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2" name="161 token top"/>
            <p:cNvSpPr/>
            <p:nvPr/>
          </p:nvSpPr>
          <p:spPr>
            <a:xfrm>
              <a:off x="5524500" y="2559050"/>
              <a:ext cx="273050" cy="171450"/>
            </a:xfrm>
            <a:custGeom>
              <a:avLst/>
              <a:gdLst/>
              <a:ahLst/>
              <a:cxnLst/>
              <a:rect l="l" t="t" r="r" b="b"/>
              <a:pathLst>
                <a:path w="43000" h="27000" fill="norm" stroke="1">
                  <a:moveTo>
                    <a:pt x="0" y="14850"/>
                  </a:moveTo>
                  <a:lnTo>
                    <a:pt x="23220" y="0"/>
                  </a:lnTo>
                  <a:lnTo>
                    <a:pt x="43000" y="12960"/>
                  </a:lnTo>
                  <a:lnTo>
                    <a:pt x="19780" y="27000"/>
                  </a:lnTo>
                  <a:close/>
                </a:path>
              </a:pathLst>
            </a:custGeom>
            <a:solidFill>
              <a:srgbClr val="F5AEA9"/>
            </a:solidFill>
            <a:ln w="9525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3" name="162 path"/>
            <p:cNvSpPr/>
            <p:nvPr/>
          </p:nvSpPr>
          <p:spPr>
            <a:xfrm>
              <a:off x="5650103" y="2730500"/>
              <a:ext cx="63" cy="50800"/>
            </a:xfrm>
            <a:custGeom>
              <a:avLst/>
              <a:gdLst/>
              <a:ahLst/>
              <a:cxnLst/>
              <a:rect l="l" t="t" r="r" b="b"/>
              <a:pathLst>
                <a:path w="10" h="8000" fill="none" stroke="1">
                  <a:moveTo>
                    <a:pt x="0" y="0"/>
                  </a:moveTo>
                  <a:lnTo>
                    <a:pt x="0" y="8000"/>
                  </a:lnTo>
                </a:path>
              </a:pathLst>
            </a:custGeom>
            <a:noFill/>
            <a:ln w="6350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8" name="Token "/>
          <p:cNvGrpSpPr/>
          <p:nvPr/>
        </p:nvGrpSpPr>
        <p:grpSpPr>
          <a:xfrm>
            <a:off x="4464812" y="2578608"/>
            <a:ext cx="273050" cy="222250"/>
            <a:chOff x="5778500" y="2559050"/>
            <a:chExt cx="273050" cy="222250"/>
          </a:xfrm>
        </p:grpSpPr>
        <p:sp>
          <p:nvSpPr>
            <p:cNvPr id="175" name="163 token thickness"/>
            <p:cNvSpPr/>
            <p:nvPr/>
          </p:nvSpPr>
          <p:spPr>
            <a:xfrm>
              <a:off x="5778500" y="2641346"/>
              <a:ext cx="273050" cy="139954"/>
            </a:xfrm>
            <a:custGeom>
              <a:avLst/>
              <a:gdLst/>
              <a:ahLst/>
              <a:cxnLst/>
              <a:rect l="l" t="t" r="r" b="b"/>
              <a:pathLst>
                <a:path w="43000" h="22040" fill="norm" stroke="1">
                  <a:moveTo>
                    <a:pt x="0" y="1890"/>
                  </a:moveTo>
                  <a:lnTo>
                    <a:pt x="19780" y="14040"/>
                  </a:lnTo>
                  <a:lnTo>
                    <a:pt x="43000" y="0"/>
                  </a:lnTo>
                  <a:lnTo>
                    <a:pt x="43000" y="4320"/>
                  </a:lnTo>
                  <a:lnTo>
                    <a:pt x="19780" y="22040"/>
                  </a:lnTo>
                  <a:lnTo>
                    <a:pt x="0" y="6480"/>
                  </a:lnTo>
                  <a:close/>
                </a:path>
              </a:pathLst>
            </a:custGeom>
            <a:solidFill>
              <a:srgbClr val="E89591"/>
            </a:solidFill>
            <a:ln w="8255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6" name="164 token top"/>
            <p:cNvSpPr/>
            <p:nvPr/>
          </p:nvSpPr>
          <p:spPr>
            <a:xfrm>
              <a:off x="5778500" y="2559050"/>
              <a:ext cx="273050" cy="171450"/>
            </a:xfrm>
            <a:custGeom>
              <a:avLst/>
              <a:gdLst/>
              <a:ahLst/>
              <a:cxnLst/>
              <a:rect l="l" t="t" r="r" b="b"/>
              <a:pathLst>
                <a:path w="43000" h="27000" fill="norm" stroke="1">
                  <a:moveTo>
                    <a:pt x="0" y="14850"/>
                  </a:moveTo>
                  <a:lnTo>
                    <a:pt x="23220" y="0"/>
                  </a:lnTo>
                  <a:lnTo>
                    <a:pt x="43000" y="12960"/>
                  </a:lnTo>
                  <a:lnTo>
                    <a:pt x="19780" y="27000"/>
                  </a:lnTo>
                  <a:close/>
                </a:path>
              </a:pathLst>
            </a:custGeom>
            <a:solidFill>
              <a:srgbClr val="F5AEA9"/>
            </a:solidFill>
            <a:ln w="9525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7" name="165 path"/>
            <p:cNvSpPr/>
            <p:nvPr/>
          </p:nvSpPr>
          <p:spPr>
            <a:xfrm>
              <a:off x="5904103" y="2730500"/>
              <a:ext cx="63" cy="50800"/>
            </a:xfrm>
            <a:custGeom>
              <a:avLst/>
              <a:gdLst/>
              <a:ahLst/>
              <a:cxnLst/>
              <a:rect l="l" t="t" r="r" b="b"/>
              <a:pathLst>
                <a:path w="10" h="8000" fill="none" stroke="1">
                  <a:moveTo>
                    <a:pt x="0" y="0"/>
                  </a:moveTo>
                  <a:lnTo>
                    <a:pt x="0" y="8000"/>
                  </a:lnTo>
                </a:path>
              </a:pathLst>
            </a:custGeom>
            <a:noFill/>
            <a:ln w="6350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2" name="Token "/>
          <p:cNvGrpSpPr/>
          <p:nvPr/>
        </p:nvGrpSpPr>
        <p:grpSpPr>
          <a:xfrm>
            <a:off x="4718812" y="2578608"/>
            <a:ext cx="273050" cy="222250"/>
            <a:chOff x="6032500" y="2559050"/>
            <a:chExt cx="273050" cy="222250"/>
          </a:xfrm>
        </p:grpSpPr>
        <p:sp>
          <p:nvSpPr>
            <p:cNvPr id="179" name="166 token thickness"/>
            <p:cNvSpPr/>
            <p:nvPr/>
          </p:nvSpPr>
          <p:spPr>
            <a:xfrm>
              <a:off x="6032500" y="2641346"/>
              <a:ext cx="273050" cy="139954"/>
            </a:xfrm>
            <a:custGeom>
              <a:avLst/>
              <a:gdLst/>
              <a:ahLst/>
              <a:cxnLst/>
              <a:rect l="l" t="t" r="r" b="b"/>
              <a:pathLst>
                <a:path w="43000" h="22040" fill="norm" stroke="1">
                  <a:moveTo>
                    <a:pt x="0" y="1890"/>
                  </a:moveTo>
                  <a:lnTo>
                    <a:pt x="19780" y="14040"/>
                  </a:lnTo>
                  <a:lnTo>
                    <a:pt x="43000" y="0"/>
                  </a:lnTo>
                  <a:lnTo>
                    <a:pt x="43000" y="4320"/>
                  </a:lnTo>
                  <a:lnTo>
                    <a:pt x="19780" y="22040"/>
                  </a:lnTo>
                  <a:lnTo>
                    <a:pt x="0" y="6480"/>
                  </a:lnTo>
                  <a:close/>
                </a:path>
              </a:pathLst>
            </a:custGeom>
            <a:solidFill>
              <a:srgbClr val="E89591"/>
            </a:solidFill>
            <a:ln w="8255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167 token top"/>
            <p:cNvSpPr/>
            <p:nvPr/>
          </p:nvSpPr>
          <p:spPr>
            <a:xfrm>
              <a:off x="6032500" y="2559050"/>
              <a:ext cx="273050" cy="171450"/>
            </a:xfrm>
            <a:custGeom>
              <a:avLst/>
              <a:gdLst/>
              <a:ahLst/>
              <a:cxnLst/>
              <a:rect l="l" t="t" r="r" b="b"/>
              <a:pathLst>
                <a:path w="43000" h="27000" fill="norm" stroke="1">
                  <a:moveTo>
                    <a:pt x="0" y="14850"/>
                  </a:moveTo>
                  <a:lnTo>
                    <a:pt x="23220" y="0"/>
                  </a:lnTo>
                  <a:lnTo>
                    <a:pt x="43000" y="12960"/>
                  </a:lnTo>
                  <a:lnTo>
                    <a:pt x="19780" y="27000"/>
                  </a:lnTo>
                  <a:close/>
                </a:path>
              </a:pathLst>
            </a:custGeom>
            <a:solidFill>
              <a:srgbClr val="F5AEA9"/>
            </a:solidFill>
            <a:ln w="9525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1" name="168 path"/>
            <p:cNvSpPr/>
            <p:nvPr/>
          </p:nvSpPr>
          <p:spPr>
            <a:xfrm>
              <a:off x="6158103" y="2730500"/>
              <a:ext cx="63" cy="50800"/>
            </a:xfrm>
            <a:custGeom>
              <a:avLst/>
              <a:gdLst/>
              <a:ahLst/>
              <a:cxnLst/>
              <a:rect l="l" t="t" r="r" b="b"/>
              <a:pathLst>
                <a:path w="10" h="8000" fill="none" stroke="1">
                  <a:moveTo>
                    <a:pt x="0" y="0"/>
                  </a:moveTo>
                  <a:lnTo>
                    <a:pt x="0" y="8000"/>
                  </a:lnTo>
                </a:path>
              </a:pathLst>
            </a:custGeom>
            <a:noFill/>
            <a:ln w="6350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83" name="169 ×"/>
          <p:cNvSpPr txBox="1"/>
          <p:nvPr/>
        </p:nvSpPr>
        <p:spPr>
          <a:xfrm>
            <a:off x="5037582" y="2506853"/>
            <a:ext cx="21945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6C5F"/>
                </a:solidFill>
                <a:latin typeface="Times New Roman"/>
              </a:rPr>
              <a:t>×</a:t>
            </a:r>
          </a:p>
        </p:txBody>
      </p:sp>
      <p:sp>
        <p:nvSpPr>
          <p:cNvPr id="184" name="170 R = 0"/>
          <p:cNvSpPr txBox="1"/>
          <p:nvPr/>
        </p:nvSpPr>
        <p:spPr>
          <a:xfrm>
            <a:off x="5238750" y="2570861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E06C5F"/>
                </a:solidFill>
                <a:latin typeface="Times New Roman"/>
              </a:rPr>
              <a:t>R</a:t>
            </a:r>
            <a:r>
              <a:rPr sz="1500" b="0" i="0">
                <a:solidFill>
                  <a:srgbClr val="E06C5F"/>
                </a:solidFill>
                <a:latin typeface="Times New Roman"/>
              </a:rPr>
              <a:t xml:space="preserve"> = 0</a:t>
            </a:r>
          </a:p>
        </p:txBody>
      </p:sp>
      <p:grpSp>
        <p:nvGrpSpPr>
          <p:cNvPr id="188" name="Token "/>
          <p:cNvGrpSpPr/>
          <p:nvPr/>
        </p:nvGrpSpPr>
        <p:grpSpPr>
          <a:xfrm>
            <a:off x="4210812" y="2997708"/>
            <a:ext cx="273050" cy="222250"/>
            <a:chOff x="5524500" y="2978150"/>
            <a:chExt cx="273050" cy="222250"/>
          </a:xfrm>
        </p:grpSpPr>
        <p:sp>
          <p:nvSpPr>
            <p:cNvPr id="185" name="171 token thickness"/>
            <p:cNvSpPr/>
            <p:nvPr/>
          </p:nvSpPr>
          <p:spPr>
            <a:xfrm>
              <a:off x="5524500" y="3060446"/>
              <a:ext cx="273050" cy="139954"/>
            </a:xfrm>
            <a:custGeom>
              <a:avLst/>
              <a:gdLst/>
              <a:ahLst/>
              <a:cxnLst/>
              <a:rect l="l" t="t" r="r" b="b"/>
              <a:pathLst>
                <a:path w="43000" h="22040" fill="norm" stroke="1">
                  <a:moveTo>
                    <a:pt x="0" y="1890"/>
                  </a:moveTo>
                  <a:lnTo>
                    <a:pt x="19780" y="14040"/>
                  </a:lnTo>
                  <a:lnTo>
                    <a:pt x="43000" y="0"/>
                  </a:lnTo>
                  <a:lnTo>
                    <a:pt x="43000" y="4320"/>
                  </a:lnTo>
                  <a:lnTo>
                    <a:pt x="19780" y="22040"/>
                  </a:lnTo>
                  <a:lnTo>
                    <a:pt x="0" y="6480"/>
                  </a:lnTo>
                  <a:close/>
                </a:path>
              </a:pathLst>
            </a:custGeom>
            <a:solidFill>
              <a:srgbClr val="E89591"/>
            </a:solidFill>
            <a:ln w="8255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6" name="172 token top"/>
            <p:cNvSpPr/>
            <p:nvPr/>
          </p:nvSpPr>
          <p:spPr>
            <a:xfrm>
              <a:off x="5524500" y="2978150"/>
              <a:ext cx="273050" cy="171450"/>
            </a:xfrm>
            <a:custGeom>
              <a:avLst/>
              <a:gdLst/>
              <a:ahLst/>
              <a:cxnLst/>
              <a:rect l="l" t="t" r="r" b="b"/>
              <a:pathLst>
                <a:path w="43000" h="27000" fill="norm" stroke="1">
                  <a:moveTo>
                    <a:pt x="0" y="14850"/>
                  </a:moveTo>
                  <a:lnTo>
                    <a:pt x="23220" y="0"/>
                  </a:lnTo>
                  <a:lnTo>
                    <a:pt x="43000" y="12960"/>
                  </a:lnTo>
                  <a:lnTo>
                    <a:pt x="19780" y="27000"/>
                  </a:lnTo>
                  <a:close/>
                </a:path>
              </a:pathLst>
            </a:custGeom>
            <a:solidFill>
              <a:srgbClr val="F5AEA9"/>
            </a:solidFill>
            <a:ln w="9525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7" name="173 path"/>
            <p:cNvSpPr/>
            <p:nvPr/>
          </p:nvSpPr>
          <p:spPr>
            <a:xfrm>
              <a:off x="5650103" y="3149600"/>
              <a:ext cx="63" cy="50800"/>
            </a:xfrm>
            <a:custGeom>
              <a:avLst/>
              <a:gdLst/>
              <a:ahLst/>
              <a:cxnLst/>
              <a:rect l="l" t="t" r="r" b="b"/>
              <a:pathLst>
                <a:path w="10" h="8000" fill="none" stroke="1">
                  <a:moveTo>
                    <a:pt x="0" y="0"/>
                  </a:moveTo>
                  <a:lnTo>
                    <a:pt x="0" y="8000"/>
                  </a:lnTo>
                </a:path>
              </a:pathLst>
            </a:custGeom>
            <a:noFill/>
            <a:ln w="6350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2" name="Token "/>
          <p:cNvGrpSpPr/>
          <p:nvPr/>
        </p:nvGrpSpPr>
        <p:grpSpPr>
          <a:xfrm>
            <a:off x="4464812" y="2997708"/>
            <a:ext cx="273050" cy="222250"/>
            <a:chOff x="5778500" y="2978150"/>
            <a:chExt cx="273050" cy="222250"/>
          </a:xfrm>
        </p:grpSpPr>
        <p:sp>
          <p:nvSpPr>
            <p:cNvPr id="189" name="174 token thickness"/>
            <p:cNvSpPr/>
            <p:nvPr/>
          </p:nvSpPr>
          <p:spPr>
            <a:xfrm>
              <a:off x="5778500" y="3060446"/>
              <a:ext cx="273050" cy="139954"/>
            </a:xfrm>
            <a:custGeom>
              <a:avLst/>
              <a:gdLst/>
              <a:ahLst/>
              <a:cxnLst/>
              <a:rect l="l" t="t" r="r" b="b"/>
              <a:pathLst>
                <a:path w="43000" h="22040" fill="norm" stroke="1">
                  <a:moveTo>
                    <a:pt x="0" y="1890"/>
                  </a:moveTo>
                  <a:lnTo>
                    <a:pt x="19780" y="14040"/>
                  </a:lnTo>
                  <a:lnTo>
                    <a:pt x="43000" y="0"/>
                  </a:lnTo>
                  <a:lnTo>
                    <a:pt x="43000" y="4320"/>
                  </a:lnTo>
                  <a:lnTo>
                    <a:pt x="19780" y="22040"/>
                  </a:lnTo>
                  <a:lnTo>
                    <a:pt x="0" y="6480"/>
                  </a:lnTo>
                  <a:close/>
                </a:path>
              </a:pathLst>
            </a:custGeom>
            <a:solidFill>
              <a:srgbClr val="E89591"/>
            </a:solidFill>
            <a:ln w="8255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0" name="175 token top"/>
            <p:cNvSpPr/>
            <p:nvPr/>
          </p:nvSpPr>
          <p:spPr>
            <a:xfrm>
              <a:off x="5778500" y="2978150"/>
              <a:ext cx="273050" cy="171450"/>
            </a:xfrm>
            <a:custGeom>
              <a:avLst/>
              <a:gdLst/>
              <a:ahLst/>
              <a:cxnLst/>
              <a:rect l="l" t="t" r="r" b="b"/>
              <a:pathLst>
                <a:path w="43000" h="27000" fill="norm" stroke="1">
                  <a:moveTo>
                    <a:pt x="0" y="14850"/>
                  </a:moveTo>
                  <a:lnTo>
                    <a:pt x="23220" y="0"/>
                  </a:lnTo>
                  <a:lnTo>
                    <a:pt x="43000" y="12960"/>
                  </a:lnTo>
                  <a:lnTo>
                    <a:pt x="19780" y="27000"/>
                  </a:lnTo>
                  <a:close/>
                </a:path>
              </a:pathLst>
            </a:custGeom>
            <a:solidFill>
              <a:srgbClr val="F5AEA9"/>
            </a:solidFill>
            <a:ln w="9525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1" name="176 path"/>
            <p:cNvSpPr/>
            <p:nvPr/>
          </p:nvSpPr>
          <p:spPr>
            <a:xfrm>
              <a:off x="5904103" y="3149600"/>
              <a:ext cx="63" cy="50800"/>
            </a:xfrm>
            <a:custGeom>
              <a:avLst/>
              <a:gdLst/>
              <a:ahLst/>
              <a:cxnLst/>
              <a:rect l="l" t="t" r="r" b="b"/>
              <a:pathLst>
                <a:path w="10" h="8000" fill="none" stroke="1">
                  <a:moveTo>
                    <a:pt x="0" y="0"/>
                  </a:moveTo>
                  <a:lnTo>
                    <a:pt x="0" y="8000"/>
                  </a:lnTo>
                </a:path>
              </a:pathLst>
            </a:custGeom>
            <a:noFill/>
            <a:ln w="6350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6" name="Token "/>
          <p:cNvGrpSpPr/>
          <p:nvPr/>
        </p:nvGrpSpPr>
        <p:grpSpPr>
          <a:xfrm>
            <a:off x="4718812" y="2997708"/>
            <a:ext cx="273050" cy="222250"/>
            <a:chOff x="6032500" y="2978150"/>
            <a:chExt cx="273050" cy="222250"/>
          </a:xfrm>
        </p:grpSpPr>
        <p:sp>
          <p:nvSpPr>
            <p:cNvPr id="193" name="177 token thickness"/>
            <p:cNvSpPr/>
            <p:nvPr/>
          </p:nvSpPr>
          <p:spPr>
            <a:xfrm>
              <a:off x="6032500" y="3060446"/>
              <a:ext cx="273050" cy="139954"/>
            </a:xfrm>
            <a:custGeom>
              <a:avLst/>
              <a:gdLst/>
              <a:ahLst/>
              <a:cxnLst/>
              <a:rect l="l" t="t" r="r" b="b"/>
              <a:pathLst>
                <a:path w="43000" h="22040" fill="norm" stroke="1">
                  <a:moveTo>
                    <a:pt x="0" y="1890"/>
                  </a:moveTo>
                  <a:lnTo>
                    <a:pt x="19780" y="14040"/>
                  </a:lnTo>
                  <a:lnTo>
                    <a:pt x="43000" y="0"/>
                  </a:lnTo>
                  <a:lnTo>
                    <a:pt x="43000" y="4320"/>
                  </a:lnTo>
                  <a:lnTo>
                    <a:pt x="19780" y="22040"/>
                  </a:lnTo>
                  <a:lnTo>
                    <a:pt x="0" y="6480"/>
                  </a:lnTo>
                  <a:close/>
                </a:path>
              </a:pathLst>
            </a:custGeom>
            <a:solidFill>
              <a:srgbClr val="E89591"/>
            </a:solidFill>
            <a:ln w="8255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4" name="178 token top"/>
            <p:cNvSpPr/>
            <p:nvPr/>
          </p:nvSpPr>
          <p:spPr>
            <a:xfrm>
              <a:off x="6032500" y="2978150"/>
              <a:ext cx="273050" cy="171450"/>
            </a:xfrm>
            <a:custGeom>
              <a:avLst/>
              <a:gdLst/>
              <a:ahLst/>
              <a:cxnLst/>
              <a:rect l="l" t="t" r="r" b="b"/>
              <a:pathLst>
                <a:path w="43000" h="27000" fill="norm" stroke="1">
                  <a:moveTo>
                    <a:pt x="0" y="14850"/>
                  </a:moveTo>
                  <a:lnTo>
                    <a:pt x="23220" y="0"/>
                  </a:lnTo>
                  <a:lnTo>
                    <a:pt x="43000" y="12960"/>
                  </a:lnTo>
                  <a:lnTo>
                    <a:pt x="19780" y="27000"/>
                  </a:lnTo>
                  <a:close/>
                </a:path>
              </a:pathLst>
            </a:custGeom>
            <a:solidFill>
              <a:srgbClr val="F5AEA9"/>
            </a:solidFill>
            <a:ln w="9525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5" name="179 path"/>
            <p:cNvSpPr/>
            <p:nvPr/>
          </p:nvSpPr>
          <p:spPr>
            <a:xfrm>
              <a:off x="6158103" y="3149600"/>
              <a:ext cx="63" cy="50800"/>
            </a:xfrm>
            <a:custGeom>
              <a:avLst/>
              <a:gdLst/>
              <a:ahLst/>
              <a:cxnLst/>
              <a:rect l="l" t="t" r="r" b="b"/>
              <a:pathLst>
                <a:path w="10" h="8000" fill="none" stroke="1">
                  <a:moveTo>
                    <a:pt x="0" y="0"/>
                  </a:moveTo>
                  <a:lnTo>
                    <a:pt x="0" y="8000"/>
                  </a:lnTo>
                </a:path>
              </a:pathLst>
            </a:custGeom>
            <a:noFill/>
            <a:ln w="6350">
              <a:solidFill>
                <a:srgbClr val="AD4E3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7" name="180 ×"/>
          <p:cNvSpPr txBox="1"/>
          <p:nvPr/>
        </p:nvSpPr>
        <p:spPr>
          <a:xfrm>
            <a:off x="5037582" y="2925953"/>
            <a:ext cx="219456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6C5F"/>
                </a:solidFill>
                <a:latin typeface="Times New Roman"/>
              </a:rPr>
              <a:t>×</a:t>
            </a:r>
          </a:p>
        </p:txBody>
      </p:sp>
      <p:sp>
        <p:nvSpPr>
          <p:cNvPr id="198" name="181 R = 0"/>
          <p:cNvSpPr txBox="1"/>
          <p:nvPr/>
        </p:nvSpPr>
        <p:spPr>
          <a:xfrm>
            <a:off x="5238750" y="2989961"/>
            <a:ext cx="50292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E06C5F"/>
                </a:solidFill>
                <a:latin typeface="Times New Roman"/>
              </a:rPr>
              <a:t>R</a:t>
            </a:r>
            <a:r>
              <a:rPr sz="1500" b="0" i="0">
                <a:solidFill>
                  <a:srgbClr val="E06C5F"/>
                </a:solidFill>
                <a:latin typeface="Times New Roman"/>
              </a:rPr>
              <a:t xml:space="preserve"> = 0</a:t>
            </a:r>
          </a:p>
        </p:txBody>
      </p:sp>
      <p:sp>
        <p:nvSpPr>
          <p:cNvPr id="199" name="182 circle"/>
          <p:cNvSpPr/>
          <p:nvPr/>
        </p:nvSpPr>
        <p:spPr>
          <a:xfrm>
            <a:off x="4566412" y="2877058"/>
            <a:ext cx="25400" cy="254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183 circle"/>
          <p:cNvSpPr/>
          <p:nvPr/>
        </p:nvSpPr>
        <p:spPr>
          <a:xfrm>
            <a:off x="4566412" y="2927858"/>
            <a:ext cx="25400" cy="25400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191 f{sub:k}"/>
          <p:cNvSpPr txBox="1"/>
          <p:nvPr/>
        </p:nvSpPr>
        <p:spPr>
          <a:xfrm>
            <a:off x="7132320" y="2377440"/>
            <a:ext cx="292608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3D7FD9"/>
                </a:solidFill>
                <a:latin typeface="Times New Roman"/>
              </a:rPr>
              <a:t>f</a:t>
            </a:r>
            <a:r>
              <a:rPr sz="1404" b="0" i="1" baseline="-20000">
                <a:solidFill>
                  <a:srgbClr val="3D7FD9"/>
                </a:solidFill>
                <a:latin typeface="Times New Roman"/>
              </a:rPr>
              <a:t>k</a:t>
            </a:r>
          </a:p>
        </p:txBody>
      </p:sp>
      <p:sp>
        <p:nvSpPr>
          <p:cNvPr id="212" name="194 Ŷ{sub:k}"/>
          <p:cNvSpPr txBox="1"/>
          <p:nvPr/>
        </p:nvSpPr>
        <p:spPr>
          <a:xfrm>
            <a:off x="7132320" y="2724912"/>
            <a:ext cx="310896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7B68D6"/>
                </a:solidFill>
                <a:latin typeface="Times New Roman"/>
              </a:rPr>
              <a:t>Ŷ</a:t>
            </a:r>
            <a:r>
              <a:rPr sz="1404" b="0" i="1" baseline="-20000">
                <a:solidFill>
                  <a:srgbClr val="7B68D6"/>
                </a:solidFill>
                <a:latin typeface="Times New Roman"/>
              </a:rPr>
              <a:t>k</a:t>
            </a:r>
          </a:p>
        </p:txBody>
      </p:sp>
      <p:sp>
        <p:nvSpPr>
          <p:cNvPr id="215" name="197 box"/>
          <p:cNvSpPr/>
          <p:nvPr/>
        </p:nvSpPr>
        <p:spPr>
          <a:xfrm>
            <a:off x="7626096" y="2377440"/>
            <a:ext cx="2157984" cy="640080"/>
          </a:xfrm>
          <a:prstGeom prst="roundRect">
            <a:avLst>
              <a:gd name="adj" fmla="val 8910"/>
            </a:avLst>
          </a:prstGeom>
          <a:solidFill>
            <a:srgbClr val="FFFBF5"/>
          </a:solidFill>
          <a:ln w="7620">
            <a:solidFill>
              <a:srgbClr val="9A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198 Ṽ{sub:k} = m{sub:k} +"/>
          <p:cNvSpPr txBox="1"/>
          <p:nvPr/>
        </p:nvSpPr>
        <p:spPr>
          <a:xfrm>
            <a:off x="7664923" y="2563749"/>
            <a:ext cx="948908" cy="2674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63040"/>
                </a:solidFill>
                <a:latin typeface="Times New Roman"/>
              </a:rPr>
              <a:t>Ṽ</a:t>
            </a:r>
            <a:r>
              <a:rPr sz="1404" b="0" i="1" baseline="-20000">
                <a:solidFill>
                  <a:srgbClr val="263040"/>
                </a:solidFill>
                <a:latin typeface="Times New Roman"/>
              </a:rPr>
              <a:t>k</a:t>
            </a:r>
            <a:r>
              <a:rPr sz="1800" b="0" i="0">
                <a:solidFill>
                  <a:srgbClr val="263040"/>
                </a:solidFill>
                <a:latin typeface="Times New Roman"/>
              </a:rPr>
              <a:t xml:space="preserve"> = </a:t>
            </a:r>
            <a:r>
              <a:rPr sz="1800" b="0" i="1">
                <a:solidFill>
                  <a:srgbClr val="263040"/>
                </a:solidFill>
                <a:latin typeface="Times New Roman"/>
              </a:rPr>
              <a:t>m</a:t>
            </a:r>
            <a:r>
              <a:rPr sz="1404" b="0" i="1" baseline="-20000">
                <a:solidFill>
                  <a:srgbClr val="263040"/>
                </a:solidFill>
                <a:latin typeface="Times New Roman"/>
              </a:rPr>
              <a:t>k</a:t>
            </a:r>
            <a:r>
              <a:rPr sz="1800" b="0" i="0">
                <a:solidFill>
                  <a:srgbClr val="263040"/>
                </a:solidFill>
                <a:latin typeface="Times New Roman"/>
              </a:rPr>
              <a:t xml:space="preserve"> +</a:t>
            </a:r>
          </a:p>
        </p:txBody>
      </p:sp>
      <p:sp>
        <p:nvSpPr>
          <p:cNvPr id="217" name="199 Z{sub:k}"/>
          <p:cNvSpPr txBox="1"/>
          <p:nvPr/>
        </p:nvSpPr>
        <p:spPr>
          <a:xfrm>
            <a:off x="8613831" y="2432304"/>
            <a:ext cx="247123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3040"/>
                </a:solidFill>
                <a:latin typeface="Times New Roman"/>
              </a:rPr>
              <a:t>Z</a:t>
            </a:r>
            <a:r>
              <a:rPr sz="1248" b="0" i="1" baseline="-20000">
                <a:solidFill>
                  <a:srgbClr val="263040"/>
                </a:solidFill>
                <a:latin typeface="Times New Roman"/>
              </a:rPr>
              <a:t>k</a:t>
            </a:r>
          </a:p>
        </p:txBody>
      </p:sp>
      <p:sp>
        <p:nvSpPr>
          <p:cNvPr id="218" name="200 path"/>
          <p:cNvSpPr/>
          <p:nvPr/>
        </p:nvSpPr>
        <p:spPr>
          <a:xfrm>
            <a:off x="8622975" y="2697480"/>
            <a:ext cx="228835" cy="63"/>
          </a:xfrm>
          <a:custGeom>
            <a:avLst/>
            <a:gdLst/>
            <a:ahLst/>
            <a:cxnLst/>
            <a:rect l="l" t="t" r="r" b="b"/>
            <a:pathLst>
              <a:path w="35000" h="10" fill="none" stroke="1">
                <a:moveTo>
                  <a:pt x="0" y="0"/>
                </a:moveTo>
                <a:lnTo>
                  <a:pt x="35000" y="0"/>
                </a:lnTo>
              </a:path>
            </a:pathLst>
          </a:custGeom>
          <a:noFill/>
          <a:ln w="63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201 p{sub:k}"/>
          <p:cNvSpPr txBox="1"/>
          <p:nvPr/>
        </p:nvSpPr>
        <p:spPr>
          <a:xfrm>
            <a:off x="8613831" y="2715768"/>
            <a:ext cx="247123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3040"/>
                </a:solidFill>
                <a:latin typeface="Times New Roman"/>
              </a:rPr>
              <a:t>p</a:t>
            </a:r>
            <a:r>
              <a:rPr sz="1248" b="0" i="1" baseline="-20000">
                <a:solidFill>
                  <a:srgbClr val="263040"/>
                </a:solidFill>
                <a:latin typeface="Times New Roman"/>
              </a:rPr>
              <a:t>k</a:t>
            </a:r>
          </a:p>
        </p:txBody>
      </p:sp>
      <p:sp>
        <p:nvSpPr>
          <p:cNvPr id="220" name="202 (Ŷ{sub:k} − m{sub:k})"/>
          <p:cNvSpPr txBox="1"/>
          <p:nvPr/>
        </p:nvSpPr>
        <p:spPr>
          <a:xfrm>
            <a:off x="8897530" y="2563749"/>
            <a:ext cx="902588" cy="2674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63040"/>
                </a:solidFill>
                <a:latin typeface="Times New Roman"/>
              </a:rPr>
              <a:t>(</a:t>
            </a:r>
            <a:r>
              <a:rPr sz="1800" b="0" i="1">
                <a:solidFill>
                  <a:srgbClr val="263040"/>
                </a:solidFill>
                <a:latin typeface="Times New Roman"/>
              </a:rPr>
              <a:t>Ŷ</a:t>
            </a:r>
            <a:r>
              <a:rPr sz="1404" b="0" i="1" baseline="-20000">
                <a:solidFill>
                  <a:srgbClr val="263040"/>
                </a:solidFill>
                <a:latin typeface="Times New Roman"/>
              </a:rPr>
              <a:t>k</a:t>
            </a:r>
            <a:r>
              <a:rPr sz="1800" b="0" i="0">
                <a:solidFill>
                  <a:srgbClr val="263040"/>
                </a:solidFill>
                <a:latin typeface="Times New Roman"/>
              </a:rPr>
              <a:t xml:space="preserve"> − </a:t>
            </a:r>
            <a:r>
              <a:rPr sz="1800" b="0" i="1">
                <a:solidFill>
                  <a:srgbClr val="263040"/>
                </a:solidFill>
                <a:latin typeface="Times New Roman"/>
              </a:rPr>
              <a:t>m</a:t>
            </a:r>
            <a:r>
              <a:rPr sz="1404" b="0" i="1" baseline="-20000">
                <a:solidFill>
                  <a:srgbClr val="263040"/>
                </a:solidFill>
                <a:latin typeface="Times New Roman"/>
              </a:rPr>
              <a:t>k</a:t>
            </a:r>
            <a:r>
              <a:rPr sz="1800" b="0" i="0">
                <a:solidFill>
                  <a:srgbClr val="263040"/>
                </a:solidFill>
                <a:latin typeface="Times New Roman"/>
              </a:rPr>
              <a:t>)</a:t>
            </a:r>
          </a:p>
        </p:txBody>
      </p:sp>
      <p:sp>
        <p:nvSpPr>
          <p:cNvPr id="226" name="208 box"/>
          <p:cNvSpPr/>
          <p:nvPr/>
        </p:nvSpPr>
        <p:spPr>
          <a:xfrm>
            <a:off x="7132320" y="3639312"/>
            <a:ext cx="2761488" cy="475488"/>
          </a:xfrm>
          <a:prstGeom prst="roundRect">
            <a:avLst>
              <a:gd name="adj" fmla="val 20000"/>
            </a:avLst>
          </a:prstGeom>
          <a:gradFill rotWithShape="1">
            <a:gsLst>
              <a:gs pos="0">
                <a:srgbClr val="EDF4FD"/>
              </a:gs>
              <a:gs pos="100000">
                <a:srgbClr val="F7FAFF"/>
              </a:gs>
            </a:gsLst>
            <a:lin ang="5400000" scaled="1"/>
          </a:gradFill>
          <a:ln w="9525">
            <a:solidFill>
              <a:srgbClr val="8FB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211 Original&#10;tokens"/>
          <p:cNvSpPr txBox="1"/>
          <p:nvPr/>
        </p:nvSpPr>
        <p:spPr>
          <a:xfrm>
            <a:off x="10853800" y="868680"/>
            <a:ext cx="1271272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3040"/>
                </a:solidFill>
                <a:latin typeface="Times New Roman"/>
              </a:rPr>
              <a:t>Original tokens</a:t>
            </a:r>
          </a:p>
        </p:txBody>
      </p:sp>
      <p:sp>
        <p:nvSpPr>
          <p:cNvPr id="231" name="212 box"/>
          <p:cNvSpPr/>
          <p:nvPr/>
        </p:nvSpPr>
        <p:spPr>
          <a:xfrm>
            <a:off x="10209276" y="1124712"/>
            <a:ext cx="365760" cy="292608"/>
          </a:xfrm>
          <a:prstGeom prst="rect">
            <a:avLst/>
          </a:prstGeom>
          <a:gradFill rotWithShape="1">
            <a:gsLst>
              <a:gs pos="0">
                <a:srgbClr val="FFE3B9"/>
              </a:gs>
              <a:gs pos="100000">
                <a:srgbClr val="FFF0D8"/>
              </a:gs>
            </a:gsLst>
            <a:lin ang="5400000" scaled="1"/>
          </a:gradFill>
          <a:ln w="6985">
            <a:solidFill>
              <a:srgbClr val="A35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213 a{sub:1}"/>
          <p:cNvSpPr txBox="1"/>
          <p:nvPr/>
        </p:nvSpPr>
        <p:spPr>
          <a:xfrm>
            <a:off x="10209276" y="1152144"/>
            <a:ext cx="36576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3040"/>
                </a:solidFill>
                <a:latin typeface="Times New Roman"/>
              </a:rPr>
              <a:t>a</a:t>
            </a:r>
            <a:r>
              <a:rPr sz="1248" b="0" i="1" baseline="-20000">
                <a:solidFill>
                  <a:srgbClr val="263040"/>
                </a:solidFill>
                <a:latin typeface="Times New Roman"/>
              </a:rPr>
              <a:t>1</a:t>
            </a:r>
          </a:p>
        </p:txBody>
      </p:sp>
      <p:sp>
        <p:nvSpPr>
          <p:cNvPr id="233" name="214 box"/>
          <p:cNvSpPr/>
          <p:nvPr/>
        </p:nvSpPr>
        <p:spPr>
          <a:xfrm>
            <a:off x="10575036" y="1124712"/>
            <a:ext cx="365760" cy="292608"/>
          </a:xfrm>
          <a:prstGeom prst="rect">
            <a:avLst/>
          </a:prstGeom>
          <a:gradFill rotWithShape="1">
            <a:gsLst>
              <a:gs pos="0">
                <a:srgbClr val="FFE3B9"/>
              </a:gs>
              <a:gs pos="100000">
                <a:srgbClr val="FFF0D8"/>
              </a:gs>
            </a:gsLst>
            <a:lin ang="5400000" scaled="1"/>
          </a:gradFill>
          <a:ln w="6985">
            <a:solidFill>
              <a:srgbClr val="A35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215 a{sub:2}"/>
          <p:cNvSpPr txBox="1"/>
          <p:nvPr/>
        </p:nvSpPr>
        <p:spPr>
          <a:xfrm>
            <a:off x="10575036" y="1152144"/>
            <a:ext cx="36576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3040"/>
                </a:solidFill>
                <a:latin typeface="Times New Roman"/>
              </a:rPr>
              <a:t>a</a:t>
            </a:r>
            <a:r>
              <a:rPr sz="1248" b="0" i="1" baseline="-20000">
                <a:solidFill>
                  <a:srgbClr val="263040"/>
                </a:solidFill>
                <a:latin typeface="Times New Roman"/>
              </a:rPr>
              <a:t>2</a:t>
            </a:r>
          </a:p>
        </p:txBody>
      </p:sp>
      <p:sp>
        <p:nvSpPr>
          <p:cNvPr id="235" name="216 box"/>
          <p:cNvSpPr/>
          <p:nvPr/>
        </p:nvSpPr>
        <p:spPr>
          <a:xfrm>
            <a:off x="10940796" y="1124712"/>
            <a:ext cx="365760" cy="292608"/>
          </a:xfrm>
          <a:prstGeom prst="rect">
            <a:avLst/>
          </a:prstGeom>
          <a:gradFill rotWithShape="1">
            <a:gsLst>
              <a:gs pos="0">
                <a:srgbClr val="FFE3B9"/>
              </a:gs>
              <a:gs pos="100000">
                <a:srgbClr val="FFF0D8"/>
              </a:gs>
            </a:gsLst>
            <a:lin ang="5400000" scaled="1"/>
          </a:gradFill>
          <a:ln w="6985">
            <a:solidFill>
              <a:srgbClr val="A35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217 a{sub:3}"/>
          <p:cNvSpPr txBox="1"/>
          <p:nvPr/>
        </p:nvSpPr>
        <p:spPr>
          <a:xfrm>
            <a:off x="10940796" y="1152144"/>
            <a:ext cx="36576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3040"/>
                </a:solidFill>
                <a:latin typeface="Times New Roman"/>
              </a:rPr>
              <a:t>a</a:t>
            </a:r>
            <a:r>
              <a:rPr sz="1248" b="0" i="1" baseline="-20000">
                <a:solidFill>
                  <a:srgbClr val="263040"/>
                </a:solidFill>
                <a:latin typeface="Times New Roman"/>
              </a:rPr>
              <a:t>3</a:t>
            </a:r>
          </a:p>
        </p:txBody>
      </p:sp>
      <p:sp>
        <p:nvSpPr>
          <p:cNvPr id="237" name="218 box"/>
          <p:cNvSpPr/>
          <p:nvPr/>
        </p:nvSpPr>
        <p:spPr>
          <a:xfrm>
            <a:off x="11306556" y="1124712"/>
            <a:ext cx="365760" cy="292608"/>
          </a:xfrm>
          <a:prstGeom prst="rect">
            <a:avLst/>
          </a:prstGeom>
          <a:gradFill rotWithShape="1">
            <a:gsLst>
              <a:gs pos="0">
                <a:srgbClr val="FFE3B9"/>
              </a:gs>
              <a:gs pos="100000">
                <a:srgbClr val="FFF0D8"/>
              </a:gs>
            </a:gsLst>
            <a:lin ang="5400000" scaled="1"/>
          </a:gradFill>
          <a:ln w="6985">
            <a:solidFill>
              <a:srgbClr val="A35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219 a{sub:4}"/>
          <p:cNvSpPr txBox="1"/>
          <p:nvPr/>
        </p:nvSpPr>
        <p:spPr>
          <a:xfrm>
            <a:off x="11306556" y="1152144"/>
            <a:ext cx="36576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3040"/>
                </a:solidFill>
                <a:latin typeface="Times New Roman"/>
              </a:rPr>
              <a:t>a</a:t>
            </a:r>
            <a:r>
              <a:rPr sz="1248" b="0" i="1" baseline="-20000">
                <a:solidFill>
                  <a:srgbClr val="263040"/>
                </a:solidFill>
                <a:latin typeface="Times New Roman"/>
              </a:rPr>
              <a:t>4</a:t>
            </a:r>
          </a:p>
        </p:txBody>
      </p:sp>
      <p:sp>
        <p:nvSpPr>
          <p:cNvPr id="239" name="220 box"/>
          <p:cNvSpPr/>
          <p:nvPr/>
        </p:nvSpPr>
        <p:spPr>
          <a:xfrm>
            <a:off x="11672316" y="1124712"/>
            <a:ext cx="365760" cy="292608"/>
          </a:xfrm>
          <a:prstGeom prst="rect">
            <a:avLst/>
          </a:prstGeom>
          <a:gradFill rotWithShape="1">
            <a:gsLst>
              <a:gs pos="0">
                <a:srgbClr val="ED999B"/>
              </a:gs>
              <a:gs pos="100000">
                <a:srgbClr val="FBC6C0"/>
              </a:gs>
            </a:gsLst>
            <a:lin ang="5400000" scaled="1"/>
          </a:gradFill>
          <a:ln w="6985">
            <a:solidFill>
              <a:srgbClr val="A35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221 a{sub:5}"/>
          <p:cNvSpPr txBox="1"/>
          <p:nvPr/>
        </p:nvSpPr>
        <p:spPr>
          <a:xfrm>
            <a:off x="11672316" y="1152144"/>
            <a:ext cx="36576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3040"/>
                </a:solidFill>
                <a:latin typeface="Times New Roman"/>
              </a:rPr>
              <a:t>a</a:t>
            </a:r>
            <a:r>
              <a:rPr sz="1248" b="0" i="1" baseline="-20000">
                <a:solidFill>
                  <a:srgbClr val="263040"/>
                </a:solidFill>
                <a:latin typeface="Times New Roman"/>
              </a:rPr>
              <a:t>5</a:t>
            </a:r>
          </a:p>
        </p:txBody>
      </p:sp>
      <p:sp>
        <p:nvSpPr>
          <p:cNvPr id="241" name="222 box"/>
          <p:cNvSpPr/>
          <p:nvPr/>
        </p:nvSpPr>
        <p:spPr>
          <a:xfrm>
            <a:off x="12038076" y="1124712"/>
            <a:ext cx="365760" cy="292608"/>
          </a:xfrm>
          <a:prstGeom prst="rect">
            <a:avLst/>
          </a:prstGeom>
          <a:gradFill rotWithShape="1">
            <a:gsLst>
              <a:gs pos="0">
                <a:srgbClr val="FFE3B9"/>
              </a:gs>
              <a:gs pos="100000">
                <a:srgbClr val="FFF0D8"/>
              </a:gs>
            </a:gsLst>
            <a:lin ang="5400000" scaled="1"/>
          </a:gradFill>
          <a:ln w="6985">
            <a:solidFill>
              <a:srgbClr val="A35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223 a{sub:6}"/>
          <p:cNvSpPr txBox="1"/>
          <p:nvPr/>
        </p:nvSpPr>
        <p:spPr>
          <a:xfrm>
            <a:off x="12038076" y="1152144"/>
            <a:ext cx="36576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3040"/>
                </a:solidFill>
                <a:latin typeface="Times New Roman"/>
              </a:rPr>
              <a:t>a</a:t>
            </a:r>
            <a:r>
              <a:rPr sz="1248" b="0" i="1" baseline="-20000">
                <a:solidFill>
                  <a:srgbClr val="263040"/>
                </a:solidFill>
                <a:latin typeface="Times New Roman"/>
              </a:rPr>
              <a:t>6</a:t>
            </a:r>
          </a:p>
        </p:txBody>
      </p:sp>
      <p:sp>
        <p:nvSpPr>
          <p:cNvPr id="243" name="224 box"/>
          <p:cNvSpPr/>
          <p:nvPr/>
        </p:nvSpPr>
        <p:spPr>
          <a:xfrm>
            <a:off x="12403836" y="1124712"/>
            <a:ext cx="365760" cy="292608"/>
          </a:xfrm>
          <a:prstGeom prst="rect">
            <a:avLst/>
          </a:prstGeom>
          <a:gradFill rotWithShape="1">
            <a:gsLst>
              <a:gs pos="0">
                <a:srgbClr val="FFE3B9"/>
              </a:gs>
              <a:gs pos="100000">
                <a:srgbClr val="FFF0D8"/>
              </a:gs>
            </a:gsLst>
            <a:lin ang="5400000" scaled="1"/>
          </a:gradFill>
          <a:ln w="6985">
            <a:solidFill>
              <a:srgbClr val="A35B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225 a{sub:7}"/>
          <p:cNvSpPr txBox="1"/>
          <p:nvPr/>
        </p:nvSpPr>
        <p:spPr>
          <a:xfrm>
            <a:off x="12403836" y="1152144"/>
            <a:ext cx="365760" cy="2468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3040"/>
                </a:solidFill>
                <a:latin typeface="Times New Roman"/>
              </a:rPr>
              <a:t>a</a:t>
            </a:r>
            <a:r>
              <a:rPr sz="1248" b="0" i="1" baseline="-20000">
                <a:solidFill>
                  <a:srgbClr val="263040"/>
                </a:solidFill>
                <a:latin typeface="Times New Roman"/>
              </a:rPr>
              <a:t>7</a:t>
            </a:r>
          </a:p>
        </p:txBody>
      </p:sp>
      <p:sp>
        <p:nvSpPr>
          <p:cNvPr id="246" name="227 arrow curve"/>
          <p:cNvSpPr/>
          <p:nvPr/>
        </p:nvSpPr>
        <p:spPr>
          <a:xfrm>
            <a:off x="11853482" y="1435608"/>
            <a:ext cx="63" cy="420624"/>
          </a:xfrm>
          <a:custGeom>
            <a:avLst/>
            <a:gdLst/>
            <a:ahLst/>
            <a:cxnLst/>
            <a:rect l="l" t="t" r="r" b="b"/>
            <a:pathLst>
              <a:path w="10" h="50000" fill="none" stroke="1">
                <a:moveTo>
                  <a:pt x="0" y="0"/>
                </a:moveTo>
                <a:lnTo>
                  <a:pt x="0" y="50000"/>
                </a:lnTo>
              </a:path>
            </a:pathLst>
          </a:custGeom>
          <a:noFill/>
          <a:ln w="11430">
            <a:solidFill>
              <a:srgbClr val="B94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228 arrowhead"/>
          <p:cNvSpPr/>
          <p:nvPr/>
        </p:nvSpPr>
        <p:spPr>
          <a:xfrm>
            <a:off x="11804904" y="1766570"/>
            <a:ext cx="97155" cy="107950"/>
          </a:xfrm>
          <a:custGeom>
            <a:avLst/>
            <a:gdLst/>
            <a:ahLst/>
            <a:cxnLst/>
            <a:rect l="l" t="t" r="r" b="b"/>
            <a:pathLst>
              <a:path w="15300" h="17000" fill="norm" stroke="1">
                <a:moveTo>
                  <a:pt x="7650" y="17000"/>
                </a:moveTo>
                <a:lnTo>
                  <a:pt x="15300" y="0"/>
                </a:lnTo>
                <a:lnTo>
                  <a:pt x="0" y="0"/>
                </a:lnTo>
                <a:close/>
              </a:path>
            </a:pathLst>
          </a:custGeom>
          <a:solidFill>
            <a:srgbClr val="B94140"/>
          </a:solidFill>
          <a:ln w="3810">
            <a:solidFill>
              <a:srgbClr val="B941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229 box"/>
          <p:cNvSpPr/>
          <p:nvPr/>
        </p:nvSpPr>
        <p:spPr>
          <a:xfrm>
            <a:off x="10209276" y="1929384"/>
            <a:ext cx="365760" cy="164592"/>
          </a:xfrm>
          <a:prstGeom prst="rect">
            <a:avLst/>
          </a:prstGeom>
          <a:gradFill rotWithShape="1">
            <a:gsLst>
              <a:gs pos="0">
                <a:srgbClr val="BCD6F5"/>
              </a:gs>
              <a:gs pos="100000">
                <a:srgbClr val="DCEAFB"/>
              </a:gs>
            </a:gsLst>
            <a:lin ang="5400000" scaled="1"/>
          </a:gradFill>
          <a:ln w="7620">
            <a:solidFill>
              <a:srgbClr val="7A8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230 segment brace"/>
          <p:cNvSpPr/>
          <p:nvPr/>
        </p:nvSpPr>
        <p:spPr>
          <a:xfrm>
            <a:off x="10227564" y="2121408"/>
            <a:ext cx="329184" cy="73152"/>
          </a:xfrm>
          <a:custGeom>
            <a:avLst/>
            <a:gdLst/>
            <a:ahLst/>
            <a:cxnLst/>
            <a:rect l="l" t="t" r="r" b="b"/>
            <a:pathLst>
              <a:path w="58000" h="14000" fill="none" stroke="1">
                <a:moveTo>
                  <a:pt x="0" y="0"/>
                </a:moveTo>
                <a:quadBezTo>
                  <a:pt x="0" y="7000"/>
                  <a:pt x="7000" y="7000"/>
                </a:quadBezTo>
                <a:lnTo>
                  <a:pt x="24000" y="7000"/>
                </a:lnTo>
                <a:quadBezTo>
                  <a:pt x="28000" y="7000"/>
                  <a:pt x="29000" y="14000"/>
                </a:quadBezTo>
                <a:quadBezTo>
                  <a:pt x="30000" y="7000"/>
                  <a:pt x="35000" y="7000"/>
                </a:quadBezTo>
                <a:lnTo>
                  <a:pt x="52000" y="7000"/>
                </a:lnTo>
                <a:quadBezTo>
                  <a:pt x="58000" y="7000"/>
                  <a:pt x="58000" y="0"/>
                </a:quadBezTo>
              </a:path>
            </a:pathLst>
          </a:custGeom>
          <a:noFill/>
          <a:ln w="9525">
            <a:solidFill>
              <a:srgbClr val="9A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231 Â{sub:1}"/>
          <p:cNvSpPr txBox="1"/>
          <p:nvPr/>
        </p:nvSpPr>
        <p:spPr>
          <a:xfrm>
            <a:off x="10190988" y="2203704"/>
            <a:ext cx="40233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3040"/>
                </a:solidFill>
                <a:latin typeface="Times New Roman"/>
              </a:rPr>
              <a:t>Â</a:t>
            </a:r>
            <a:r>
              <a:rPr sz="1248" b="0" i="0" baseline="-20000">
                <a:solidFill>
                  <a:srgbClr val="263040"/>
                </a:solidFill>
                <a:latin typeface="Times New Roman"/>
              </a:rPr>
              <a:t>1</a:t>
            </a:r>
          </a:p>
        </p:txBody>
      </p:sp>
      <p:sp>
        <p:nvSpPr>
          <p:cNvPr id="251" name="232 box"/>
          <p:cNvSpPr/>
          <p:nvPr/>
        </p:nvSpPr>
        <p:spPr>
          <a:xfrm>
            <a:off x="10575036" y="1929384"/>
            <a:ext cx="365760" cy="164592"/>
          </a:xfrm>
          <a:prstGeom prst="rect">
            <a:avLst/>
          </a:prstGeom>
          <a:gradFill rotWithShape="1">
            <a:gsLst>
              <a:gs pos="0">
                <a:srgbClr val="BCD6F5"/>
              </a:gs>
              <a:gs pos="100000">
                <a:srgbClr val="DCEAFB"/>
              </a:gs>
            </a:gsLst>
            <a:lin ang="5400000" scaled="1"/>
          </a:gradFill>
          <a:ln w="7620">
            <a:solidFill>
              <a:srgbClr val="7A8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233 segment brace"/>
          <p:cNvSpPr/>
          <p:nvPr/>
        </p:nvSpPr>
        <p:spPr>
          <a:xfrm>
            <a:off x="10593324" y="2121408"/>
            <a:ext cx="329184" cy="73152"/>
          </a:xfrm>
          <a:custGeom>
            <a:avLst/>
            <a:gdLst/>
            <a:ahLst/>
            <a:cxnLst/>
            <a:rect l="l" t="t" r="r" b="b"/>
            <a:pathLst>
              <a:path w="58000" h="14000" fill="none" stroke="1">
                <a:moveTo>
                  <a:pt x="0" y="0"/>
                </a:moveTo>
                <a:quadBezTo>
                  <a:pt x="0" y="7000"/>
                  <a:pt x="7000" y="7000"/>
                </a:quadBezTo>
                <a:lnTo>
                  <a:pt x="24000" y="7000"/>
                </a:lnTo>
                <a:quadBezTo>
                  <a:pt x="28000" y="7000"/>
                  <a:pt x="29000" y="14000"/>
                </a:quadBezTo>
                <a:quadBezTo>
                  <a:pt x="30000" y="7000"/>
                  <a:pt x="35000" y="7000"/>
                </a:quadBezTo>
                <a:lnTo>
                  <a:pt x="52000" y="7000"/>
                </a:lnTo>
                <a:quadBezTo>
                  <a:pt x="58000" y="7000"/>
                  <a:pt x="58000" y="0"/>
                </a:quadBezTo>
              </a:path>
            </a:pathLst>
          </a:custGeom>
          <a:noFill/>
          <a:ln w="9525">
            <a:solidFill>
              <a:srgbClr val="9A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234 Â{sub:2}"/>
          <p:cNvSpPr txBox="1"/>
          <p:nvPr/>
        </p:nvSpPr>
        <p:spPr>
          <a:xfrm>
            <a:off x="10556748" y="2203704"/>
            <a:ext cx="40233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3040"/>
                </a:solidFill>
                <a:latin typeface="Times New Roman"/>
              </a:rPr>
              <a:t>Â</a:t>
            </a:r>
            <a:r>
              <a:rPr sz="1248" b="0" i="0" baseline="-20000">
                <a:solidFill>
                  <a:srgbClr val="263040"/>
                </a:solidFill>
                <a:latin typeface="Times New Roman"/>
              </a:rPr>
              <a:t>2</a:t>
            </a:r>
          </a:p>
        </p:txBody>
      </p:sp>
      <p:sp>
        <p:nvSpPr>
          <p:cNvPr id="254" name="235 box"/>
          <p:cNvSpPr/>
          <p:nvPr/>
        </p:nvSpPr>
        <p:spPr>
          <a:xfrm>
            <a:off x="10940796" y="1929384"/>
            <a:ext cx="365760" cy="164592"/>
          </a:xfrm>
          <a:prstGeom prst="rect">
            <a:avLst/>
          </a:prstGeom>
          <a:gradFill rotWithShape="1">
            <a:gsLst>
              <a:gs pos="0">
                <a:srgbClr val="BCD6F5"/>
              </a:gs>
              <a:gs pos="100000">
                <a:srgbClr val="DCEAFB"/>
              </a:gs>
            </a:gsLst>
            <a:lin ang="5400000" scaled="1"/>
          </a:gradFill>
          <a:ln w="7620">
            <a:solidFill>
              <a:srgbClr val="7A8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236 segment brace"/>
          <p:cNvSpPr/>
          <p:nvPr/>
        </p:nvSpPr>
        <p:spPr>
          <a:xfrm>
            <a:off x="10959084" y="2121408"/>
            <a:ext cx="329184" cy="73152"/>
          </a:xfrm>
          <a:custGeom>
            <a:avLst/>
            <a:gdLst/>
            <a:ahLst/>
            <a:cxnLst/>
            <a:rect l="l" t="t" r="r" b="b"/>
            <a:pathLst>
              <a:path w="58000" h="14000" fill="none" stroke="1">
                <a:moveTo>
                  <a:pt x="0" y="0"/>
                </a:moveTo>
                <a:quadBezTo>
                  <a:pt x="0" y="7000"/>
                  <a:pt x="7000" y="7000"/>
                </a:quadBezTo>
                <a:lnTo>
                  <a:pt x="24000" y="7000"/>
                </a:lnTo>
                <a:quadBezTo>
                  <a:pt x="28000" y="7000"/>
                  <a:pt x="29000" y="14000"/>
                </a:quadBezTo>
                <a:quadBezTo>
                  <a:pt x="30000" y="7000"/>
                  <a:pt x="35000" y="7000"/>
                </a:quadBezTo>
                <a:lnTo>
                  <a:pt x="52000" y="7000"/>
                </a:lnTo>
                <a:quadBezTo>
                  <a:pt x="58000" y="7000"/>
                  <a:pt x="58000" y="0"/>
                </a:quadBezTo>
              </a:path>
            </a:pathLst>
          </a:custGeom>
          <a:noFill/>
          <a:ln w="9525">
            <a:solidFill>
              <a:srgbClr val="9A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237 Â{sub:3}"/>
          <p:cNvSpPr txBox="1"/>
          <p:nvPr/>
        </p:nvSpPr>
        <p:spPr>
          <a:xfrm>
            <a:off x="10922508" y="2203704"/>
            <a:ext cx="40233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3040"/>
                </a:solidFill>
                <a:latin typeface="Times New Roman"/>
              </a:rPr>
              <a:t>Â</a:t>
            </a:r>
            <a:r>
              <a:rPr sz="1248" b="0" i="0" baseline="-20000">
                <a:solidFill>
                  <a:srgbClr val="263040"/>
                </a:solidFill>
                <a:latin typeface="Times New Roman"/>
              </a:rPr>
              <a:t>3</a:t>
            </a:r>
          </a:p>
        </p:txBody>
      </p:sp>
      <p:sp>
        <p:nvSpPr>
          <p:cNvPr id="257" name="238 box"/>
          <p:cNvSpPr/>
          <p:nvPr/>
        </p:nvSpPr>
        <p:spPr>
          <a:xfrm>
            <a:off x="11306556" y="1929384"/>
            <a:ext cx="365760" cy="164592"/>
          </a:xfrm>
          <a:prstGeom prst="rect">
            <a:avLst/>
          </a:prstGeom>
          <a:gradFill rotWithShape="1">
            <a:gsLst>
              <a:gs pos="0">
                <a:srgbClr val="F4C589"/>
              </a:gs>
              <a:gs pos="100000">
                <a:srgbClr val="FFE3B9"/>
              </a:gs>
            </a:gsLst>
            <a:lin ang="5400000" scaled="1"/>
          </a:gradFill>
          <a:ln w="7620">
            <a:solidFill>
              <a:srgbClr val="7A8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239 segment brace"/>
          <p:cNvSpPr/>
          <p:nvPr/>
        </p:nvSpPr>
        <p:spPr>
          <a:xfrm>
            <a:off x="11324844" y="2121408"/>
            <a:ext cx="329184" cy="73152"/>
          </a:xfrm>
          <a:custGeom>
            <a:avLst/>
            <a:gdLst/>
            <a:ahLst/>
            <a:cxnLst/>
            <a:rect l="l" t="t" r="r" b="b"/>
            <a:pathLst>
              <a:path w="58000" h="14000" fill="none" stroke="1">
                <a:moveTo>
                  <a:pt x="0" y="0"/>
                </a:moveTo>
                <a:quadBezTo>
                  <a:pt x="0" y="7000"/>
                  <a:pt x="7000" y="7000"/>
                </a:quadBezTo>
                <a:lnTo>
                  <a:pt x="24000" y="7000"/>
                </a:lnTo>
                <a:quadBezTo>
                  <a:pt x="28000" y="7000"/>
                  <a:pt x="29000" y="14000"/>
                </a:quadBezTo>
                <a:quadBezTo>
                  <a:pt x="30000" y="7000"/>
                  <a:pt x="35000" y="7000"/>
                </a:quadBezTo>
                <a:lnTo>
                  <a:pt x="52000" y="7000"/>
                </a:lnTo>
                <a:quadBezTo>
                  <a:pt x="58000" y="7000"/>
                  <a:pt x="58000" y="0"/>
                </a:quadBezTo>
              </a:path>
            </a:pathLst>
          </a:custGeom>
          <a:noFill/>
          <a:ln w="9525">
            <a:solidFill>
              <a:srgbClr val="9A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240 Â{sub:4}"/>
          <p:cNvSpPr txBox="1"/>
          <p:nvPr/>
        </p:nvSpPr>
        <p:spPr>
          <a:xfrm>
            <a:off x="11288268" y="2203704"/>
            <a:ext cx="40233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3040"/>
                </a:solidFill>
                <a:latin typeface="Times New Roman"/>
              </a:rPr>
              <a:t>Â</a:t>
            </a:r>
            <a:r>
              <a:rPr sz="1248" b="0" i="0" baseline="-20000">
                <a:solidFill>
                  <a:srgbClr val="263040"/>
                </a:solidFill>
                <a:latin typeface="Times New Roman"/>
              </a:rPr>
              <a:t>4</a:t>
            </a:r>
          </a:p>
        </p:txBody>
      </p:sp>
      <p:sp>
        <p:nvSpPr>
          <p:cNvPr id="260" name="241 box"/>
          <p:cNvSpPr/>
          <p:nvPr/>
        </p:nvSpPr>
        <p:spPr>
          <a:xfrm>
            <a:off x="11672316" y="1929384"/>
            <a:ext cx="365760" cy="164592"/>
          </a:xfrm>
          <a:prstGeom prst="rect">
            <a:avLst/>
          </a:prstGeom>
          <a:gradFill rotWithShape="1">
            <a:gsLst>
              <a:gs pos="0">
                <a:srgbClr val="EDA29C"/>
              </a:gs>
              <a:gs pos="100000">
                <a:srgbClr val="F8C7BD"/>
              </a:gs>
            </a:gsLst>
            <a:lin ang="5400000" scaled="1"/>
          </a:gradFill>
          <a:ln w="7620">
            <a:solidFill>
              <a:srgbClr val="7A8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242 segment brace"/>
          <p:cNvSpPr/>
          <p:nvPr/>
        </p:nvSpPr>
        <p:spPr>
          <a:xfrm>
            <a:off x="11690604" y="2121408"/>
            <a:ext cx="329184" cy="73152"/>
          </a:xfrm>
          <a:custGeom>
            <a:avLst/>
            <a:gdLst/>
            <a:ahLst/>
            <a:cxnLst/>
            <a:rect l="l" t="t" r="r" b="b"/>
            <a:pathLst>
              <a:path w="58000" h="14000" fill="none" stroke="1">
                <a:moveTo>
                  <a:pt x="0" y="0"/>
                </a:moveTo>
                <a:quadBezTo>
                  <a:pt x="0" y="7000"/>
                  <a:pt x="7000" y="7000"/>
                </a:quadBezTo>
                <a:lnTo>
                  <a:pt x="24000" y="7000"/>
                </a:lnTo>
                <a:quadBezTo>
                  <a:pt x="28000" y="7000"/>
                  <a:pt x="29000" y="14000"/>
                </a:quadBezTo>
                <a:quadBezTo>
                  <a:pt x="30000" y="7000"/>
                  <a:pt x="35000" y="7000"/>
                </a:quadBezTo>
                <a:lnTo>
                  <a:pt x="52000" y="7000"/>
                </a:lnTo>
                <a:quadBezTo>
                  <a:pt x="58000" y="7000"/>
                  <a:pt x="58000" y="0"/>
                </a:quadBezTo>
              </a:path>
            </a:pathLst>
          </a:custGeom>
          <a:noFill/>
          <a:ln w="9525">
            <a:solidFill>
              <a:srgbClr val="9A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243 Â{sub:5}"/>
          <p:cNvSpPr txBox="1"/>
          <p:nvPr/>
        </p:nvSpPr>
        <p:spPr>
          <a:xfrm>
            <a:off x="11654028" y="2203704"/>
            <a:ext cx="40233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3040"/>
                </a:solidFill>
                <a:latin typeface="Times New Roman"/>
              </a:rPr>
              <a:t>Â</a:t>
            </a:r>
            <a:r>
              <a:rPr sz="1248" b="0" i="0" baseline="-20000">
                <a:solidFill>
                  <a:srgbClr val="263040"/>
                </a:solidFill>
                <a:latin typeface="Times New Roman"/>
              </a:rPr>
              <a:t>5</a:t>
            </a:r>
          </a:p>
        </p:txBody>
      </p:sp>
      <p:sp>
        <p:nvSpPr>
          <p:cNvPr id="263" name="244 box"/>
          <p:cNvSpPr/>
          <p:nvPr/>
        </p:nvSpPr>
        <p:spPr>
          <a:xfrm>
            <a:off x="12038076" y="1929384"/>
            <a:ext cx="365760" cy="164592"/>
          </a:xfrm>
          <a:prstGeom prst="rect">
            <a:avLst/>
          </a:prstGeom>
          <a:gradFill rotWithShape="1">
            <a:gsLst>
              <a:gs pos="0">
                <a:srgbClr val="F4C589"/>
              </a:gs>
              <a:gs pos="100000">
                <a:srgbClr val="FFE3B9"/>
              </a:gs>
            </a:gsLst>
            <a:lin ang="5400000" scaled="1"/>
          </a:gradFill>
          <a:ln w="7620">
            <a:solidFill>
              <a:srgbClr val="7A8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245 segment brace"/>
          <p:cNvSpPr/>
          <p:nvPr/>
        </p:nvSpPr>
        <p:spPr>
          <a:xfrm>
            <a:off x="12056364" y="2121408"/>
            <a:ext cx="329184" cy="73152"/>
          </a:xfrm>
          <a:custGeom>
            <a:avLst/>
            <a:gdLst/>
            <a:ahLst/>
            <a:cxnLst/>
            <a:rect l="l" t="t" r="r" b="b"/>
            <a:pathLst>
              <a:path w="58000" h="14000" fill="none" stroke="1">
                <a:moveTo>
                  <a:pt x="0" y="0"/>
                </a:moveTo>
                <a:quadBezTo>
                  <a:pt x="0" y="7000"/>
                  <a:pt x="7000" y="7000"/>
                </a:quadBezTo>
                <a:lnTo>
                  <a:pt x="24000" y="7000"/>
                </a:lnTo>
                <a:quadBezTo>
                  <a:pt x="28000" y="7000"/>
                  <a:pt x="29000" y="14000"/>
                </a:quadBezTo>
                <a:quadBezTo>
                  <a:pt x="30000" y="7000"/>
                  <a:pt x="35000" y="7000"/>
                </a:quadBezTo>
                <a:lnTo>
                  <a:pt x="52000" y="7000"/>
                </a:lnTo>
                <a:quadBezTo>
                  <a:pt x="58000" y="7000"/>
                  <a:pt x="58000" y="0"/>
                </a:quadBezTo>
              </a:path>
            </a:pathLst>
          </a:custGeom>
          <a:noFill/>
          <a:ln w="9525">
            <a:solidFill>
              <a:srgbClr val="9A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246 Â{sub:6}"/>
          <p:cNvSpPr txBox="1"/>
          <p:nvPr/>
        </p:nvSpPr>
        <p:spPr>
          <a:xfrm>
            <a:off x="12019788" y="2203704"/>
            <a:ext cx="40233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3040"/>
                </a:solidFill>
                <a:latin typeface="Times New Roman"/>
              </a:rPr>
              <a:t>Â</a:t>
            </a:r>
            <a:r>
              <a:rPr sz="1248" b="0" i="0" baseline="-20000">
                <a:solidFill>
                  <a:srgbClr val="263040"/>
                </a:solidFill>
                <a:latin typeface="Times New Roman"/>
              </a:rPr>
              <a:t>6</a:t>
            </a:r>
          </a:p>
        </p:txBody>
      </p:sp>
      <p:sp>
        <p:nvSpPr>
          <p:cNvPr id="266" name="247 box"/>
          <p:cNvSpPr/>
          <p:nvPr/>
        </p:nvSpPr>
        <p:spPr>
          <a:xfrm>
            <a:off x="12403836" y="1929384"/>
            <a:ext cx="365760" cy="164592"/>
          </a:xfrm>
          <a:prstGeom prst="rect">
            <a:avLst/>
          </a:prstGeom>
          <a:gradFill rotWithShape="1">
            <a:gsLst>
              <a:gs pos="0">
                <a:srgbClr val="F4C589"/>
              </a:gs>
              <a:gs pos="100000">
                <a:srgbClr val="FFE3B9"/>
              </a:gs>
            </a:gsLst>
            <a:lin ang="5400000" scaled="1"/>
          </a:gradFill>
          <a:ln w="7620">
            <a:solidFill>
              <a:srgbClr val="7A8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248 segment brace"/>
          <p:cNvSpPr/>
          <p:nvPr/>
        </p:nvSpPr>
        <p:spPr>
          <a:xfrm>
            <a:off x="12422124" y="2121408"/>
            <a:ext cx="329184" cy="73152"/>
          </a:xfrm>
          <a:custGeom>
            <a:avLst/>
            <a:gdLst/>
            <a:ahLst/>
            <a:cxnLst/>
            <a:rect l="l" t="t" r="r" b="b"/>
            <a:pathLst>
              <a:path w="58000" h="14000" fill="none" stroke="1">
                <a:moveTo>
                  <a:pt x="0" y="0"/>
                </a:moveTo>
                <a:quadBezTo>
                  <a:pt x="0" y="7000"/>
                  <a:pt x="7000" y="7000"/>
                </a:quadBezTo>
                <a:lnTo>
                  <a:pt x="24000" y="7000"/>
                </a:lnTo>
                <a:quadBezTo>
                  <a:pt x="28000" y="7000"/>
                  <a:pt x="29000" y="14000"/>
                </a:quadBezTo>
                <a:quadBezTo>
                  <a:pt x="30000" y="7000"/>
                  <a:pt x="35000" y="7000"/>
                </a:quadBezTo>
                <a:lnTo>
                  <a:pt x="52000" y="7000"/>
                </a:lnTo>
                <a:quadBezTo>
                  <a:pt x="58000" y="7000"/>
                  <a:pt x="58000" y="0"/>
                </a:quadBezTo>
              </a:path>
            </a:pathLst>
          </a:custGeom>
          <a:noFill/>
          <a:ln w="9525">
            <a:solidFill>
              <a:srgbClr val="9AA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249 Â{sub:7}"/>
          <p:cNvSpPr txBox="1"/>
          <p:nvPr/>
        </p:nvSpPr>
        <p:spPr>
          <a:xfrm>
            <a:off x="12385548" y="2203704"/>
            <a:ext cx="402336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63040"/>
                </a:solidFill>
                <a:latin typeface="Times New Roman"/>
              </a:rPr>
              <a:t>Â</a:t>
            </a:r>
            <a:r>
              <a:rPr sz="1248" b="0" i="0" baseline="-20000">
                <a:solidFill>
                  <a:srgbClr val="263040"/>
                </a:solidFill>
                <a:latin typeface="Times New Roman"/>
              </a:rPr>
              <a:t>7</a:t>
            </a:r>
          </a:p>
        </p:txBody>
      </p:sp>
      <p:sp>
        <p:nvSpPr>
          <p:cNvPr id="269" name="250 path"/>
          <p:cNvSpPr/>
          <p:nvPr/>
        </p:nvSpPr>
        <p:spPr>
          <a:xfrm>
            <a:off x="11425428" y="2496312"/>
            <a:ext cx="128016" cy="274320"/>
          </a:xfrm>
          <a:custGeom>
            <a:avLst/>
            <a:gdLst/>
            <a:ahLst/>
            <a:cxnLst/>
            <a:rect l="l" t="t" r="r" b="b"/>
            <a:pathLst>
              <a:path w="19000" h="33000" fill="norm" stroke="1">
                <a:moveTo>
                  <a:pt x="5000" y="0"/>
                </a:moveTo>
                <a:lnTo>
                  <a:pt x="13000" y="0"/>
                </a:lnTo>
                <a:lnTo>
                  <a:pt x="13000" y="20000"/>
                </a:lnTo>
                <a:lnTo>
                  <a:pt x="19000" y="20000"/>
                </a:lnTo>
                <a:lnTo>
                  <a:pt x="9000" y="33000"/>
                </a:lnTo>
                <a:lnTo>
                  <a:pt x="0" y="20000"/>
                </a:lnTo>
                <a:lnTo>
                  <a:pt x="5000" y="20000"/>
                </a:lnTo>
                <a:close/>
              </a:path>
            </a:pathLst>
          </a:custGeom>
          <a:solidFill>
            <a:srgbClr val="BCD6F5"/>
          </a:solidFill>
          <a:ln w="8890">
            <a:solidFill>
              <a:srgbClr val="6F9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251 box"/>
          <p:cNvSpPr/>
          <p:nvPr/>
        </p:nvSpPr>
        <p:spPr>
          <a:xfrm>
            <a:off x="10209276" y="2825496"/>
            <a:ext cx="2560320" cy="585216"/>
          </a:xfrm>
          <a:prstGeom prst="roundRect">
            <a:avLst>
              <a:gd name="adj" fmla="val 13043"/>
            </a:avLst>
          </a:prstGeom>
          <a:solidFill>
            <a:srgbClr val="FEF3EA"/>
          </a:solidFill>
          <a:ln w="8890">
            <a:solidFill>
              <a:srgbClr val="E3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253 path"/>
          <p:cNvSpPr/>
          <p:nvPr/>
        </p:nvSpPr>
        <p:spPr>
          <a:xfrm>
            <a:off x="12279478" y="3044952"/>
            <a:ext cx="40" cy="301752"/>
          </a:xfrm>
          <a:custGeom>
            <a:avLst/>
            <a:gdLst/>
            <a:ahLst/>
            <a:cxnLst/>
            <a:rect l="l" t="t" r="r" b="b"/>
            <a:pathLst>
              <a:path w="10" h="75000" fill="none" stroke="1">
                <a:moveTo>
                  <a:pt x="0" y="7500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254 path"/>
          <p:cNvSpPr/>
          <p:nvPr/>
        </p:nvSpPr>
        <p:spPr>
          <a:xfrm>
            <a:off x="12255337" y="3338657"/>
            <a:ext cx="386243" cy="40"/>
          </a:xfrm>
          <a:custGeom>
            <a:avLst/>
            <a:gdLst/>
            <a:ahLst/>
            <a:cxnLst/>
            <a:rect l="l" t="t" r="r" b="b"/>
            <a:pathLst>
              <a:path w="96000" h="10" fill="none" stroke="1">
                <a:moveTo>
                  <a:pt x="0" y="0"/>
                </a:moveTo>
                <a:lnTo>
                  <a:pt x="96000" y="0"/>
                </a:lnTo>
              </a:path>
            </a:pathLst>
          </a:custGeom>
          <a:noFill/>
          <a:ln w="889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255 path"/>
          <p:cNvSpPr/>
          <p:nvPr/>
        </p:nvSpPr>
        <p:spPr>
          <a:xfrm>
            <a:off x="12367992" y="3097256"/>
            <a:ext cx="40" cy="233355"/>
          </a:xfrm>
          <a:custGeom>
            <a:avLst/>
            <a:gdLst/>
            <a:ahLst/>
            <a:cxnLst/>
            <a:rect l="l" t="t" r="r" b="b"/>
            <a:pathLst>
              <a:path w="10" h="58000" fill="none" stroke="1">
                <a:moveTo>
                  <a:pt x="0" y="0"/>
                </a:moveTo>
                <a:lnTo>
                  <a:pt x="0" y="58000"/>
                </a:lnTo>
              </a:path>
            </a:pathLst>
          </a:custGeom>
          <a:noFill/>
          <a:ln w="6350">
            <a:solidFill>
              <a:srgbClr val="77777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256 path"/>
          <p:cNvSpPr/>
          <p:nvPr/>
        </p:nvSpPr>
        <p:spPr>
          <a:xfrm>
            <a:off x="12452482" y="3097256"/>
            <a:ext cx="40" cy="233355"/>
          </a:xfrm>
          <a:custGeom>
            <a:avLst/>
            <a:gdLst/>
            <a:ahLst/>
            <a:cxnLst/>
            <a:rect l="l" t="t" r="r" b="b"/>
            <a:pathLst>
              <a:path w="10" h="58000" fill="none" stroke="1">
                <a:moveTo>
                  <a:pt x="0" y="0"/>
                </a:moveTo>
                <a:lnTo>
                  <a:pt x="0" y="58000"/>
                </a:lnTo>
              </a:path>
            </a:pathLst>
          </a:custGeom>
          <a:noFill/>
          <a:ln w="6350">
            <a:solidFill>
              <a:srgbClr val="77777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257 path"/>
          <p:cNvSpPr/>
          <p:nvPr/>
        </p:nvSpPr>
        <p:spPr>
          <a:xfrm>
            <a:off x="12597323" y="3097256"/>
            <a:ext cx="40" cy="233355"/>
          </a:xfrm>
          <a:custGeom>
            <a:avLst/>
            <a:gdLst/>
            <a:ahLst/>
            <a:cxnLst/>
            <a:rect l="l" t="t" r="r" b="b"/>
            <a:pathLst>
              <a:path w="10" h="58000" fill="none" stroke="1">
                <a:moveTo>
                  <a:pt x="0" y="0"/>
                </a:moveTo>
                <a:lnTo>
                  <a:pt x="0" y="58000"/>
                </a:lnTo>
              </a:path>
            </a:pathLst>
          </a:custGeom>
          <a:noFill/>
          <a:ln w="6350">
            <a:solidFill>
              <a:srgbClr val="77777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258 clip"/>
          <p:cNvSpPr txBox="1"/>
          <p:nvPr/>
        </p:nvSpPr>
        <p:spPr>
          <a:xfrm>
            <a:off x="12219859" y="2852928"/>
            <a:ext cx="45720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263040"/>
                </a:solidFill>
                <a:latin typeface="Times New Roman"/>
              </a:rPr>
              <a:t>clip</a:t>
            </a:r>
          </a:p>
        </p:txBody>
      </p:sp>
      <p:sp>
        <p:nvSpPr>
          <p:cNvPr id="278" name="259 path"/>
          <p:cNvSpPr/>
          <p:nvPr/>
        </p:nvSpPr>
        <p:spPr>
          <a:xfrm>
            <a:off x="12283501" y="3141513"/>
            <a:ext cx="317845" cy="164958"/>
          </a:xfrm>
          <a:custGeom>
            <a:avLst/>
            <a:gdLst/>
            <a:ahLst/>
            <a:cxnLst/>
            <a:rect l="l" t="t" r="r" b="b"/>
            <a:pathLst>
              <a:path w="79000" h="41000" fill="none" stroke="1">
                <a:moveTo>
                  <a:pt x="0" y="38000"/>
                </a:moveTo>
                <a:cubicBezTo>
                  <a:pt x="23000" y="41000"/>
                  <a:pt x="28000" y="13000"/>
                  <a:pt x="47000" y="3000"/>
                </a:cubicBezTo>
                <a:cubicBezTo>
                  <a:pt x="54000" y="0"/>
                  <a:pt x="66000" y="1000"/>
                  <a:pt x="79000" y="1000"/>
                </a:cubicBezTo>
              </a:path>
            </a:pathLst>
          </a:custGeom>
          <a:noFill/>
          <a:ln w="9525">
            <a:solidFill>
              <a:srgbClr val="1717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260 path"/>
          <p:cNvSpPr/>
          <p:nvPr/>
        </p:nvSpPr>
        <p:spPr>
          <a:xfrm>
            <a:off x="12283501" y="3129443"/>
            <a:ext cx="313822" cy="168981"/>
          </a:xfrm>
          <a:custGeom>
            <a:avLst/>
            <a:gdLst/>
            <a:ahLst/>
            <a:cxnLst/>
            <a:rect l="l" t="t" r="r" b="b"/>
            <a:pathLst>
              <a:path w="78000" h="42000" fill="none" stroke="1">
                <a:moveTo>
                  <a:pt x="0" y="42000"/>
                </a:moveTo>
                <a:cubicBezTo>
                  <a:pt x="21000" y="42000"/>
                  <a:pt x="26000" y="15000"/>
                  <a:pt x="46000" y="3000"/>
                </a:cubicBezTo>
                <a:lnTo>
                  <a:pt x="78000" y="0"/>
                </a:lnTo>
              </a:path>
            </a:pathLst>
          </a:custGeom>
          <a:noFill/>
          <a:ln w="12700">
            <a:solidFill>
              <a:srgbClr val="E3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261 path"/>
          <p:cNvSpPr/>
          <p:nvPr/>
        </p:nvSpPr>
        <p:spPr>
          <a:xfrm>
            <a:off x="11430000" y="3429000"/>
            <a:ext cx="128016" cy="182880"/>
          </a:xfrm>
          <a:custGeom>
            <a:avLst/>
            <a:gdLst/>
            <a:ahLst/>
            <a:cxnLst/>
            <a:rect l="l" t="t" r="r" b="b"/>
            <a:pathLst>
              <a:path w="19000" h="37000" fill="norm" stroke="1">
                <a:moveTo>
                  <a:pt x="5000" y="0"/>
                </a:moveTo>
                <a:lnTo>
                  <a:pt x="13000" y="0"/>
                </a:lnTo>
                <a:lnTo>
                  <a:pt x="13000" y="23000"/>
                </a:lnTo>
                <a:lnTo>
                  <a:pt x="19000" y="23000"/>
                </a:lnTo>
                <a:lnTo>
                  <a:pt x="9000" y="37000"/>
                </a:lnTo>
                <a:lnTo>
                  <a:pt x="0" y="23000"/>
                </a:lnTo>
                <a:lnTo>
                  <a:pt x="5000" y="23000"/>
                </a:lnTo>
                <a:close/>
              </a:path>
            </a:pathLst>
          </a:custGeom>
          <a:solidFill>
            <a:srgbClr val="BCD6F5"/>
          </a:solidFill>
          <a:ln w="8890">
            <a:solidFill>
              <a:srgbClr val="6F9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262 box"/>
          <p:cNvSpPr/>
          <p:nvPr/>
        </p:nvSpPr>
        <p:spPr>
          <a:xfrm>
            <a:off x="10575036" y="3630168"/>
            <a:ext cx="1828800" cy="384048"/>
          </a:xfrm>
          <a:prstGeom prst="roundRect">
            <a:avLst>
              <a:gd name="adj" fmla="val 24444"/>
            </a:avLst>
          </a:prstGeom>
          <a:solidFill>
            <a:srgbClr val="FEF3EA"/>
          </a:solidFill>
          <a:ln w="8255">
            <a:solidFill>
              <a:srgbClr val="E3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ibbon: prefixes to predictor"/>
          <p:cNvSpPr/>
          <p:nvPr/>
        </p:nvSpPr>
        <p:spPr>
          <a:xfrm>
            <a:off x="3319272" y="778881"/>
            <a:ext cx="786411" cy="420623"/>
          </a:xfrm>
          <a:custGeom>
            <a:avLst/>
            <a:gdLst/>
            <a:ahLst/>
            <a:cxnLst/>
            <a:rect l="l" t="t" r="r" b="b"/>
            <a:pathLst>
              <a:path w="786411" h="420623" fill="norm">
                <a:moveTo>
                  <a:pt x="749781" y="301298"/>
                </a:moveTo>
                <a:lnTo>
                  <a:pt x="736268" y="309651"/>
                </a:lnTo>
                <a:lnTo>
                  <a:pt x="723699" y="316524"/>
                </a:lnTo>
                <a:lnTo>
                  <a:pt x="711457" y="322404"/>
                </a:lnTo>
                <a:lnTo>
                  <a:pt x="699535" y="327340"/>
                </a:lnTo>
                <a:lnTo>
                  <a:pt x="687924" y="331382"/>
                </a:lnTo>
                <a:lnTo>
                  <a:pt x="676607" y="334581"/>
                </a:lnTo>
                <a:lnTo>
                  <a:pt x="665560" y="336988"/>
                </a:lnTo>
                <a:lnTo>
                  <a:pt x="654754" y="338650"/>
                </a:lnTo>
                <a:lnTo>
                  <a:pt x="644155" y="339611"/>
                </a:lnTo>
                <a:lnTo>
                  <a:pt x="633725" y="339908"/>
                </a:lnTo>
                <a:lnTo>
                  <a:pt x="623424" y="339573"/>
                </a:lnTo>
                <a:lnTo>
                  <a:pt x="613214" y="338631"/>
                </a:lnTo>
                <a:lnTo>
                  <a:pt x="603059" y="337100"/>
                </a:lnTo>
                <a:lnTo>
                  <a:pt x="592927" y="334997"/>
                </a:lnTo>
                <a:lnTo>
                  <a:pt x="582790" y="332333"/>
                </a:lnTo>
                <a:lnTo>
                  <a:pt x="572628" y="329116"/>
                </a:lnTo>
                <a:lnTo>
                  <a:pt x="562423" y="325358"/>
                </a:lnTo>
                <a:lnTo>
                  <a:pt x="552164" y="321067"/>
                </a:lnTo>
                <a:lnTo>
                  <a:pt x="541843" y="316256"/>
                </a:lnTo>
                <a:lnTo>
                  <a:pt x="531455" y="310936"/>
                </a:lnTo>
                <a:lnTo>
                  <a:pt x="520995" y="305124"/>
                </a:lnTo>
                <a:lnTo>
                  <a:pt x="510464" y="298836"/>
                </a:lnTo>
                <a:lnTo>
                  <a:pt x="499861" y="292090"/>
                </a:lnTo>
                <a:lnTo>
                  <a:pt x="489185" y="284908"/>
                </a:lnTo>
                <a:lnTo>
                  <a:pt x="478436" y="277311"/>
                </a:lnTo>
                <a:lnTo>
                  <a:pt x="467614" y="269322"/>
                </a:lnTo>
                <a:lnTo>
                  <a:pt x="456719" y="260965"/>
                </a:lnTo>
                <a:lnTo>
                  <a:pt x="445748" y="252265"/>
                </a:lnTo>
                <a:lnTo>
                  <a:pt x="434701" y="243247"/>
                </a:lnTo>
                <a:lnTo>
                  <a:pt x="423576" y="233938"/>
                </a:lnTo>
                <a:lnTo>
                  <a:pt x="412368" y="224364"/>
                </a:lnTo>
                <a:lnTo>
                  <a:pt x="401075" y="214550"/>
                </a:lnTo>
                <a:lnTo>
                  <a:pt x="389692" y="204525"/>
                </a:lnTo>
                <a:lnTo>
                  <a:pt x="378215" y="194315"/>
                </a:lnTo>
                <a:lnTo>
                  <a:pt x="366637" y="183946"/>
                </a:lnTo>
                <a:lnTo>
                  <a:pt x="354953" y="173447"/>
                </a:lnTo>
                <a:lnTo>
                  <a:pt x="343155" y="162844"/>
                </a:lnTo>
                <a:lnTo>
                  <a:pt x="331236" y="152165"/>
                </a:lnTo>
                <a:lnTo>
                  <a:pt x="319188" y="141436"/>
                </a:lnTo>
                <a:lnTo>
                  <a:pt x="307002" y="130685"/>
                </a:lnTo>
                <a:lnTo>
                  <a:pt x="294668" y="119939"/>
                </a:lnTo>
                <a:lnTo>
                  <a:pt x="282176" y="109226"/>
                </a:lnTo>
                <a:lnTo>
                  <a:pt x="269515" y="98574"/>
                </a:lnTo>
                <a:lnTo>
                  <a:pt x="256672" y="88009"/>
                </a:lnTo>
                <a:lnTo>
                  <a:pt x="243636" y="77562"/>
                </a:lnTo>
                <a:lnTo>
                  <a:pt x="230392" y="67260"/>
                </a:lnTo>
                <a:lnTo>
                  <a:pt x="216926" y="57133"/>
                </a:lnTo>
                <a:lnTo>
                  <a:pt x="254860" y="0"/>
                </a:lnTo>
                <a:lnTo>
                  <a:pt x="0" y="34935"/>
                </a:lnTo>
                <a:lnTo>
                  <a:pt x="103123" y="228533"/>
                </a:lnTo>
                <a:lnTo>
                  <a:pt x="141057" y="171399"/>
                </a:lnTo>
                <a:lnTo>
                  <a:pt x="153571" y="178854"/>
                </a:lnTo>
                <a:lnTo>
                  <a:pt x="166130" y="186617"/>
                </a:lnTo>
                <a:lnTo>
                  <a:pt x="178729" y="194662"/>
                </a:lnTo>
                <a:lnTo>
                  <a:pt x="191363" y="202959"/>
                </a:lnTo>
                <a:lnTo>
                  <a:pt x="204029" y="211481"/>
                </a:lnTo>
                <a:lnTo>
                  <a:pt x="216724" y="220199"/>
                </a:lnTo>
                <a:lnTo>
                  <a:pt x="229446" y="229083"/>
                </a:lnTo>
                <a:lnTo>
                  <a:pt x="242194" y="238104"/>
                </a:lnTo>
                <a:lnTo>
                  <a:pt x="254967" y="247232"/>
                </a:lnTo>
                <a:lnTo>
                  <a:pt x="267767" y="256439"/>
                </a:lnTo>
                <a:lnTo>
                  <a:pt x="280592" y="265693"/>
                </a:lnTo>
                <a:lnTo>
                  <a:pt x="293446" y="274966"/>
                </a:lnTo>
                <a:lnTo>
                  <a:pt x="306330" y="284228"/>
                </a:lnTo>
                <a:lnTo>
                  <a:pt x="319247" y="293448"/>
                </a:lnTo>
                <a:lnTo>
                  <a:pt x="332201" y="302598"/>
                </a:lnTo>
                <a:lnTo>
                  <a:pt x="345196" y="311646"/>
                </a:lnTo>
                <a:lnTo>
                  <a:pt x="358236" y="320563"/>
                </a:lnTo>
                <a:lnTo>
                  <a:pt x="371328" y="329319"/>
                </a:lnTo>
                <a:lnTo>
                  <a:pt x="384478" y="337883"/>
                </a:lnTo>
                <a:lnTo>
                  <a:pt x="397692" y="346224"/>
                </a:lnTo>
                <a:lnTo>
                  <a:pt x="410978" y="354311"/>
                </a:lnTo>
                <a:lnTo>
                  <a:pt x="424343" y="362111"/>
                </a:lnTo>
                <a:lnTo>
                  <a:pt x="437797" y="369592"/>
                </a:lnTo>
                <a:lnTo>
                  <a:pt x="451348" y="376720"/>
                </a:lnTo>
                <a:lnTo>
                  <a:pt x="465005" y="383459"/>
                </a:lnTo>
                <a:lnTo>
                  <a:pt x="478778" y="389774"/>
                </a:lnTo>
                <a:lnTo>
                  <a:pt x="492673" y="395626"/>
                </a:lnTo>
                <a:lnTo>
                  <a:pt x="506701" y="400976"/>
                </a:lnTo>
                <a:lnTo>
                  <a:pt x="520866" y="405780"/>
                </a:lnTo>
                <a:lnTo>
                  <a:pt x="535172" y="409996"/>
                </a:lnTo>
                <a:lnTo>
                  <a:pt x="549621" y="413578"/>
                </a:lnTo>
                <a:lnTo>
                  <a:pt x="564210" y="416479"/>
                </a:lnTo>
                <a:lnTo>
                  <a:pt x="578932" y="418651"/>
                </a:lnTo>
                <a:lnTo>
                  <a:pt x="593773" y="420047"/>
                </a:lnTo>
                <a:lnTo>
                  <a:pt x="608717" y="420623"/>
                </a:lnTo>
                <a:lnTo>
                  <a:pt x="623740" y="420336"/>
                </a:lnTo>
                <a:lnTo>
                  <a:pt x="638815" y="419148"/>
                </a:lnTo>
                <a:lnTo>
                  <a:pt x="653914" y="417027"/>
                </a:lnTo>
                <a:lnTo>
                  <a:pt x="669005" y="413949"/>
                </a:lnTo>
                <a:lnTo>
                  <a:pt x="684060" y="409894"/>
                </a:lnTo>
                <a:lnTo>
                  <a:pt x="699053" y="404848"/>
                </a:lnTo>
                <a:lnTo>
                  <a:pt x="713965" y="398803"/>
                </a:lnTo>
                <a:lnTo>
                  <a:pt x="728782" y="391751"/>
                </a:lnTo>
                <a:lnTo>
                  <a:pt x="743495" y="383686"/>
                </a:lnTo>
                <a:lnTo>
                  <a:pt x="758104" y="374603"/>
                </a:lnTo>
                <a:lnTo>
                  <a:pt x="772612" y="364494"/>
                </a:lnTo>
                <a:lnTo>
                  <a:pt x="786411" y="353788"/>
                </a:lnTo>
                <a:close/>
              </a:path>
            </a:pathLst>
          </a:custGeom>
          <a:solidFill>
            <a:srgbClr val="DCEAFB"/>
          </a:solidFill>
          <a:ln w="9525" cap="rnd">
            <a:solidFill>
              <a:srgbClr val="6F9BD8"/>
            </a:solidFill>
            <a:round/>
          </a:ln>
        </p:spPr>
      </p:sp>
      <p:sp>
        <p:nvSpPr>
          <p:cNvPr id="297" name="ribbon: reward to rectifier"/>
          <p:cNvSpPr/>
          <p:nvPr/>
        </p:nvSpPr>
        <p:spPr>
          <a:xfrm>
            <a:off x="8203342" y="1080198"/>
            <a:ext cx="1196690" cy="580371"/>
          </a:xfrm>
          <a:custGeom>
            <a:avLst/>
            <a:gdLst/>
            <a:ahLst/>
            <a:cxnLst/>
            <a:rect l="l" t="t" r="r" b="b"/>
            <a:pathLst>
              <a:path w="1196690" h="580371" fill="norm">
                <a:moveTo>
                  <a:pt x="0" y="15876"/>
                </a:moveTo>
                <a:lnTo>
                  <a:pt x="5126" y="33930"/>
                </a:lnTo>
                <a:lnTo>
                  <a:pt x="11803" y="52225"/>
                </a:lnTo>
                <a:lnTo>
                  <a:pt x="19717" y="69782"/>
                </a:lnTo>
                <a:lnTo>
                  <a:pt x="28819" y="86594"/>
                </a:lnTo>
                <a:lnTo>
                  <a:pt x="39051" y="102656"/>
                </a:lnTo>
                <a:lnTo>
                  <a:pt x="50355" y="117972"/>
                </a:lnTo>
                <a:lnTo>
                  <a:pt x="62668" y="132554"/>
                </a:lnTo>
                <a:lnTo>
                  <a:pt x="75932" y="146422"/>
                </a:lnTo>
                <a:lnTo>
                  <a:pt x="90089" y="159602"/>
                </a:lnTo>
                <a:lnTo>
                  <a:pt x="105087" y="172124"/>
                </a:lnTo>
                <a:lnTo>
                  <a:pt x="120877" y="184022"/>
                </a:lnTo>
                <a:lnTo>
                  <a:pt x="137414" y="195332"/>
                </a:lnTo>
                <a:lnTo>
                  <a:pt x="154658" y="206091"/>
                </a:lnTo>
                <a:lnTo>
                  <a:pt x="172570" y="216335"/>
                </a:lnTo>
                <a:lnTo>
                  <a:pt x="191116" y="226099"/>
                </a:lnTo>
                <a:lnTo>
                  <a:pt x="210260" y="235417"/>
                </a:lnTo>
                <a:lnTo>
                  <a:pt x="229972" y="244324"/>
                </a:lnTo>
                <a:lnTo>
                  <a:pt x="250219" y="252853"/>
                </a:lnTo>
                <a:lnTo>
                  <a:pt x="270970" y="261033"/>
                </a:lnTo>
                <a:lnTo>
                  <a:pt x="292195" y="268896"/>
                </a:lnTo>
                <a:lnTo>
                  <a:pt x="313862" y="276472"/>
                </a:lnTo>
                <a:lnTo>
                  <a:pt x="335941" y="283789"/>
                </a:lnTo>
                <a:lnTo>
                  <a:pt x="358402" y="290875"/>
                </a:lnTo>
                <a:lnTo>
                  <a:pt x="381213" y="297757"/>
                </a:lnTo>
                <a:lnTo>
                  <a:pt x="404344" y="304463"/>
                </a:lnTo>
                <a:lnTo>
                  <a:pt x="427762" y="311018"/>
                </a:lnTo>
                <a:lnTo>
                  <a:pt x="451437" y="317450"/>
                </a:lnTo>
                <a:lnTo>
                  <a:pt x="475337" y="323782"/>
                </a:lnTo>
                <a:lnTo>
                  <a:pt x="499428" y="330042"/>
                </a:lnTo>
                <a:lnTo>
                  <a:pt x="523680" y="336253"/>
                </a:lnTo>
                <a:lnTo>
                  <a:pt x="548060" y="342441"/>
                </a:lnTo>
                <a:lnTo>
                  <a:pt x="572533" y="348631"/>
                </a:lnTo>
                <a:lnTo>
                  <a:pt x="597069" y="354845"/>
                </a:lnTo>
                <a:lnTo>
                  <a:pt x="621632" y="361108"/>
                </a:lnTo>
                <a:lnTo>
                  <a:pt x="646190" y="367445"/>
                </a:lnTo>
                <a:lnTo>
                  <a:pt x="670708" y="373878"/>
                </a:lnTo>
                <a:lnTo>
                  <a:pt x="695153" y="380431"/>
                </a:lnTo>
                <a:lnTo>
                  <a:pt x="719490" y="387126"/>
                </a:lnTo>
                <a:lnTo>
                  <a:pt x="743684" y="393986"/>
                </a:lnTo>
                <a:lnTo>
                  <a:pt x="767701" y="401034"/>
                </a:lnTo>
                <a:lnTo>
                  <a:pt x="791506" y="408290"/>
                </a:lnTo>
                <a:lnTo>
                  <a:pt x="815063" y="415777"/>
                </a:lnTo>
                <a:lnTo>
                  <a:pt x="838338" y="423516"/>
                </a:lnTo>
                <a:lnTo>
                  <a:pt x="861294" y="431526"/>
                </a:lnTo>
                <a:lnTo>
                  <a:pt x="883896" y="439827"/>
                </a:lnTo>
                <a:lnTo>
                  <a:pt x="906109" y="448439"/>
                </a:lnTo>
                <a:lnTo>
                  <a:pt x="927898" y="457380"/>
                </a:lnTo>
                <a:lnTo>
                  <a:pt x="949226" y="466667"/>
                </a:lnTo>
                <a:lnTo>
                  <a:pt x="970060" y="476317"/>
                </a:lnTo>
                <a:lnTo>
                  <a:pt x="990365" y="486346"/>
                </a:lnTo>
                <a:lnTo>
                  <a:pt x="1010108" y="496769"/>
                </a:lnTo>
                <a:lnTo>
                  <a:pt x="1029256" y="507601"/>
                </a:lnTo>
                <a:lnTo>
                  <a:pt x="1047778" y="518855"/>
                </a:lnTo>
                <a:lnTo>
                  <a:pt x="1065644" y="530543"/>
                </a:lnTo>
                <a:lnTo>
                  <a:pt x="1033242" y="580371"/>
                </a:lnTo>
                <a:lnTo>
                  <a:pt x="1196690" y="574866"/>
                </a:lnTo>
                <a:lnTo>
                  <a:pt x="1152881" y="396393"/>
                </a:lnTo>
                <a:lnTo>
                  <a:pt x="1120479" y="446221"/>
                </a:lnTo>
                <a:lnTo>
                  <a:pt x="1099233" y="433447"/>
                </a:lnTo>
                <a:lnTo>
                  <a:pt x="1077510" y="421353"/>
                </a:lnTo>
                <a:lnTo>
                  <a:pt x="1055344" y="409901"/>
                </a:lnTo>
                <a:lnTo>
                  <a:pt x="1032768" y="399057"/>
                </a:lnTo>
                <a:lnTo>
                  <a:pt x="1009815" y="388783"/>
                </a:lnTo>
                <a:lnTo>
                  <a:pt x="986516" y="379046"/>
                </a:lnTo>
                <a:lnTo>
                  <a:pt x="962900" y="369811"/>
                </a:lnTo>
                <a:lnTo>
                  <a:pt x="938998" y="361045"/>
                </a:lnTo>
                <a:lnTo>
                  <a:pt x="914839" y="352717"/>
                </a:lnTo>
                <a:lnTo>
                  <a:pt x="890452" y="344795"/>
                </a:lnTo>
                <a:lnTo>
                  <a:pt x="865866" y="337248"/>
                </a:lnTo>
                <a:lnTo>
                  <a:pt x="841110" y="330046"/>
                </a:lnTo>
                <a:lnTo>
                  <a:pt x="816213" y="323159"/>
                </a:lnTo>
                <a:lnTo>
                  <a:pt x="791205" y="316559"/>
                </a:lnTo>
                <a:lnTo>
                  <a:pt x="766114" y="310218"/>
                </a:lnTo>
                <a:lnTo>
                  <a:pt x="740971" y="304107"/>
                </a:lnTo>
                <a:lnTo>
                  <a:pt x="715804" y="298198"/>
                </a:lnTo>
                <a:lnTo>
                  <a:pt x="690644" y="292465"/>
                </a:lnTo>
                <a:lnTo>
                  <a:pt x="665521" y="286881"/>
                </a:lnTo>
                <a:lnTo>
                  <a:pt x="640466" y="281419"/>
                </a:lnTo>
                <a:lnTo>
                  <a:pt x="615509" y="276052"/>
                </a:lnTo>
                <a:lnTo>
                  <a:pt x="590680" y="270755"/>
                </a:lnTo>
                <a:lnTo>
                  <a:pt x="566012" y="265501"/>
                </a:lnTo>
                <a:lnTo>
                  <a:pt x="541535" y="260266"/>
                </a:lnTo>
                <a:lnTo>
                  <a:pt x="517281" y="255024"/>
                </a:lnTo>
                <a:lnTo>
                  <a:pt x="493282" y="249750"/>
                </a:lnTo>
                <a:lnTo>
                  <a:pt x="469570" y="244419"/>
                </a:lnTo>
                <a:lnTo>
                  <a:pt x="446178" y="239007"/>
                </a:lnTo>
                <a:lnTo>
                  <a:pt x="423138" y="233489"/>
                </a:lnTo>
                <a:lnTo>
                  <a:pt x="400483" y="227842"/>
                </a:lnTo>
                <a:lnTo>
                  <a:pt x="378246" y="222042"/>
                </a:lnTo>
                <a:lnTo>
                  <a:pt x="356461" y="216067"/>
                </a:lnTo>
                <a:lnTo>
                  <a:pt x="335161" y="209895"/>
                </a:lnTo>
                <a:lnTo>
                  <a:pt x="314381" y="203502"/>
                </a:lnTo>
                <a:lnTo>
                  <a:pt x="294153" y="196869"/>
                </a:lnTo>
                <a:lnTo>
                  <a:pt x="274512" y="189975"/>
                </a:lnTo>
                <a:lnTo>
                  <a:pt x="255492" y="182801"/>
                </a:lnTo>
                <a:lnTo>
                  <a:pt x="237125" y="175328"/>
                </a:lnTo>
                <a:lnTo>
                  <a:pt x="219446" y="167539"/>
                </a:lnTo>
                <a:lnTo>
                  <a:pt x="202485" y="159418"/>
                </a:lnTo>
                <a:lnTo>
                  <a:pt x="186274" y="150949"/>
                </a:lnTo>
                <a:lnTo>
                  <a:pt x="170842" y="142120"/>
                </a:lnTo>
                <a:lnTo>
                  <a:pt x="156215" y="132915"/>
                </a:lnTo>
                <a:lnTo>
                  <a:pt x="142417" y="123321"/>
                </a:lnTo>
                <a:lnTo>
                  <a:pt x="129468" y="113326"/>
                </a:lnTo>
                <a:lnTo>
                  <a:pt x="117383" y="102912"/>
                </a:lnTo>
                <a:lnTo>
                  <a:pt x="106175" y="92060"/>
                </a:lnTo>
                <a:lnTo>
                  <a:pt x="95851" y="80747"/>
                </a:lnTo>
                <a:lnTo>
                  <a:pt x="86417" y="68943"/>
                </a:lnTo>
                <a:lnTo>
                  <a:pt x="77874" y="56610"/>
                </a:lnTo>
                <a:lnTo>
                  <a:pt x="70228" y="43701"/>
                </a:lnTo>
                <a:lnTo>
                  <a:pt x="63488" y="30164"/>
                </a:lnTo>
                <a:lnTo>
                  <a:pt x="57667" y="15940"/>
                </a:lnTo>
                <a:lnTo>
                  <a:pt x="52517" y="0"/>
                </a:lnTo>
                <a:close/>
              </a:path>
            </a:pathLst>
          </a:custGeom>
          <a:solidFill>
            <a:srgbClr val="FDE6D2"/>
          </a:solidFill>
          <a:ln w="9525" cap="rnd">
            <a:solidFill>
              <a:srgbClr val="E39A6A"/>
            </a:solidFill>
            <a:round/>
          </a:ln>
        </p:spPr>
      </p:sp>
      <p:sp>
        <p:nvSpPr>
          <p:cNvPr id="298" name="ribbon: tokens to update"/>
          <p:cNvSpPr/>
          <p:nvPr/>
        </p:nvSpPr>
        <p:spPr>
          <a:xfrm>
            <a:off x="7629466" y="557609"/>
            <a:ext cx="2392358" cy="287559"/>
          </a:xfrm>
          <a:custGeom>
            <a:avLst/>
            <a:gdLst/>
            <a:ahLst/>
            <a:cxnLst/>
            <a:rect l="l" t="t" r="r" b="b"/>
            <a:pathLst>
              <a:path w="2392358" h="287559" fill="norm">
                <a:moveTo>
                  <a:pt x="29835" y="193082"/>
                </a:moveTo>
                <a:lnTo>
                  <a:pt x="47858" y="183967"/>
                </a:lnTo>
                <a:lnTo>
                  <a:pt x="66777" y="175632"/>
                </a:lnTo>
                <a:lnTo>
                  <a:pt x="87348" y="167663"/>
                </a:lnTo>
                <a:lnTo>
                  <a:pt x="109515" y="160080"/>
                </a:lnTo>
                <a:lnTo>
                  <a:pt x="133218" y="152899"/>
                </a:lnTo>
                <a:lnTo>
                  <a:pt x="158401" y="146128"/>
                </a:lnTo>
                <a:lnTo>
                  <a:pt x="185009" y="139774"/>
                </a:lnTo>
                <a:lnTo>
                  <a:pt x="212986" y="133837"/>
                </a:lnTo>
                <a:lnTo>
                  <a:pt x="242280" y="128320"/>
                </a:lnTo>
                <a:lnTo>
                  <a:pt x="272839" y="123219"/>
                </a:lnTo>
                <a:lnTo>
                  <a:pt x="304612" y="118532"/>
                </a:lnTo>
                <a:lnTo>
                  <a:pt x="337549" y="114255"/>
                </a:lnTo>
                <a:lnTo>
                  <a:pt x="371600" y="110383"/>
                </a:lnTo>
                <a:lnTo>
                  <a:pt x="406717" y="106911"/>
                </a:lnTo>
                <a:lnTo>
                  <a:pt x="442851" y="103833"/>
                </a:lnTo>
                <a:lnTo>
                  <a:pt x="479956" y="101142"/>
                </a:lnTo>
                <a:lnTo>
                  <a:pt x="517983" y="98833"/>
                </a:lnTo>
                <a:lnTo>
                  <a:pt x="556887" y="96899"/>
                </a:lnTo>
                <a:lnTo>
                  <a:pt x="596619" y="95332"/>
                </a:lnTo>
                <a:lnTo>
                  <a:pt x="637135" y="94125"/>
                </a:lnTo>
                <a:lnTo>
                  <a:pt x="678387" y="93272"/>
                </a:lnTo>
                <a:lnTo>
                  <a:pt x="720331" y="92764"/>
                </a:lnTo>
                <a:lnTo>
                  <a:pt x="762920" y="92595"/>
                </a:lnTo>
                <a:lnTo>
                  <a:pt x="806108" y="92757"/>
                </a:lnTo>
                <a:lnTo>
                  <a:pt x="849851" y="93243"/>
                </a:lnTo>
                <a:lnTo>
                  <a:pt x="894102" y="94044"/>
                </a:lnTo>
                <a:lnTo>
                  <a:pt x="938817" y="95154"/>
                </a:lnTo>
                <a:lnTo>
                  <a:pt x="983950" y="96565"/>
                </a:lnTo>
                <a:lnTo>
                  <a:pt x="1029456" y="98268"/>
                </a:lnTo>
                <a:lnTo>
                  <a:pt x="1075290" y="100257"/>
                </a:lnTo>
                <a:lnTo>
                  <a:pt x="1121407" y="102523"/>
                </a:lnTo>
                <a:lnTo>
                  <a:pt x="1167762" y="105059"/>
                </a:lnTo>
                <a:lnTo>
                  <a:pt x="1214310" y="107857"/>
                </a:lnTo>
                <a:lnTo>
                  <a:pt x="1261005" y="110909"/>
                </a:lnTo>
                <a:lnTo>
                  <a:pt x="1307803" y="114208"/>
                </a:lnTo>
                <a:lnTo>
                  <a:pt x="1354660" y="117745"/>
                </a:lnTo>
                <a:lnTo>
                  <a:pt x="1401529" y="121512"/>
                </a:lnTo>
                <a:lnTo>
                  <a:pt x="1448367" y="125503"/>
                </a:lnTo>
                <a:lnTo>
                  <a:pt x="1495127" y="129708"/>
                </a:lnTo>
                <a:lnTo>
                  <a:pt x="1541766" y="134121"/>
                </a:lnTo>
                <a:lnTo>
                  <a:pt x="1588239" y="138733"/>
                </a:lnTo>
                <a:lnTo>
                  <a:pt x="1634499" y="143536"/>
                </a:lnTo>
                <a:lnTo>
                  <a:pt x="1680503" y="148523"/>
                </a:lnTo>
                <a:lnTo>
                  <a:pt x="1726206" y="153685"/>
                </a:lnTo>
                <a:lnTo>
                  <a:pt x="1771561" y="159014"/>
                </a:lnTo>
                <a:lnTo>
                  <a:pt x="1816525" y="164504"/>
                </a:lnTo>
                <a:lnTo>
                  <a:pt x="1861051" y="170145"/>
                </a:lnTo>
                <a:lnTo>
                  <a:pt x="1905096" y="175929"/>
                </a:lnTo>
                <a:lnTo>
                  <a:pt x="1948612" y="181849"/>
                </a:lnTo>
                <a:lnTo>
                  <a:pt x="1991556" y="187896"/>
                </a:lnTo>
                <a:lnTo>
                  <a:pt x="2033881" y="194063"/>
                </a:lnTo>
                <a:lnTo>
                  <a:pt x="2075542" y="200341"/>
                </a:lnTo>
                <a:lnTo>
                  <a:pt x="2116492" y="206722"/>
                </a:lnTo>
                <a:lnTo>
                  <a:pt x="2156687" y="213198"/>
                </a:lnTo>
                <a:lnTo>
                  <a:pt x="2196079" y="219760"/>
                </a:lnTo>
                <a:lnTo>
                  <a:pt x="2185755" y="287559"/>
                </a:lnTo>
                <a:lnTo>
                  <a:pt x="2392358" y="183055"/>
                </a:lnTo>
                <a:lnTo>
                  <a:pt x="2227051" y="16365"/>
                </a:lnTo>
                <a:lnTo>
                  <a:pt x="2216727" y="84163"/>
                </a:lnTo>
                <a:lnTo>
                  <a:pt x="2176406" y="78810"/>
                </a:lnTo>
                <a:lnTo>
                  <a:pt x="2135318" y="73578"/>
                </a:lnTo>
                <a:lnTo>
                  <a:pt x="2093505" y="68472"/>
                </a:lnTo>
                <a:lnTo>
                  <a:pt x="2051010" y="63499"/>
                </a:lnTo>
                <a:lnTo>
                  <a:pt x="2007876" y="58665"/>
                </a:lnTo>
                <a:lnTo>
                  <a:pt x="1964147" y="53976"/>
                </a:lnTo>
                <a:lnTo>
                  <a:pt x="1919865" y="49438"/>
                </a:lnTo>
                <a:lnTo>
                  <a:pt x="1875075" y="45056"/>
                </a:lnTo>
                <a:lnTo>
                  <a:pt x="1829820" y="40838"/>
                </a:lnTo>
                <a:lnTo>
                  <a:pt x="1784143" y="36789"/>
                </a:lnTo>
                <a:lnTo>
                  <a:pt x="1738089" y="32917"/>
                </a:lnTo>
                <a:lnTo>
                  <a:pt x="1691700" y="29226"/>
                </a:lnTo>
                <a:lnTo>
                  <a:pt x="1645022" y="25723"/>
                </a:lnTo>
                <a:lnTo>
                  <a:pt x="1598097" y="22415"/>
                </a:lnTo>
                <a:lnTo>
                  <a:pt x="1550970" y="19307"/>
                </a:lnTo>
                <a:lnTo>
                  <a:pt x="1503684" y="16407"/>
                </a:lnTo>
                <a:lnTo>
                  <a:pt x="1456284" y="13721"/>
                </a:lnTo>
                <a:lnTo>
                  <a:pt x="1408814" y="11254"/>
                </a:lnTo>
                <a:lnTo>
                  <a:pt x="1361317" y="9013"/>
                </a:lnTo>
                <a:lnTo>
                  <a:pt x="1313837" y="7005"/>
                </a:lnTo>
                <a:lnTo>
                  <a:pt x="1266419" y="5236"/>
                </a:lnTo>
                <a:lnTo>
                  <a:pt x="1219106" y="3712"/>
                </a:lnTo>
                <a:lnTo>
                  <a:pt x="1171942" y="2441"/>
                </a:lnTo>
                <a:lnTo>
                  <a:pt x="1124972" y="1427"/>
                </a:lnTo>
                <a:lnTo>
                  <a:pt x="1078239" y="678"/>
                </a:lnTo>
                <a:lnTo>
                  <a:pt x="1031787" y="200"/>
                </a:lnTo>
                <a:lnTo>
                  <a:pt x="985659" y="0"/>
                </a:lnTo>
                <a:lnTo>
                  <a:pt x="939900" y="84"/>
                </a:lnTo>
                <a:lnTo>
                  <a:pt x="894554" y="459"/>
                </a:lnTo>
                <a:lnTo>
                  <a:pt x="849664" y="1130"/>
                </a:lnTo>
                <a:lnTo>
                  <a:pt x="805273" y="2106"/>
                </a:lnTo>
                <a:lnTo>
                  <a:pt x="761425" y="3392"/>
                </a:lnTo>
                <a:lnTo>
                  <a:pt x="718164" y="4996"/>
                </a:lnTo>
                <a:lnTo>
                  <a:pt x="675533" y="6923"/>
                </a:lnTo>
                <a:lnTo>
                  <a:pt x="633575" y="9181"/>
                </a:lnTo>
                <a:lnTo>
                  <a:pt x="592333" y="11776"/>
                </a:lnTo>
                <a:lnTo>
                  <a:pt x="551849" y="14717"/>
                </a:lnTo>
                <a:lnTo>
                  <a:pt x="512167" y="18009"/>
                </a:lnTo>
                <a:lnTo>
                  <a:pt x="473328" y="21660"/>
                </a:lnTo>
                <a:lnTo>
                  <a:pt x="435375" y="25677"/>
                </a:lnTo>
                <a:lnTo>
                  <a:pt x="398350" y="30069"/>
                </a:lnTo>
                <a:lnTo>
                  <a:pt x="362293" y="34843"/>
                </a:lnTo>
                <a:lnTo>
                  <a:pt x="327245" y="40008"/>
                </a:lnTo>
                <a:lnTo>
                  <a:pt x="293248" y="45572"/>
                </a:lnTo>
                <a:lnTo>
                  <a:pt x="260339" y="51545"/>
                </a:lnTo>
                <a:lnTo>
                  <a:pt x="228558" y="57938"/>
                </a:lnTo>
                <a:lnTo>
                  <a:pt x="197944" y="64761"/>
                </a:lnTo>
                <a:lnTo>
                  <a:pt x="168532" y="72027"/>
                </a:lnTo>
                <a:lnTo>
                  <a:pt x="140359" y="79750"/>
                </a:lnTo>
                <a:lnTo>
                  <a:pt x="113459" y="87948"/>
                </a:lnTo>
                <a:lnTo>
                  <a:pt x="87866" y="96639"/>
                </a:lnTo>
                <a:lnTo>
                  <a:pt x="63610" y="105847"/>
                </a:lnTo>
                <a:lnTo>
                  <a:pt x="40725" y="115601"/>
                </a:lnTo>
                <a:lnTo>
                  <a:pt x="19239" y="125936"/>
                </a:lnTo>
                <a:lnTo>
                  <a:pt x="0" y="136453"/>
                </a:lnTo>
                <a:close/>
              </a:path>
            </a:pathLst>
          </a:custGeom>
          <a:solidFill>
            <a:srgbClr val="FDE6D2"/>
          </a:solidFill>
          <a:ln w="9525" cap="rnd">
            <a:solidFill>
              <a:srgbClr val="E39A6A"/>
            </a:solidFill>
            <a:round/>
          </a:ln>
        </p:spPr>
      </p:sp>
      <p:sp>
        <p:nvSpPr>
          <p:cNvPr id="299" name="label prefixes"/>
          <p:cNvSpPr txBox="1"/>
          <p:nvPr/>
        </p:nvSpPr>
        <p:spPr>
          <a:xfrm>
            <a:off x="3325953" y="484632"/>
            <a:ext cx="827886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6F9BD8"/>
                </a:solidFill>
                <a:latin typeface="Times New Roman"/>
                <a:cs typeface="Times New Roman"/>
              </a:rPr>
              <a:t xml:space="preserve">prefixes </a:t>
            </a:r>
            <a:r>
              <a:rPr lang="en-US" sz="1500" b="0" i="1">
                <a:solidFill>
                  <a:srgbClr val="6F9BD8"/>
                </a:solidFill>
                <a:latin typeface="Times New Roman"/>
                <a:cs typeface="Times New Roman"/>
              </a:rPr>
              <a:t>s</a:t>
            </a:r>
            <a:r>
              <a:rPr lang="en-US" sz="1170" b="0" i="1" baseline="-20000">
                <a:solidFill>
                  <a:srgbClr val="6F9BD8"/>
                </a:solidFill>
                <a:latin typeface="Times New Roman"/>
                <a:cs typeface="Times New Roman"/>
              </a:rPr>
              <a:t>k</a:t>
            </a:r>
          </a:p>
        </p:txBody>
      </p:sp>
      <p:sp>
        <p:nvSpPr>
          <p:cNvPr id="300" name="label tokens"/>
          <p:cNvSpPr txBox="1"/>
          <p:nvPr/>
        </p:nvSpPr>
        <p:spPr>
          <a:xfrm>
            <a:off x="8731870" y="301752"/>
            <a:ext cx="732821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E39A6A"/>
                </a:solidFill>
                <a:latin typeface="Times New Roman"/>
                <a:cs typeface="Times New Roman"/>
              </a:rPr>
              <a:t xml:space="preserve">tokens </a:t>
            </a:r>
            <a:r>
              <a:rPr lang="en-US" sz="1500" b="0" i="1">
                <a:solidFill>
                  <a:srgbClr val="E39A6A"/>
                </a:solidFill>
                <a:latin typeface="Times New Roman"/>
                <a:cs typeface="Times New Roman"/>
              </a:rPr>
              <a:t>a</a:t>
            </a:r>
            <a:r>
              <a:rPr lang="en-US" sz="1170" b="0" i="1" baseline="-20000">
                <a:solidFill>
                  <a:srgbClr val="E39A6A"/>
                </a:solidFill>
                <a:latin typeface="Times New Roman"/>
                <a:cs typeface="Times New Roman"/>
              </a:rPr>
              <a:t>k</a:t>
            </a:r>
          </a:p>
        </p:txBody>
      </p:sp>
      <p:sp>
        <p:nvSpPr>
          <p:cNvPr id="301" name="Reference c"/>
          <p:cNvSpPr txBox="1"/>
          <p:nvPr/>
        </p:nvSpPr>
        <p:spPr>
          <a:xfrm>
            <a:off x="215447" y="1216152"/>
            <a:ext cx="922419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Reference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c</a:t>
            </a:r>
          </a:p>
        </p:txBody>
      </p:sp>
      <p:grpSp>
        <p:nvGrpSpPr>
          <p:cNvPr id="302" name="Token a{sub:1}"/>
          <p:cNvGrpSpPr/>
          <p:nvPr/>
        </p:nvGrpSpPr>
        <p:grpSpPr>
          <a:xfrm>
            <a:off x="292608" y="1609344"/>
            <a:ext cx="262890" cy="192646"/>
            <a:chOff x="4692650" y="914400"/>
            <a:chExt cx="571500" cy="419100"/>
          </a:xfrm>
        </p:grpSpPr>
        <p:sp>
          <p:nvSpPr>
            <p:cNvPr id="303" name="022 token thickness"/>
            <p:cNvSpPr/>
            <p:nvPr/>
          </p:nvSpPr>
          <p:spPr>
            <a:xfrm>
              <a:off x="4692650" y="1078992"/>
              <a:ext cx="571500" cy="229108"/>
            </a:xfrm>
            <a:custGeom>
              <a:avLst/>
              <a:gdLst/>
              <a:ahLst/>
              <a:cxnLst/>
              <a:rect l="l" t="t" r="r" b="b"/>
              <a:pathLst>
                <a:path w="90000" h="36080" fill="norm" stroke="1">
                  <a:moveTo>
                    <a:pt x="0" y="3780"/>
                  </a:moveTo>
                  <a:lnTo>
                    <a:pt x="41400" y="28080"/>
                  </a:lnTo>
                  <a:lnTo>
                    <a:pt x="90000" y="0"/>
                  </a:lnTo>
                  <a:lnTo>
                    <a:pt x="90000" y="8640"/>
                  </a:lnTo>
                  <a:lnTo>
                    <a:pt x="41400" y="36080"/>
                  </a:lnTo>
                  <a:lnTo>
                    <a:pt x="0" y="12960"/>
                  </a:lnTo>
                  <a:close/>
                </a:path>
              </a:pathLst>
            </a:custGeom>
            <a:solidFill>
              <a:srgbClr val="94C1E5"/>
            </a:solidFill>
            <a:ln w="8255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4" name="023 token top"/>
            <p:cNvSpPr/>
            <p:nvPr/>
          </p:nvSpPr>
          <p:spPr>
            <a:xfrm>
              <a:off x="4692650" y="914400"/>
              <a:ext cx="571500" cy="342900"/>
            </a:xfrm>
            <a:custGeom>
              <a:avLst/>
              <a:gdLst/>
              <a:ahLst/>
              <a:cxnLst/>
              <a:rect l="l" t="t" r="r" b="b"/>
              <a:pathLst>
                <a:path w="90000" h="54000" fill="norm" stroke="1">
                  <a:moveTo>
                    <a:pt x="0" y="29700"/>
                  </a:moveTo>
                  <a:lnTo>
                    <a:pt x="48600" y="0"/>
                  </a:lnTo>
                  <a:lnTo>
                    <a:pt x="90000" y="25920"/>
                  </a:lnTo>
                  <a:lnTo>
                    <a:pt x="41400" y="54000"/>
                  </a:lnTo>
                  <a:close/>
                </a:path>
              </a:pathLst>
            </a:custGeom>
            <a:solidFill>
              <a:srgbClr val="BCDFF5"/>
            </a:solidFill>
            <a:ln w="9525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5" name="024 path"/>
            <p:cNvSpPr/>
            <p:nvPr/>
          </p:nvSpPr>
          <p:spPr>
            <a:xfrm>
              <a:off x="4955540" y="1257300"/>
              <a:ext cx="63" cy="50800"/>
            </a:xfrm>
            <a:custGeom>
              <a:avLst/>
              <a:gdLst/>
              <a:ahLst/>
              <a:cxnLst/>
              <a:rect l="l" t="t" r="r" b="b"/>
              <a:pathLst>
                <a:path w="10" h="8000" fill="none" stroke="1">
                  <a:moveTo>
                    <a:pt x="0" y="0"/>
                  </a:moveTo>
                  <a:lnTo>
                    <a:pt x="0" y="8000"/>
                  </a:lnTo>
                </a:path>
              </a:pathLst>
            </a:custGeom>
            <a:noFill/>
            <a:ln w="6350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7" name="Token a{sub:2}"/>
          <p:cNvGrpSpPr/>
          <p:nvPr/>
        </p:nvGrpSpPr>
        <p:grpSpPr>
          <a:xfrm>
            <a:off x="530352" y="1609344"/>
            <a:ext cx="262890" cy="192646"/>
            <a:chOff x="5213350" y="914400"/>
            <a:chExt cx="571500" cy="419100"/>
          </a:xfrm>
        </p:grpSpPr>
        <p:sp>
          <p:nvSpPr>
            <p:cNvPr id="308" name="026 token thickness"/>
            <p:cNvSpPr/>
            <p:nvPr/>
          </p:nvSpPr>
          <p:spPr>
            <a:xfrm>
              <a:off x="5213350" y="1078992"/>
              <a:ext cx="571500" cy="229108"/>
            </a:xfrm>
            <a:custGeom>
              <a:avLst/>
              <a:gdLst/>
              <a:ahLst/>
              <a:cxnLst/>
              <a:rect l="l" t="t" r="r" b="b"/>
              <a:pathLst>
                <a:path w="90000" h="36080" fill="norm" stroke="1">
                  <a:moveTo>
                    <a:pt x="0" y="3780"/>
                  </a:moveTo>
                  <a:lnTo>
                    <a:pt x="41400" y="28080"/>
                  </a:lnTo>
                  <a:lnTo>
                    <a:pt x="90000" y="0"/>
                  </a:lnTo>
                  <a:lnTo>
                    <a:pt x="90000" y="8640"/>
                  </a:lnTo>
                  <a:lnTo>
                    <a:pt x="41400" y="36080"/>
                  </a:lnTo>
                  <a:lnTo>
                    <a:pt x="0" y="12960"/>
                  </a:lnTo>
                  <a:close/>
                </a:path>
              </a:pathLst>
            </a:custGeom>
            <a:solidFill>
              <a:srgbClr val="94C1E5"/>
            </a:solidFill>
            <a:ln w="8255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9" name="027 token top"/>
            <p:cNvSpPr/>
            <p:nvPr/>
          </p:nvSpPr>
          <p:spPr>
            <a:xfrm>
              <a:off x="5213350" y="914400"/>
              <a:ext cx="571500" cy="342900"/>
            </a:xfrm>
            <a:custGeom>
              <a:avLst/>
              <a:gdLst/>
              <a:ahLst/>
              <a:cxnLst/>
              <a:rect l="l" t="t" r="r" b="b"/>
              <a:pathLst>
                <a:path w="90000" h="54000" fill="norm" stroke="1">
                  <a:moveTo>
                    <a:pt x="0" y="29700"/>
                  </a:moveTo>
                  <a:lnTo>
                    <a:pt x="48600" y="0"/>
                  </a:lnTo>
                  <a:lnTo>
                    <a:pt x="90000" y="25920"/>
                  </a:lnTo>
                  <a:lnTo>
                    <a:pt x="41400" y="54000"/>
                  </a:lnTo>
                  <a:close/>
                </a:path>
              </a:pathLst>
            </a:custGeom>
            <a:solidFill>
              <a:srgbClr val="BCDFF5"/>
            </a:solidFill>
            <a:ln w="9525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0" name="028 path"/>
            <p:cNvSpPr/>
            <p:nvPr/>
          </p:nvSpPr>
          <p:spPr>
            <a:xfrm>
              <a:off x="5476240" y="1257300"/>
              <a:ext cx="63" cy="50800"/>
            </a:xfrm>
            <a:custGeom>
              <a:avLst/>
              <a:gdLst/>
              <a:ahLst/>
              <a:cxnLst/>
              <a:rect l="l" t="t" r="r" b="b"/>
              <a:pathLst>
                <a:path w="10" h="8000" fill="none" stroke="1">
                  <a:moveTo>
                    <a:pt x="0" y="0"/>
                  </a:moveTo>
                  <a:lnTo>
                    <a:pt x="0" y="8000"/>
                  </a:lnTo>
                </a:path>
              </a:pathLst>
            </a:custGeom>
            <a:noFill/>
            <a:ln w="6350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2" name="Token a{sub:2}"/>
          <p:cNvGrpSpPr/>
          <p:nvPr/>
        </p:nvGrpSpPr>
        <p:grpSpPr>
          <a:xfrm>
            <a:off x="768096" y="1609344"/>
            <a:ext cx="262890" cy="192646"/>
            <a:chOff x="5734050" y="914400"/>
            <a:chExt cx="571500" cy="419100"/>
          </a:xfrm>
        </p:grpSpPr>
        <p:sp>
          <p:nvSpPr>
            <p:cNvPr id="313" name="030 token thickness"/>
            <p:cNvSpPr/>
            <p:nvPr/>
          </p:nvSpPr>
          <p:spPr>
            <a:xfrm>
              <a:off x="5734050" y="1078992"/>
              <a:ext cx="571500" cy="229108"/>
            </a:xfrm>
            <a:custGeom>
              <a:avLst/>
              <a:gdLst/>
              <a:ahLst/>
              <a:cxnLst/>
              <a:rect l="l" t="t" r="r" b="b"/>
              <a:pathLst>
                <a:path w="90000" h="36080" fill="norm" stroke="1">
                  <a:moveTo>
                    <a:pt x="0" y="3780"/>
                  </a:moveTo>
                  <a:lnTo>
                    <a:pt x="41400" y="28080"/>
                  </a:lnTo>
                  <a:lnTo>
                    <a:pt x="90000" y="0"/>
                  </a:lnTo>
                  <a:lnTo>
                    <a:pt x="90000" y="8640"/>
                  </a:lnTo>
                  <a:lnTo>
                    <a:pt x="41400" y="36080"/>
                  </a:lnTo>
                  <a:lnTo>
                    <a:pt x="0" y="12960"/>
                  </a:lnTo>
                  <a:close/>
                </a:path>
              </a:pathLst>
            </a:custGeom>
            <a:solidFill>
              <a:srgbClr val="94C1E5"/>
            </a:solidFill>
            <a:ln w="8255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4" name="031 token top"/>
            <p:cNvSpPr/>
            <p:nvPr/>
          </p:nvSpPr>
          <p:spPr>
            <a:xfrm>
              <a:off x="5734050" y="914400"/>
              <a:ext cx="571500" cy="342900"/>
            </a:xfrm>
            <a:custGeom>
              <a:avLst/>
              <a:gdLst/>
              <a:ahLst/>
              <a:cxnLst/>
              <a:rect l="l" t="t" r="r" b="b"/>
              <a:pathLst>
                <a:path w="90000" h="54000" fill="norm" stroke="1">
                  <a:moveTo>
                    <a:pt x="0" y="29700"/>
                  </a:moveTo>
                  <a:lnTo>
                    <a:pt x="48600" y="0"/>
                  </a:lnTo>
                  <a:lnTo>
                    <a:pt x="90000" y="25920"/>
                  </a:lnTo>
                  <a:lnTo>
                    <a:pt x="41400" y="54000"/>
                  </a:lnTo>
                  <a:close/>
                </a:path>
              </a:pathLst>
            </a:custGeom>
            <a:solidFill>
              <a:srgbClr val="BCDFF5"/>
            </a:solidFill>
            <a:ln w="9525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5" name="032 path"/>
            <p:cNvSpPr/>
            <p:nvPr/>
          </p:nvSpPr>
          <p:spPr>
            <a:xfrm>
              <a:off x="5996940" y="1257300"/>
              <a:ext cx="63" cy="50800"/>
            </a:xfrm>
            <a:custGeom>
              <a:avLst/>
              <a:gdLst/>
              <a:ahLst/>
              <a:cxnLst/>
              <a:rect l="l" t="t" r="r" b="b"/>
              <a:pathLst>
                <a:path w="10" h="8000" fill="none" stroke="1">
                  <a:moveTo>
                    <a:pt x="0" y="0"/>
                  </a:moveTo>
                  <a:lnTo>
                    <a:pt x="0" y="8000"/>
                  </a:lnTo>
                </a:path>
              </a:pathLst>
            </a:custGeom>
            <a:noFill/>
            <a:ln w="6350">
              <a:solidFill>
                <a:srgbClr val="34485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17" name="Prefix s_k"/>
          <p:cNvSpPr txBox="1"/>
          <p:nvPr/>
        </p:nvSpPr>
        <p:spPr>
          <a:xfrm>
            <a:off x="336707" y="1837944"/>
            <a:ext cx="679897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Prefix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s</a:t>
            </a:r>
            <a:r>
              <a:rPr lang="en-US" sz="1170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</a:p>
        </p:txBody>
      </p:sp>
      <p:sp>
        <p:nvSpPr>
          <p:cNvPr id="318" name="Privileged pass"/>
          <p:cNvSpPr txBox="1"/>
          <p:nvPr/>
        </p:nvSpPr>
        <p:spPr>
          <a:xfrm>
            <a:off x="1544574" y="896112"/>
            <a:ext cx="1254252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>Privileged pass</a:t>
            </a:r>
          </a:p>
        </p:txBody>
      </p:sp>
      <p:sp>
        <p:nvSpPr>
          <p:cNvPr id="319" name="Privileged pass policy"/>
          <p:cNvSpPr txBox="1"/>
          <p:nvPr/>
        </p:nvSpPr>
        <p:spPr>
          <a:xfrm>
            <a:off x="1725870" y="1124712"/>
            <a:ext cx="891660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π</a:t>
            </a:r>
            <a:r>
              <a:rPr lang="en-US" sz="1170" b="0" i="0" baseline="-20000">
                <a:solidFill>
                  <a:srgbClr val="263040"/>
                </a:solidFill>
                <a:latin typeface="Times New Roman"/>
                <a:cs typeface="Times New Roman"/>
              </a:rPr>
              <a:t>old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(· |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x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,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c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320" name="Plain pass"/>
          <p:cNvSpPr txBox="1"/>
          <p:nvPr/>
        </p:nvSpPr>
        <p:spPr>
          <a:xfrm>
            <a:off x="1753330" y="1472184"/>
            <a:ext cx="836739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>Plain pass</a:t>
            </a:r>
          </a:p>
        </p:txBody>
      </p:sp>
      <p:sp>
        <p:nvSpPr>
          <p:cNvPr id="321" name="Plain pass policy"/>
          <p:cNvSpPr txBox="1"/>
          <p:nvPr/>
        </p:nvSpPr>
        <p:spPr>
          <a:xfrm>
            <a:off x="1815771" y="1700784"/>
            <a:ext cx="711857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π</a:t>
            </a:r>
            <a:r>
              <a:rPr lang="en-US" sz="1170" b="0" i="0" baseline="-20000">
                <a:solidFill>
                  <a:srgbClr val="263040"/>
                </a:solidFill>
                <a:latin typeface="Times New Roman"/>
                <a:cs typeface="Times New Roman"/>
              </a:rPr>
              <a:t>old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(· |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x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322" name="c to privileged"/>
          <p:cNvSpPr/>
          <p:nvPr/>
        </p:nvSpPr>
        <p:spPr>
          <a:xfrm>
            <a:off x="1033272" y="1014984"/>
            <a:ext cx="301752" cy="1"/>
          </a:xfrm>
          <a:custGeom>
            <a:avLst/>
            <a:gdLst/>
            <a:ahLst/>
            <a:cxnLst/>
            <a:rect l="l" t="t" r="r" b="b"/>
            <a:pathLst>
              <a:path w="301752" h="1" fill="none">
                <a:moveTo>
                  <a:pt x="0" y="0"/>
                </a:moveTo>
                <a:lnTo>
                  <a:pt x="301752" y="0"/>
                </a:lnTo>
              </a:path>
            </a:pathLst>
          </a:custGeom>
          <a:noFill/>
          <a:ln w="15875" cap="rnd">
            <a:solidFill>
              <a:srgbClr val="3D7FD9"/>
            </a:solidFill>
            <a:round/>
            <a:tailEnd type="triangle" w="med" len="med"/>
          </a:ln>
        </p:spPr>
      </p:sp>
      <p:sp>
        <p:nvSpPr>
          <p:cNvPr id="323" name="prefix to plain"/>
          <p:cNvSpPr/>
          <p:nvPr/>
        </p:nvSpPr>
        <p:spPr>
          <a:xfrm>
            <a:off x="1078992" y="1682496"/>
            <a:ext cx="256032" cy="1"/>
          </a:xfrm>
          <a:custGeom>
            <a:avLst/>
            <a:gdLst/>
            <a:ahLst/>
            <a:cxnLst/>
            <a:rect l="l" t="t" r="r" b="b"/>
            <a:pathLst>
              <a:path w="256032" h="1" fill="none">
                <a:moveTo>
                  <a:pt x="0" y="0"/>
                </a:moveTo>
                <a:lnTo>
                  <a:pt x="256032" y="0"/>
                </a:lnTo>
              </a:path>
            </a:pathLst>
          </a:custGeom>
          <a:noFill/>
          <a:ln w="15875" cap="rnd">
            <a:solidFill>
              <a:srgbClr val="3D7FD9"/>
            </a:solidFill>
            <a:round/>
            <a:tailEnd type="triangle" w="med" len="med"/>
          </a:ln>
        </p:spPr>
      </p:sp>
      <p:sp>
        <p:nvSpPr>
          <p:cNvPr id="324" name="prefix to privileged"/>
          <p:cNvSpPr/>
          <p:nvPr/>
        </p:nvSpPr>
        <p:spPr>
          <a:xfrm>
            <a:off x="1188720" y="1216152"/>
            <a:ext cx="146304" cy="466344"/>
          </a:xfrm>
          <a:custGeom>
            <a:avLst/>
            <a:gdLst/>
            <a:ahLst/>
            <a:cxnLst/>
            <a:rect l="l" t="t" r="r" b="b"/>
            <a:pathLst>
              <a:path w="146304" h="466344" fill="none">
                <a:moveTo>
                  <a:pt x="0" y="466344"/>
                </a:moveTo>
                <a:lnTo>
                  <a:pt x="0" y="0"/>
                </a:lnTo>
                <a:lnTo>
                  <a:pt x="146304" y="0"/>
                </a:lnTo>
              </a:path>
            </a:pathLst>
          </a:custGeom>
          <a:noFill/>
          <a:ln w="15875" cap="rnd">
            <a:solidFill>
              <a:srgbClr val="3D7FD9"/>
            </a:solidFill>
            <a:round/>
            <a:tailEnd type="triangle" w="med" len="med"/>
          </a:ln>
        </p:spPr>
      </p:sp>
      <p:sp>
        <p:nvSpPr>
          <p:cNvPr id="325" name="junction"/>
          <p:cNvSpPr/>
          <p:nvPr/>
        </p:nvSpPr>
        <p:spPr>
          <a:xfrm>
            <a:off x="1163117" y="1656893"/>
            <a:ext cx="51206" cy="51206"/>
          </a:xfrm>
          <a:prstGeom prst="ellipse">
            <a:avLst/>
          </a:prstGeom>
          <a:solidFill>
            <a:srgbClr val="3D7FD9"/>
          </a:solidFill>
          <a:ln>
            <a:noFill/>
          </a:ln>
        </p:spPr>
      </p:sp>
      <p:sp>
        <p:nvSpPr>
          <p:cNvPr id="326" name="passes to features"/>
          <p:cNvSpPr/>
          <p:nvPr/>
        </p:nvSpPr>
        <p:spPr>
          <a:xfrm>
            <a:off x="2999232" y="1106424"/>
            <a:ext cx="146304" cy="1216152"/>
          </a:xfrm>
          <a:custGeom>
            <a:avLst/>
            <a:gdLst/>
            <a:ahLst/>
            <a:cxnLst/>
            <a:rect l="l" t="t" r="r" b="b"/>
            <a:pathLst>
              <a:path w="146304" h="1216152" fill="none">
                <a:moveTo>
                  <a:pt x="0" y="0"/>
                </a:moveTo>
                <a:lnTo>
                  <a:pt x="146304" y="0"/>
                </a:lnTo>
                <a:lnTo>
                  <a:pt x="146304" y="1216152"/>
                </a:lnTo>
                <a:lnTo>
                  <a:pt x="9144" y="1216152"/>
                </a:lnTo>
              </a:path>
            </a:pathLst>
          </a:custGeom>
          <a:noFill/>
          <a:ln w="15875" cap="rnd">
            <a:solidFill>
              <a:srgbClr val="3D7FD9"/>
            </a:solidFill>
            <a:round/>
            <a:tailEnd type="triangle" w="med" len="med"/>
          </a:ln>
        </p:spPr>
      </p:sp>
      <p:sp>
        <p:nvSpPr>
          <p:cNvPr id="327" name="plain to bus"/>
          <p:cNvSpPr/>
          <p:nvPr/>
        </p:nvSpPr>
        <p:spPr>
          <a:xfrm>
            <a:off x="2999232" y="1682496"/>
            <a:ext cx="146304" cy="1"/>
          </a:xfrm>
          <a:custGeom>
            <a:avLst/>
            <a:gdLst/>
            <a:ahLst/>
            <a:cxnLst/>
            <a:rect l="l" t="t" r="r" b="b"/>
            <a:pathLst>
              <a:path w="146304" h="1" fill="none">
                <a:moveTo>
                  <a:pt x="0" y="0"/>
                </a:moveTo>
                <a:lnTo>
                  <a:pt x="146304" y="0"/>
                </a:lnTo>
              </a:path>
            </a:pathLst>
          </a:custGeom>
          <a:noFill/>
          <a:ln w="15875" cap="rnd">
            <a:solidFill>
              <a:srgbClr val="3D7FD9"/>
            </a:solidFill>
            <a:round/>
          </a:ln>
        </p:spPr>
      </p:sp>
      <p:sp>
        <p:nvSpPr>
          <p:cNvPr id="328" name="junction"/>
          <p:cNvSpPr/>
          <p:nvPr/>
        </p:nvSpPr>
        <p:spPr>
          <a:xfrm>
            <a:off x="3119933" y="1656893"/>
            <a:ext cx="51206" cy="51206"/>
          </a:xfrm>
          <a:prstGeom prst="ellipse">
            <a:avLst/>
          </a:prstGeom>
          <a:solidFill>
            <a:srgbClr val="3D7FD9"/>
          </a:solidFill>
          <a:ln>
            <a:noFill/>
          </a:ln>
        </p:spPr>
      </p:sp>
      <p:sp>
        <p:nvSpPr>
          <p:cNvPr id="329" name="features"/>
          <p:cNvSpPr txBox="1"/>
          <p:nvPr/>
        </p:nvSpPr>
        <p:spPr>
          <a:xfrm>
            <a:off x="445127" y="2093976"/>
            <a:ext cx="2383298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Prefix features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z</a:t>
            </a:r>
            <a:r>
              <a:rPr lang="en-US" sz="1170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: evidence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L</a:t>
            </a:r>
            <a:r>
              <a:rPr lang="en-US" sz="1170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>,</a:t>
            </a:r>
          </a:p>
        </p:txBody>
      </p:sp>
      <p:sp>
        <p:nvSpPr>
          <p:cNvPr id="330" name="features 2"/>
          <p:cNvSpPr txBox="1"/>
          <p:nvPr/>
        </p:nvSpPr>
        <p:spPr>
          <a:xfrm>
            <a:off x="847264" y="2304288"/>
            <a:ext cx="1579025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>entropies, log length</a:t>
            </a:r>
          </a:p>
        </p:txBody>
      </p:sp>
      <p:sp>
        <p:nvSpPr>
          <p:cNvPr id="331" name="features to calibrator"/>
          <p:cNvSpPr/>
          <p:nvPr/>
        </p:nvSpPr>
        <p:spPr>
          <a:xfrm>
            <a:off x="1636776" y="2569464"/>
            <a:ext cx="1" cy="105156"/>
          </a:xfrm>
          <a:custGeom>
            <a:avLst/>
            <a:gdLst/>
            <a:ahLst/>
            <a:cxnLst/>
            <a:rect l="l" t="t" r="r" b="b"/>
            <a:pathLst>
              <a:path w="1" h="105156" fill="none">
                <a:moveTo>
                  <a:pt x="0" y="0"/>
                </a:moveTo>
                <a:lnTo>
                  <a:pt x="0" y="105156"/>
                </a:lnTo>
              </a:path>
            </a:pathLst>
          </a:custGeom>
          <a:noFill/>
          <a:ln w="15875" cap="rnd">
            <a:solidFill>
              <a:srgbClr val="3D7FD9"/>
            </a:solidFill>
            <a:round/>
            <a:tailEnd type="triangle" w="med" len="med"/>
          </a:ln>
        </p:spPr>
      </p:sp>
      <p:sp>
        <p:nvSpPr>
          <p:cNvPr id="332" name="logistic calibrator icon frame"/>
          <p:cNvSpPr/>
          <p:nvPr/>
        </p:nvSpPr>
        <p:spPr>
          <a:xfrm>
            <a:off x="1463040" y="2679192"/>
            <a:ext cx="347472" cy="34747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 cap="rnd">
            <a:solidFill>
              <a:srgbClr val="2F5F9E"/>
            </a:solidFill>
            <a:round/>
          </a:ln>
        </p:spPr>
      </p:sp>
      <p:sp>
        <p:nvSpPr>
          <p:cNvPr id="333" name="logistic calibrator axis"/>
          <p:cNvSpPr/>
          <p:nvPr/>
        </p:nvSpPr>
        <p:spPr>
          <a:xfrm>
            <a:off x="1517904" y="2962656"/>
            <a:ext cx="246888" cy="1"/>
          </a:xfrm>
          <a:custGeom>
            <a:avLst/>
            <a:gdLst/>
            <a:ahLst/>
            <a:cxnLst/>
            <a:rect l="l" t="t" r="r" b="b"/>
            <a:pathLst>
              <a:path w="246888" h="1" fill="none">
                <a:moveTo>
                  <a:pt x="0" y="0"/>
                </a:moveTo>
                <a:lnTo>
                  <a:pt x="246888" y="0"/>
                </a:lnTo>
              </a:path>
            </a:pathLst>
          </a:custGeom>
          <a:noFill/>
          <a:ln w="9525" cap="rnd">
            <a:solidFill>
              <a:srgbClr val="A9BCD6"/>
            </a:solidFill>
            <a:round/>
          </a:ln>
        </p:spPr>
      </p:sp>
      <p:sp>
        <p:nvSpPr>
          <p:cNvPr id="334" name="logistic calibrator sigmoid"/>
          <p:cNvSpPr/>
          <p:nvPr/>
        </p:nvSpPr>
        <p:spPr>
          <a:xfrm>
            <a:off x="1517904" y="2752344"/>
            <a:ext cx="237744" cy="192024"/>
          </a:xfrm>
          <a:custGeom>
            <a:avLst/>
            <a:gdLst/>
            <a:ahLst/>
            <a:cxnLst/>
            <a:rect l="l" t="t" r="r" b="b"/>
            <a:pathLst>
              <a:path w="237744" h="192024" fill="none">
                <a:moveTo>
                  <a:pt x="0" y="192024"/>
                </a:moveTo>
                <a:cubicBezTo>
                  <a:pt x="100584" y="192024"/>
                  <a:pt x="137160" y="0"/>
                  <a:pt x="237744" y="0"/>
                </a:cubicBezTo>
              </a:path>
            </a:pathLst>
          </a:custGeom>
          <a:noFill/>
          <a:ln w="22225" cap="rnd">
            <a:solidFill>
              <a:srgbClr val="2F5F9E"/>
            </a:solidFill>
            <a:round/>
          </a:ln>
        </p:spPr>
      </p:sp>
      <p:sp>
        <p:nvSpPr>
          <p:cNvPr id="335" name="calibrator"/>
          <p:cNvSpPr txBox="1"/>
          <p:nvPr/>
        </p:nvSpPr>
        <p:spPr>
          <a:xfrm>
            <a:off x="632642" y="2630043"/>
            <a:ext cx="748102" cy="44577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>Logistic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>calibrator</a:t>
            </a:r>
          </a:p>
        </p:txBody>
      </p:sp>
      <p:sp>
        <p:nvSpPr>
          <p:cNvPr id="336" name="g_phi"/>
          <p:cNvSpPr txBox="1"/>
          <p:nvPr/>
        </p:nvSpPr>
        <p:spPr>
          <a:xfrm>
            <a:off x="1883664" y="2700909"/>
            <a:ext cx="226445" cy="26746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0" i="1">
                <a:solidFill>
                  <a:srgbClr val="263040"/>
                </a:solidFill>
                <a:latin typeface="Times New Roman"/>
                <a:cs typeface="Times New Roman"/>
              </a:rPr>
              <a:t>g</a:t>
            </a:r>
            <a:r>
              <a:rPr lang="en-US" sz="1404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ϕ</a:t>
            </a:r>
          </a:p>
        </p:txBody>
      </p:sp>
      <p:sp>
        <p:nvSpPr>
          <p:cNvPr id="337" name="calibrator to f"/>
          <p:cNvSpPr/>
          <p:nvPr/>
        </p:nvSpPr>
        <p:spPr>
          <a:xfrm>
            <a:off x="1636776" y="3026664"/>
            <a:ext cx="1" cy="210312"/>
          </a:xfrm>
          <a:custGeom>
            <a:avLst/>
            <a:gdLst/>
            <a:ahLst/>
            <a:cxnLst/>
            <a:rect l="l" t="t" r="r" b="b"/>
            <a:pathLst>
              <a:path w="1" h="210312" fill="none">
                <a:moveTo>
                  <a:pt x="0" y="0"/>
                </a:moveTo>
                <a:lnTo>
                  <a:pt x="0" y="210312"/>
                </a:lnTo>
              </a:path>
            </a:pathLst>
          </a:custGeom>
          <a:noFill/>
          <a:ln w="15875" cap="rnd">
            <a:solidFill>
              <a:srgbClr val="3D7FD9"/>
            </a:solidFill>
            <a:round/>
            <a:tailEnd type="triangle" w="med" len="med"/>
          </a:ln>
        </p:spPr>
      </p:sp>
      <p:sp>
        <p:nvSpPr>
          <p:cNvPr id="338" name="f_k label"/>
          <p:cNvSpPr txBox="1"/>
          <p:nvPr/>
        </p:nvSpPr>
        <p:spPr>
          <a:xfrm>
            <a:off x="1700784" y="3000946"/>
            <a:ext cx="162472" cy="2526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1">
                <a:solidFill>
                  <a:srgbClr val="3D7FD9"/>
                </a:solidFill>
                <a:latin typeface="Times New Roman"/>
                <a:cs typeface="Times New Roman"/>
              </a:rPr>
              <a:t>f</a:t>
            </a:r>
            <a:r>
              <a:rPr lang="en-US" sz="1326" b="0" i="1" baseline="-20000">
                <a:solidFill>
                  <a:srgbClr val="3D7FD9"/>
                </a:solidFill>
                <a:latin typeface="Times New Roman"/>
                <a:cs typeface="Times New Roman"/>
              </a:rPr>
              <a:t>k</a:t>
            </a:r>
          </a:p>
        </p:txBody>
      </p:sp>
      <p:sp>
        <p:nvSpPr>
          <p:cNvPr id="339" name="Z_k ~ Bern"/>
          <p:cNvSpPr txBox="1"/>
          <p:nvPr/>
        </p:nvSpPr>
        <p:spPr>
          <a:xfrm>
            <a:off x="3551772" y="2113978"/>
            <a:ext cx="1254073" cy="2526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1">
                <a:solidFill>
                  <a:srgbClr val="263040"/>
                </a:solidFill>
                <a:latin typeface="Times New Roman"/>
                <a:cs typeface="Times New Roman"/>
              </a:rPr>
              <a:t>Z</a:t>
            </a:r>
            <a:r>
              <a:rPr lang="en-US" sz="1326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7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∼ Bern(</a:t>
            </a:r>
            <a:r>
              <a:rPr lang="en-US" sz="1700" b="0" i="1">
                <a:solidFill>
                  <a:srgbClr val="263040"/>
                </a:solidFill>
                <a:latin typeface="Times New Roman"/>
                <a:cs typeface="Times New Roman"/>
              </a:rPr>
              <a:t>p</a:t>
            </a:r>
            <a:r>
              <a:rPr lang="en-US" sz="1326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700" b="0" i="0">
                <a:solidFill>
                  <a:srgbClr val="263040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340" name="p_k rule"/>
          <p:cNvSpPr txBox="1"/>
          <p:nvPr/>
        </p:nvSpPr>
        <p:spPr>
          <a:xfrm>
            <a:off x="4956048" y="2020824"/>
            <a:ext cx="1790614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p</a:t>
            </a:r>
            <a:r>
              <a:rPr lang="en-US" sz="1170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∝ predicted residual</a:t>
            </a:r>
          </a:p>
        </p:txBody>
      </p:sp>
      <p:sp>
        <p:nvSpPr>
          <p:cNvPr id="341" name="Z_k = 0"/>
          <p:cNvSpPr txBox="1"/>
          <p:nvPr/>
        </p:nvSpPr>
        <p:spPr>
          <a:xfrm>
            <a:off x="4956048" y="2240280"/>
            <a:ext cx="1782035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Z</a:t>
            </a:r>
            <a:r>
              <a:rPr lang="en-US" sz="1170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= 0: keep anchor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m</a:t>
            </a:r>
            <a:r>
              <a:rPr lang="en-US" sz="1170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</a:p>
        </p:txBody>
      </p:sp>
      <p:sp>
        <p:nvSpPr>
          <p:cNvPr id="342" name="M = 2"/>
          <p:cNvSpPr txBox="1"/>
          <p:nvPr/>
        </p:nvSpPr>
        <p:spPr>
          <a:xfrm>
            <a:off x="3535205" y="3200146"/>
            <a:ext cx="474914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M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= 2</a:t>
            </a:r>
          </a:p>
        </p:txBody>
      </p:sp>
      <p:sp>
        <p:nvSpPr>
          <p:cNvPr id="343" name="fork result brace"/>
          <p:cNvSpPr/>
          <p:nvPr/>
        </p:nvSpPr>
        <p:spPr>
          <a:xfrm>
            <a:off x="5715000" y="2615184"/>
            <a:ext cx="137160" cy="512064"/>
          </a:xfrm>
          <a:custGeom>
            <a:avLst/>
            <a:gdLst/>
            <a:ahLst/>
            <a:cxnLst/>
            <a:rect l="l" t="t" r="r" b="b"/>
            <a:pathLst>
              <a:path w="137160" h="512064" fill="none">
                <a:moveTo>
                  <a:pt x="0" y="0"/>
                </a:moveTo>
                <a:cubicBezTo>
                  <a:pt x="91440" y="0"/>
                  <a:pt x="54864" y="256032"/>
                  <a:pt x="137160" y="256032"/>
                </a:cubicBezTo>
                <a:cubicBezTo>
                  <a:pt x="54864" y="256032"/>
                  <a:pt x="91440" y="512064"/>
                  <a:pt x="0" y="512064"/>
                </a:cubicBezTo>
              </a:path>
            </a:pathLst>
          </a:custGeom>
          <a:noFill/>
          <a:ln w="12700" cap="rnd">
            <a:solidFill>
              <a:srgbClr val="7F7F7F"/>
            </a:solidFill>
            <a:round/>
          </a:ln>
        </p:spPr>
      </p:sp>
      <p:sp>
        <p:nvSpPr>
          <p:cNvPr id="344" name="both fail"/>
          <p:cNvSpPr txBox="1"/>
          <p:nvPr/>
        </p:nvSpPr>
        <p:spPr>
          <a:xfrm>
            <a:off x="5943600" y="2512885"/>
            <a:ext cx="658433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>both fail</a:t>
            </a:r>
          </a:p>
        </p:txBody>
      </p:sp>
      <p:sp>
        <p:nvSpPr>
          <p:cNvPr id="345" name="Y5"/>
          <p:cNvSpPr txBox="1"/>
          <p:nvPr/>
        </p:nvSpPr>
        <p:spPr>
          <a:xfrm>
            <a:off x="5943600" y="2735770"/>
            <a:ext cx="560224" cy="2526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0" i="1">
                <a:solidFill>
                  <a:srgbClr val="7B68D6"/>
                </a:solidFill>
                <a:latin typeface="Times New Roman"/>
                <a:cs typeface="Times New Roman"/>
              </a:rPr>
              <a:t>Ŷ</a:t>
            </a:r>
            <a:r>
              <a:rPr lang="en-US" sz="1326" b="0" i="0" baseline="-20000">
                <a:solidFill>
                  <a:srgbClr val="7B68D6"/>
                </a:solidFill>
                <a:latin typeface="Times New Roman"/>
                <a:cs typeface="Times New Roman"/>
              </a:rPr>
              <a:t>5</a:t>
            </a:r>
            <a:r>
              <a:rPr lang="en-US" sz="1700" b="0" i="0">
                <a:solidFill>
                  <a:srgbClr val="7B68D6"/>
                </a:solidFill>
                <a:latin typeface="Times New Roman"/>
                <a:cs typeface="Times New Roman"/>
              </a:rPr>
              <a:t xml:space="preserve"> = 0</a:t>
            </a:r>
          </a:p>
        </p:txBody>
      </p:sp>
      <p:sp>
        <p:nvSpPr>
          <p:cNvPr id="346" name="continuations note"/>
          <p:cNvSpPr txBox="1"/>
          <p:nvPr/>
        </p:nvSpPr>
        <p:spPr>
          <a:xfrm>
            <a:off x="3845461" y="3575304"/>
            <a:ext cx="2605222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Forks sample from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π</a:t>
            </a:r>
            <a:r>
              <a:rPr lang="en-US" sz="1170" b="0" i="0" baseline="-20000">
                <a:solidFill>
                  <a:srgbClr val="263040"/>
                </a:solidFill>
                <a:latin typeface="Times New Roman"/>
                <a:cs typeface="Times New Roman"/>
              </a:rPr>
              <a:t>old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without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c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>;</a:t>
            </a:r>
          </a:p>
        </p:txBody>
      </p:sp>
      <p:sp>
        <p:nvSpPr>
          <p:cNvPr id="347" name="no gradients"/>
          <p:cNvSpPr txBox="1"/>
          <p:nvPr/>
        </p:nvSpPr>
        <p:spPr>
          <a:xfrm>
            <a:off x="3914120" y="3803904"/>
            <a:ext cx="2467904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D4544A"/>
                </a:solidFill>
                <a:latin typeface="Times New Roman"/>
                <a:cs typeface="Times New Roman"/>
              </a:rPr>
              <a:t>no gradients flow through them.</a:t>
            </a:r>
          </a:p>
        </p:txBody>
      </p:sp>
      <p:sp>
        <p:nvSpPr>
          <p:cNvPr id="348" name="anchor"/>
          <p:cNvSpPr txBox="1"/>
          <p:nvPr/>
        </p:nvSpPr>
        <p:spPr>
          <a:xfrm>
            <a:off x="7412558" y="2029968"/>
            <a:ext cx="2109572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anchor  </a:t>
            </a:r>
            <a:r>
              <a:rPr lang="en-US" sz="1600" b="0" i="1">
                <a:solidFill>
                  <a:srgbClr val="263040"/>
                </a:solidFill>
                <a:latin typeface="Times New Roman"/>
                <a:cs typeface="Times New Roman"/>
              </a:rPr>
              <a:t>m</a:t>
            </a:r>
            <a:r>
              <a:rPr lang="en-US" sz="1248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= </a:t>
            </a:r>
            <a:r>
              <a:rPr lang="en-US" sz="1600" b="0" i="1">
                <a:solidFill>
                  <a:srgbClr val="263040"/>
                </a:solidFill>
                <a:latin typeface="Times New Roman"/>
                <a:cs typeface="Times New Roman"/>
              </a:rPr>
              <a:t>b</a:t>
            </a: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+ </a:t>
            </a:r>
            <a:r>
              <a:rPr lang="en-US" sz="1600" b="0" i="1">
                <a:solidFill>
                  <a:srgbClr val="263040"/>
                </a:solidFill>
                <a:latin typeface="Times New Roman"/>
                <a:cs typeface="Times New Roman"/>
              </a:rPr>
              <a:t>λ</a:t>
            </a: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>(</a:t>
            </a:r>
            <a:r>
              <a:rPr lang="en-US" sz="1600" b="0" i="1">
                <a:solidFill>
                  <a:srgbClr val="263040"/>
                </a:solidFill>
                <a:latin typeface="Times New Roman"/>
                <a:cs typeface="Times New Roman"/>
              </a:rPr>
              <a:t>f</a:t>
            </a:r>
            <a:r>
              <a:rPr lang="en-US" sz="1248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− </a:t>
            </a:r>
            <a:r>
              <a:rPr lang="en-US" sz="1600" b="0" i="1">
                <a:solidFill>
                  <a:srgbClr val="263040"/>
                </a:solidFill>
                <a:latin typeface="Times New Roman"/>
                <a:cs typeface="Times New Roman"/>
              </a:rPr>
              <a:t>b</a:t>
            </a: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349" name="f to equation"/>
          <p:cNvSpPr/>
          <p:nvPr/>
        </p:nvSpPr>
        <p:spPr>
          <a:xfrm>
            <a:off x="7434072" y="2523744"/>
            <a:ext cx="182880" cy="1"/>
          </a:xfrm>
          <a:custGeom>
            <a:avLst/>
            <a:gdLst/>
            <a:ahLst/>
            <a:cxnLst/>
            <a:rect l="l" t="t" r="r" b="b"/>
            <a:pathLst>
              <a:path w="182880" h="1" fill="none">
                <a:moveTo>
                  <a:pt x="0" y="0"/>
                </a:moveTo>
                <a:lnTo>
                  <a:pt x="182880" y="0"/>
                </a:lnTo>
              </a:path>
            </a:pathLst>
          </a:custGeom>
          <a:noFill/>
          <a:ln w="19050" cap="rnd">
            <a:solidFill>
              <a:srgbClr val="3D7FD9"/>
            </a:solidFill>
            <a:round/>
            <a:tailEnd type="triangle" w="med" len="med"/>
          </a:ln>
        </p:spPr>
      </p:sp>
      <p:sp>
        <p:nvSpPr>
          <p:cNvPr id="350" name="Y to equation"/>
          <p:cNvSpPr/>
          <p:nvPr/>
        </p:nvSpPr>
        <p:spPr>
          <a:xfrm>
            <a:off x="7452360" y="2871216"/>
            <a:ext cx="164592" cy="1"/>
          </a:xfrm>
          <a:custGeom>
            <a:avLst/>
            <a:gdLst/>
            <a:ahLst/>
            <a:cxnLst/>
            <a:rect l="l" t="t" r="r" b="b"/>
            <a:pathLst>
              <a:path w="164592" h="1" fill="none">
                <a:moveTo>
                  <a:pt x="0" y="0"/>
                </a:moveTo>
                <a:lnTo>
                  <a:pt x="164592" y="0"/>
                </a:lnTo>
              </a:path>
            </a:pathLst>
          </a:custGeom>
          <a:noFill/>
          <a:ln w="19050" cap="rnd">
            <a:solidFill>
              <a:srgbClr val="7B68D6"/>
            </a:solidFill>
            <a:round/>
            <a:tailEnd type="triangle" w="med" len="med"/>
          </a:ln>
        </p:spPr>
      </p:sp>
      <p:sp>
        <p:nvSpPr>
          <p:cNvPr id="351" name="boundary values"/>
          <p:cNvSpPr txBox="1"/>
          <p:nvPr/>
        </p:nvSpPr>
        <p:spPr>
          <a:xfrm>
            <a:off x="7806562" y="3090672"/>
            <a:ext cx="1321565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1">
                <a:solidFill>
                  <a:srgbClr val="263040"/>
                </a:solidFill>
                <a:latin typeface="Times New Roman"/>
                <a:cs typeface="Times New Roman"/>
              </a:rPr>
              <a:t>Ṽ</a:t>
            </a:r>
            <a:r>
              <a:rPr lang="en-US" sz="1248" b="0" i="0" baseline="-20000">
                <a:solidFill>
                  <a:srgbClr val="263040"/>
                </a:solidFill>
                <a:latin typeface="Times New Roman"/>
                <a:cs typeface="Times New Roman"/>
              </a:rPr>
              <a:t>0</a:t>
            </a: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= </a:t>
            </a:r>
            <a:r>
              <a:rPr lang="en-US" sz="1600" b="0" i="1">
                <a:solidFill>
                  <a:srgbClr val="263040"/>
                </a:solidFill>
                <a:latin typeface="Times New Roman"/>
                <a:cs typeface="Times New Roman"/>
              </a:rPr>
              <a:t>b</a:t>
            </a: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,   </a:t>
            </a:r>
            <a:r>
              <a:rPr lang="en-US" sz="1600" b="0" i="1">
                <a:solidFill>
                  <a:srgbClr val="263040"/>
                </a:solidFill>
                <a:latin typeface="Times New Roman"/>
                <a:cs typeface="Times New Roman"/>
              </a:rPr>
              <a:t>Ṽ</a:t>
            </a:r>
            <a:r>
              <a:rPr lang="en-US" sz="1248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= </a:t>
            </a:r>
            <a:r>
              <a:rPr lang="en-US" sz="1600" b="0" i="1">
                <a:solidFill>
                  <a:srgbClr val="263040"/>
                </a:solidFill>
                <a:latin typeface="Times New Roman"/>
                <a:cs typeface="Times New Roman"/>
              </a:rPr>
              <a:t>R</a:t>
            </a:r>
          </a:p>
        </p:txBody>
      </p:sp>
      <p:sp>
        <p:nvSpPr>
          <p:cNvPr id="352" name="segment credit"/>
          <p:cNvSpPr txBox="1"/>
          <p:nvPr/>
        </p:nvSpPr>
        <p:spPr>
          <a:xfrm>
            <a:off x="7196123" y="3346704"/>
            <a:ext cx="2542443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1">
                <a:solidFill>
                  <a:srgbClr val="263040"/>
                </a:solidFill>
                <a:latin typeface="Times New Roman"/>
                <a:cs typeface="Times New Roman"/>
              </a:rPr>
              <a:t>Â</a:t>
            </a:r>
            <a:r>
              <a:rPr lang="en-US" sz="1248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= </a:t>
            </a:r>
            <a:r>
              <a:rPr lang="en-US" sz="1600" b="0" i="1">
                <a:solidFill>
                  <a:srgbClr val="263040"/>
                </a:solidFill>
                <a:latin typeface="Times New Roman"/>
                <a:cs typeface="Times New Roman"/>
              </a:rPr>
              <a:t>Ṽ</a:t>
            </a:r>
            <a:r>
              <a:rPr lang="en-US" sz="1248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− </a:t>
            </a:r>
            <a:r>
              <a:rPr lang="en-US" sz="1600" b="0" i="1">
                <a:solidFill>
                  <a:srgbClr val="263040"/>
                </a:solidFill>
                <a:latin typeface="Times New Roman"/>
                <a:cs typeface="Times New Roman"/>
              </a:rPr>
              <a:t>Ṽ</a:t>
            </a:r>
            <a:r>
              <a:rPr lang="en-US" sz="1248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k−1</a:t>
            </a: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>,   Σ</a:t>
            </a:r>
            <a:r>
              <a:rPr lang="en-US" sz="1248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</a:t>
            </a:r>
            <a:r>
              <a:rPr lang="en-US" sz="1600" b="0" i="1">
                <a:solidFill>
                  <a:srgbClr val="263040"/>
                </a:solidFill>
                <a:latin typeface="Times New Roman"/>
                <a:cs typeface="Times New Roman"/>
              </a:rPr>
              <a:t>Â</a:t>
            </a:r>
            <a:r>
              <a:rPr lang="en-US" sz="1248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= </a:t>
            </a:r>
            <a:r>
              <a:rPr lang="en-US" sz="1600" b="0" i="1">
                <a:solidFill>
                  <a:srgbClr val="263040"/>
                </a:solidFill>
                <a:latin typeface="Times New Roman"/>
                <a:cs typeface="Times New Roman"/>
              </a:rPr>
              <a:t>R</a:t>
            </a: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− </a:t>
            </a:r>
            <a:r>
              <a:rPr lang="en-US" sz="1600" b="0" i="1">
                <a:solidFill>
                  <a:srgbClr val="263040"/>
                </a:solidFill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353" name="unbiased 1"/>
          <p:cNvSpPr txBox="1"/>
          <p:nvPr/>
        </p:nvSpPr>
        <p:spPr>
          <a:xfrm>
            <a:off x="7320748" y="3666744"/>
            <a:ext cx="2293191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Unbiased for any predictor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f</a:t>
            </a:r>
            <a:r>
              <a:rPr lang="en-US" sz="1170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354" name="unbiased 2"/>
          <p:cNvSpPr txBox="1"/>
          <p:nvPr/>
        </p:nvSpPr>
        <p:spPr>
          <a:xfrm>
            <a:off x="7278386" y="3877056"/>
            <a:ext cx="2377916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>E[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Ṽ</a:t>
            </a:r>
            <a:r>
              <a:rPr lang="en-US" sz="1170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] =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V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>(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s</a:t>
            </a:r>
            <a:r>
              <a:rPr lang="en-US" sz="1170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), 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= 1, …,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− 1</a:t>
            </a:r>
          </a:p>
        </p:txBody>
      </p:sp>
      <p:sp>
        <p:nvSpPr>
          <p:cNvPr id="355" name="token credit 1"/>
          <p:cNvSpPr txBox="1"/>
          <p:nvPr/>
        </p:nvSpPr>
        <p:spPr>
          <a:xfrm>
            <a:off x="10208859" y="1453896"/>
            <a:ext cx="1536609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tokens of segment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</a:p>
        </p:txBody>
      </p:sp>
      <p:sp>
        <p:nvSpPr>
          <p:cNvPr id="356" name="token credit 2"/>
          <p:cNvSpPr txBox="1"/>
          <p:nvPr/>
        </p:nvSpPr>
        <p:spPr>
          <a:xfrm>
            <a:off x="10605695" y="1664208"/>
            <a:ext cx="1139773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share credit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Â</a:t>
            </a:r>
            <a:r>
              <a:rPr lang="en-US" sz="1170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k</a:t>
            </a:r>
          </a:p>
        </p:txBody>
      </p:sp>
      <p:sp>
        <p:nvSpPr>
          <p:cNvPr id="357" name="DAPO 1"/>
          <p:cNvSpPr txBox="1"/>
          <p:nvPr/>
        </p:nvSpPr>
        <p:spPr>
          <a:xfrm>
            <a:off x="10467745" y="2889504"/>
            <a:ext cx="1220422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>DAPO clipped</a:t>
            </a:r>
          </a:p>
        </p:txBody>
      </p:sp>
      <p:sp>
        <p:nvSpPr>
          <p:cNvPr id="358" name="DAPO 2"/>
          <p:cNvSpPr txBox="1"/>
          <p:nvPr/>
        </p:nvSpPr>
        <p:spPr>
          <a:xfrm>
            <a:off x="10690789" y="3127248"/>
            <a:ext cx="774335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 i="0">
                <a:solidFill>
                  <a:srgbClr val="263040"/>
                </a:solidFill>
                <a:latin typeface="Times New Roman"/>
                <a:cs typeface="Times New Roman"/>
              </a:rPr>
              <a:t>surrogate</a:t>
            </a:r>
          </a:p>
        </p:txBody>
      </p:sp>
      <p:sp>
        <p:nvSpPr>
          <p:cNvPr id="359" name="updated policy"/>
          <p:cNvSpPr txBox="1"/>
          <p:nvPr/>
        </p:nvSpPr>
        <p:spPr>
          <a:xfrm>
            <a:off x="10651646" y="3695890"/>
            <a:ext cx="1675579" cy="2526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700" b="1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Updated policy </a:t>
            </a:r>
            <a:r>
              <a:rPr lang="en-US" sz="1700" b="1" i="1">
                <a:solidFill>
                  <a:srgbClr val="263040"/>
                </a:solidFill>
                <a:latin typeface="Times New Roman"/>
                <a:cs typeface="Times New Roman"/>
              </a:rPr>
              <a:t>π</a:t>
            </a:r>
            <a:r>
              <a:rPr lang="en-US" sz="1326" b="1" i="1" baseline="-20000">
                <a:solidFill>
                  <a:srgbClr val="263040"/>
                </a:solidFill>
                <a:latin typeface="Times New Roman"/>
                <a:cs typeface="Times New Roman"/>
              </a:rPr>
              <a:t>θ</a:t>
            </a:r>
          </a:p>
        </p:txBody>
      </p:sp>
      <p:sp>
        <p:nvSpPr>
          <p:cNvPr id="360" name="cross-fit loop"/>
          <p:cNvSpPr/>
          <p:nvPr/>
        </p:nvSpPr>
        <p:spPr>
          <a:xfrm>
            <a:off x="1677924" y="4206240"/>
            <a:ext cx="9811512" cy="219456"/>
          </a:xfrm>
          <a:custGeom>
            <a:avLst/>
            <a:gdLst/>
            <a:ahLst/>
            <a:cxnLst/>
            <a:rect l="l" t="t" r="r" b="b"/>
            <a:pathLst>
              <a:path w="9811512" h="219456" fill="none">
                <a:moveTo>
                  <a:pt x="9811512" y="0"/>
                </a:moveTo>
                <a:lnTo>
                  <a:pt x="9811512" y="219456"/>
                </a:lnTo>
                <a:lnTo>
                  <a:pt x="0" y="219456"/>
                </a:lnTo>
                <a:lnTo>
                  <a:pt x="0" y="9144"/>
                </a:lnTo>
              </a:path>
            </a:pathLst>
          </a:custGeom>
          <a:noFill/>
          <a:ln w="15875" cap="rnd">
            <a:solidFill>
              <a:srgbClr val="7B68D6"/>
            </a:solidFill>
            <a:prstDash val="dash"/>
            <a:round/>
            <a:tailEnd type="triangle" w="med" len="med"/>
          </a:ln>
        </p:spPr>
      </p:sp>
      <p:sp>
        <p:nvSpPr>
          <p:cNvPr id="361" name="cross-fit box"/>
          <p:cNvSpPr/>
          <p:nvPr/>
        </p:nvSpPr>
        <p:spPr>
          <a:xfrm>
            <a:off x="4727392" y="4270248"/>
            <a:ext cx="3822304" cy="310896"/>
          </a:xfrm>
          <a:prstGeom prst="roundRect">
            <a:avLst>
              <a:gd name="adj" fmla="val 30000"/>
            </a:avLst>
          </a:prstGeom>
          <a:solidFill>
            <a:srgbClr val="F7F5FE"/>
          </a:solidFill>
          <a:ln w="12700" cap="rnd">
            <a:solidFill>
              <a:srgbClr val="7B68D6"/>
            </a:solidFill>
            <a:prstDash val="dash"/>
            <a:round/>
          </a:ln>
        </p:spPr>
      </p:sp>
      <p:sp>
        <p:nvSpPr>
          <p:cNvPr id="362" name="cross-fit text"/>
          <p:cNvSpPr txBox="1"/>
          <p:nvPr/>
        </p:nvSpPr>
        <p:spPr>
          <a:xfrm>
            <a:off x="4846264" y="4314254"/>
            <a:ext cx="3584560" cy="22288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Other fold + replay: fit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g</a:t>
            </a:r>
            <a:r>
              <a:rPr lang="en-US" sz="1170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ϕ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,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h</a:t>
            </a:r>
            <a:r>
              <a:rPr lang="en-US" sz="1170" b="0" i="1" baseline="-20000">
                <a:solidFill>
                  <a:srgbClr val="263040"/>
                </a:solidFill>
                <a:latin typeface="Times New Roman"/>
                <a:cs typeface="Times New Roman"/>
              </a:rPr>
              <a:t>ψ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,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λ</a:t>
            </a:r>
            <a:r>
              <a:rPr lang="en-US" sz="1500" b="0" i="0">
                <a:solidFill>
                  <a:srgbClr val="263040"/>
                </a:solidFill>
                <a:latin typeface="Times New Roman"/>
                <a:cs typeface="Times New Roman"/>
              </a:rPr>
              <a:t xml:space="preserve"> and estimate </a:t>
            </a:r>
            <a:r>
              <a:rPr lang="en-US" sz="1500" b="0" i="1">
                <a:solidFill>
                  <a:srgbClr val="263040"/>
                </a:solidFill>
                <a:latin typeface="Times New Roman"/>
                <a:cs typeface="Times New Roman"/>
              </a:rPr>
              <a:t>η</a:t>
            </a:r>
          </a:p>
        </p:txBody>
      </p:sp>
      <p:sp>
        <p:nvSpPr>
          <p:cNvPr id="363" name="verified mean to rectifier"/>
          <p:cNvSpPr/>
          <p:nvPr/>
        </p:nvSpPr>
        <p:spPr>
          <a:xfrm>
            <a:off x="6547104" y="2862072"/>
            <a:ext cx="576072" cy="1"/>
          </a:xfrm>
          <a:custGeom>
            <a:avLst/>
            <a:gdLst/>
            <a:ahLst/>
            <a:cxnLst/>
            <a:rect l="l" t="t" r="r" b="b"/>
            <a:pathLst>
              <a:path w="576072" h="1" fill="none">
                <a:moveTo>
                  <a:pt x="0" y="0"/>
                </a:moveTo>
                <a:lnTo>
                  <a:pt x="576072" y="0"/>
                </a:lnTo>
              </a:path>
            </a:pathLst>
          </a:custGeom>
          <a:noFill/>
          <a:ln w="19050" cap="rnd">
            <a:solidFill>
              <a:srgbClr val="7B68D6"/>
            </a:solidFill>
            <a:round/>
            <a:tailEnd type="triangle" w="med" len="med"/>
          </a:ln>
        </p:spPr>
      </p:sp>
      <p:sp>
        <p:nvSpPr>
          <p:cNvPr id="364" name="reward badge"/>
          <p:cNvSpPr/>
          <p:nvPr/>
        </p:nvSpPr>
        <p:spPr>
          <a:xfrm>
            <a:off x="7983982" y="822960"/>
            <a:ext cx="512064" cy="246888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2700" cap="rnd">
            <a:solidFill>
              <a:srgbClr val="E06C5F"/>
            </a:solidFill>
            <a:round/>
          </a:ln>
        </p:spPr>
      </p:sp>
      <p:sp>
        <p:nvSpPr>
          <p:cNvPr id="365" name="reward"/>
          <p:cNvSpPr txBox="1"/>
          <p:nvPr/>
        </p:nvSpPr>
        <p:spPr>
          <a:xfrm>
            <a:off x="8003608" y="827532"/>
            <a:ext cx="472811" cy="2377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i="1">
                <a:solidFill>
                  <a:srgbClr val="D4544A"/>
                </a:solidFill>
                <a:latin typeface="Times New Roman"/>
                <a:cs typeface="Times New Roman"/>
              </a:rPr>
              <a:t>R</a:t>
            </a:r>
            <a:r>
              <a:rPr lang="en-US" sz="1600" b="1" i="0">
                <a:solidFill>
                  <a:srgbClr val="D4544A"/>
                </a:solidFill>
                <a:latin typeface="Times New Roman"/>
                <a:cs typeface="Times New Roman"/>
              </a:rPr>
              <a:t xml:space="preserve"> = 0</a:t>
            </a:r>
          </a:p>
        </p:txBody>
      </p:sp>
      <p:sp>
        <p:nvSpPr>
          <p:cNvPr id="366" name="wrong turn pointer"/>
          <p:cNvSpPr/>
          <p:nvPr/>
        </p:nvSpPr>
        <p:spPr>
          <a:xfrm>
            <a:off x="6570980" y="603504"/>
            <a:ext cx="1" cy="116332"/>
          </a:xfrm>
          <a:custGeom>
            <a:avLst/>
            <a:gdLst/>
            <a:ahLst/>
            <a:cxnLst/>
            <a:rect l="l" t="t" r="r" b="b"/>
            <a:pathLst>
              <a:path w="1" h="116332" fill="none">
                <a:moveTo>
                  <a:pt x="0" y="0"/>
                </a:moveTo>
                <a:lnTo>
                  <a:pt x="0" y="116332"/>
                </a:lnTo>
              </a:path>
            </a:pathLst>
          </a:custGeom>
          <a:noFill/>
          <a:ln w="15875" cap="rnd">
            <a:solidFill>
              <a:srgbClr val="D4544A"/>
            </a:solidFill>
            <a:round/>
            <a:tailEnd type="triangle" w="med" len="med"/>
          </a:ln>
        </p:spPr>
      </p:sp>
      <p:sp>
        <p:nvSpPr>
          <p:cNvPr id="367" name="250 path"/>
          <p:cNvSpPr/>
          <p:nvPr/>
        </p:nvSpPr>
        <p:spPr>
          <a:xfrm>
            <a:off x="6770497" y="1408176"/>
            <a:ext cx="128016" cy="192024"/>
          </a:xfrm>
          <a:custGeom>
            <a:avLst/>
            <a:gdLst/>
            <a:ahLst/>
            <a:cxnLst/>
            <a:rect l="l" t="t" r="r" b="b"/>
            <a:pathLst>
              <a:path w="19000" h="33000" fill="norm" stroke="1">
                <a:moveTo>
                  <a:pt x="5000" y="0"/>
                </a:moveTo>
                <a:lnTo>
                  <a:pt x="13000" y="0"/>
                </a:lnTo>
                <a:lnTo>
                  <a:pt x="13000" y="20000"/>
                </a:lnTo>
                <a:lnTo>
                  <a:pt x="19000" y="20000"/>
                </a:lnTo>
                <a:lnTo>
                  <a:pt x="9000" y="33000"/>
                </a:lnTo>
                <a:lnTo>
                  <a:pt x="0" y="20000"/>
                </a:lnTo>
                <a:lnTo>
                  <a:pt x="5000" y="20000"/>
                </a:lnTo>
                <a:close/>
              </a:path>
            </a:pathLst>
          </a:custGeom>
          <a:solidFill>
            <a:srgbClr val="BCD6F5"/>
          </a:solidFill>
          <a:ln w="8890">
            <a:solidFill>
              <a:srgbClr val="6F9B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ibbon: credit to update"/>
          <p:cNvSpPr/>
          <p:nvPr/>
        </p:nvSpPr>
        <p:spPr>
          <a:xfrm>
            <a:off x="9820656" y="2990088"/>
            <a:ext cx="384048" cy="256032"/>
          </a:xfrm>
          <a:custGeom>
            <a:avLst/>
            <a:gdLst/>
            <a:ahLst/>
            <a:cxnLst/>
            <a:rect l="l" t="t" r="r" b="b"/>
            <a:pathLst>
              <a:path w="384048" h="256032" fill="norm">
                <a:moveTo>
                  <a:pt x="0" y="187452"/>
                </a:moveTo>
                <a:lnTo>
                  <a:pt x="5517" y="187452"/>
                </a:lnTo>
                <a:lnTo>
                  <a:pt x="11093" y="187452"/>
                </a:lnTo>
                <a:lnTo>
                  <a:pt x="16727" y="187452"/>
                </a:lnTo>
                <a:lnTo>
                  <a:pt x="22417" y="187452"/>
                </a:lnTo>
                <a:lnTo>
                  <a:pt x="28162" y="187452"/>
                </a:lnTo>
                <a:lnTo>
                  <a:pt x="33961" y="187452"/>
                </a:lnTo>
                <a:lnTo>
                  <a:pt x="39811" y="187452"/>
                </a:lnTo>
                <a:lnTo>
                  <a:pt x="45712" y="187452"/>
                </a:lnTo>
                <a:lnTo>
                  <a:pt x="51661" y="187452"/>
                </a:lnTo>
                <a:lnTo>
                  <a:pt x="57658" y="187452"/>
                </a:lnTo>
                <a:lnTo>
                  <a:pt x="63700" y="187452"/>
                </a:lnTo>
                <a:lnTo>
                  <a:pt x="69787" y="187452"/>
                </a:lnTo>
                <a:lnTo>
                  <a:pt x="75916" y="187452"/>
                </a:lnTo>
                <a:lnTo>
                  <a:pt x="82087" y="187452"/>
                </a:lnTo>
                <a:lnTo>
                  <a:pt x="88297" y="187452"/>
                </a:lnTo>
                <a:lnTo>
                  <a:pt x="94545" y="187452"/>
                </a:lnTo>
                <a:lnTo>
                  <a:pt x="100830" y="187452"/>
                </a:lnTo>
                <a:lnTo>
                  <a:pt x="107149" y="187452"/>
                </a:lnTo>
                <a:lnTo>
                  <a:pt x="113503" y="187452"/>
                </a:lnTo>
                <a:lnTo>
                  <a:pt x="119888" y="187452"/>
                </a:lnTo>
                <a:lnTo>
                  <a:pt x="126304" y="187452"/>
                </a:lnTo>
                <a:lnTo>
                  <a:pt x="132749" y="187452"/>
                </a:lnTo>
                <a:lnTo>
                  <a:pt x="139221" y="187452"/>
                </a:lnTo>
                <a:lnTo>
                  <a:pt x="145719" y="187452"/>
                </a:lnTo>
                <a:lnTo>
                  <a:pt x="152241" y="187452"/>
                </a:lnTo>
                <a:lnTo>
                  <a:pt x="158787" y="187452"/>
                </a:lnTo>
                <a:lnTo>
                  <a:pt x="165353" y="187452"/>
                </a:lnTo>
                <a:lnTo>
                  <a:pt x="171940" y="187452"/>
                </a:lnTo>
                <a:lnTo>
                  <a:pt x="178544" y="187452"/>
                </a:lnTo>
                <a:lnTo>
                  <a:pt x="185166" y="187452"/>
                </a:lnTo>
                <a:lnTo>
                  <a:pt x="191803" y="187452"/>
                </a:lnTo>
                <a:lnTo>
                  <a:pt x="198453" y="187452"/>
                </a:lnTo>
                <a:lnTo>
                  <a:pt x="205116" y="187452"/>
                </a:lnTo>
                <a:lnTo>
                  <a:pt x="211789" y="187452"/>
                </a:lnTo>
                <a:lnTo>
                  <a:pt x="218472" y="187452"/>
                </a:lnTo>
                <a:lnTo>
                  <a:pt x="225162" y="187452"/>
                </a:lnTo>
                <a:lnTo>
                  <a:pt x="231858" y="187452"/>
                </a:lnTo>
                <a:lnTo>
                  <a:pt x="238559" y="187452"/>
                </a:lnTo>
                <a:lnTo>
                  <a:pt x="238559" y="256032"/>
                </a:lnTo>
                <a:lnTo>
                  <a:pt x="384048" y="128016"/>
                </a:lnTo>
                <a:lnTo>
                  <a:pt x="238559" y="0"/>
                </a:lnTo>
                <a:lnTo>
                  <a:pt x="238559" y="68580"/>
                </a:lnTo>
                <a:lnTo>
                  <a:pt x="231858" y="68580"/>
                </a:lnTo>
                <a:lnTo>
                  <a:pt x="225162" y="68580"/>
                </a:lnTo>
                <a:lnTo>
                  <a:pt x="218472" y="68580"/>
                </a:lnTo>
                <a:lnTo>
                  <a:pt x="211789" y="68580"/>
                </a:lnTo>
                <a:lnTo>
                  <a:pt x="205116" y="68580"/>
                </a:lnTo>
                <a:lnTo>
                  <a:pt x="198453" y="68580"/>
                </a:lnTo>
                <a:lnTo>
                  <a:pt x="191803" y="68580"/>
                </a:lnTo>
                <a:lnTo>
                  <a:pt x="185166" y="68580"/>
                </a:lnTo>
                <a:lnTo>
                  <a:pt x="178544" y="68580"/>
                </a:lnTo>
                <a:lnTo>
                  <a:pt x="171940" y="68580"/>
                </a:lnTo>
                <a:lnTo>
                  <a:pt x="165353" y="68580"/>
                </a:lnTo>
                <a:lnTo>
                  <a:pt x="158787" y="68580"/>
                </a:lnTo>
                <a:lnTo>
                  <a:pt x="152241" y="68580"/>
                </a:lnTo>
                <a:lnTo>
                  <a:pt x="145719" y="68580"/>
                </a:lnTo>
                <a:lnTo>
                  <a:pt x="139221" y="68580"/>
                </a:lnTo>
                <a:lnTo>
                  <a:pt x="132749" y="68580"/>
                </a:lnTo>
                <a:lnTo>
                  <a:pt x="126304" y="68580"/>
                </a:lnTo>
                <a:lnTo>
                  <a:pt x="119888" y="68580"/>
                </a:lnTo>
                <a:lnTo>
                  <a:pt x="113503" y="68580"/>
                </a:lnTo>
                <a:lnTo>
                  <a:pt x="107149" y="68580"/>
                </a:lnTo>
                <a:lnTo>
                  <a:pt x="100830" y="68580"/>
                </a:lnTo>
                <a:lnTo>
                  <a:pt x="94545" y="68580"/>
                </a:lnTo>
                <a:lnTo>
                  <a:pt x="88297" y="68580"/>
                </a:lnTo>
                <a:lnTo>
                  <a:pt x="82087" y="68580"/>
                </a:lnTo>
                <a:lnTo>
                  <a:pt x="75916" y="68580"/>
                </a:lnTo>
                <a:lnTo>
                  <a:pt x="69787" y="68580"/>
                </a:lnTo>
                <a:lnTo>
                  <a:pt x="63700" y="68580"/>
                </a:lnTo>
                <a:lnTo>
                  <a:pt x="57658" y="68580"/>
                </a:lnTo>
                <a:lnTo>
                  <a:pt x="51661" y="68580"/>
                </a:lnTo>
                <a:lnTo>
                  <a:pt x="45712" y="68580"/>
                </a:lnTo>
                <a:lnTo>
                  <a:pt x="39811" y="68580"/>
                </a:lnTo>
                <a:lnTo>
                  <a:pt x="33961" y="68580"/>
                </a:lnTo>
                <a:lnTo>
                  <a:pt x="28162" y="68580"/>
                </a:lnTo>
                <a:lnTo>
                  <a:pt x="22417" y="68580"/>
                </a:lnTo>
                <a:lnTo>
                  <a:pt x="16727" y="68580"/>
                </a:lnTo>
                <a:lnTo>
                  <a:pt x="11093" y="68580"/>
                </a:lnTo>
                <a:lnTo>
                  <a:pt x="5517" y="68580"/>
                </a:lnTo>
                <a:lnTo>
                  <a:pt x="0" y="68580"/>
                </a:lnTo>
                <a:close/>
              </a:path>
            </a:pathLst>
          </a:custGeom>
          <a:solidFill>
            <a:srgbClr val="FDE6D2"/>
          </a:solidFill>
          <a:ln w="9525" cap="rnd">
            <a:solidFill>
              <a:srgbClr val="E39A6A"/>
            </a:solidFill>
            <a:round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003 path"/>
          <p:cNvSpPr/>
          <p:nvPr/>
        </p:nvSpPr>
        <p:spPr>
          <a:xfrm>
            <a:off x="1801368" y="301815"/>
            <a:ext cx="63" cy="2190750"/>
          </a:xfrm>
          <a:custGeom>
            <a:avLst/>
            <a:gdLst/>
            <a:ahLst/>
            <a:cxnLst/>
            <a:rect l="l" t="t" r="r" b="b"/>
            <a:pathLst>
              <a:path w="10" h="345000" fill="none" stroke="1">
                <a:moveTo>
                  <a:pt x="0" y="0"/>
                </a:moveTo>
                <a:lnTo>
                  <a:pt x="0" y="34500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004 path"/>
          <p:cNvSpPr/>
          <p:nvPr/>
        </p:nvSpPr>
        <p:spPr>
          <a:xfrm>
            <a:off x="2624328" y="301815"/>
            <a:ext cx="63" cy="2190750"/>
          </a:xfrm>
          <a:custGeom>
            <a:avLst/>
            <a:gdLst/>
            <a:ahLst/>
            <a:cxnLst/>
            <a:rect l="l" t="t" r="r" b="b"/>
            <a:pathLst>
              <a:path w="10" h="345000" fill="none" stroke="1">
                <a:moveTo>
                  <a:pt x="0" y="0"/>
                </a:moveTo>
                <a:lnTo>
                  <a:pt x="0" y="34500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005 path"/>
          <p:cNvSpPr/>
          <p:nvPr/>
        </p:nvSpPr>
        <p:spPr>
          <a:xfrm>
            <a:off x="3447288" y="301815"/>
            <a:ext cx="63" cy="2190750"/>
          </a:xfrm>
          <a:custGeom>
            <a:avLst/>
            <a:gdLst/>
            <a:ahLst/>
            <a:cxnLst/>
            <a:rect l="l" t="t" r="r" b="b"/>
            <a:pathLst>
              <a:path w="10" h="345000" fill="none" stroke="1">
                <a:moveTo>
                  <a:pt x="0" y="0"/>
                </a:moveTo>
                <a:lnTo>
                  <a:pt x="0" y="34500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006 path"/>
          <p:cNvSpPr/>
          <p:nvPr/>
        </p:nvSpPr>
        <p:spPr>
          <a:xfrm>
            <a:off x="4270248" y="301815"/>
            <a:ext cx="63" cy="2190750"/>
          </a:xfrm>
          <a:custGeom>
            <a:avLst/>
            <a:gdLst/>
            <a:ahLst/>
            <a:cxnLst/>
            <a:rect l="l" t="t" r="r" b="b"/>
            <a:pathLst>
              <a:path w="10" h="345000" fill="none" stroke="1">
                <a:moveTo>
                  <a:pt x="0" y="0"/>
                </a:moveTo>
                <a:lnTo>
                  <a:pt x="0" y="34500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007 path"/>
          <p:cNvSpPr/>
          <p:nvPr/>
        </p:nvSpPr>
        <p:spPr>
          <a:xfrm>
            <a:off x="5102352" y="301815"/>
            <a:ext cx="63" cy="2190750"/>
          </a:xfrm>
          <a:custGeom>
            <a:avLst/>
            <a:gdLst/>
            <a:ahLst/>
            <a:cxnLst/>
            <a:rect l="l" t="t" r="r" b="b"/>
            <a:pathLst>
              <a:path w="10" h="345000" fill="none" stroke="1">
                <a:moveTo>
                  <a:pt x="0" y="0"/>
                </a:moveTo>
                <a:lnTo>
                  <a:pt x="0" y="34500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008 path"/>
          <p:cNvSpPr/>
          <p:nvPr/>
        </p:nvSpPr>
        <p:spPr>
          <a:xfrm>
            <a:off x="5925312" y="301815"/>
            <a:ext cx="63" cy="2190750"/>
          </a:xfrm>
          <a:custGeom>
            <a:avLst/>
            <a:gdLst/>
            <a:ahLst/>
            <a:cxnLst/>
            <a:rect l="l" t="t" r="r" b="b"/>
            <a:pathLst>
              <a:path w="10" h="345000" fill="none" stroke="1">
                <a:moveTo>
                  <a:pt x="0" y="0"/>
                </a:moveTo>
                <a:lnTo>
                  <a:pt x="0" y="34500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009 path"/>
          <p:cNvSpPr/>
          <p:nvPr/>
        </p:nvSpPr>
        <p:spPr>
          <a:xfrm>
            <a:off x="6748272" y="301815"/>
            <a:ext cx="63" cy="2190750"/>
          </a:xfrm>
          <a:custGeom>
            <a:avLst/>
            <a:gdLst/>
            <a:ahLst/>
            <a:cxnLst/>
            <a:rect l="l" t="t" r="r" b="b"/>
            <a:pathLst>
              <a:path w="10" h="345000" fill="none" stroke="1">
                <a:moveTo>
                  <a:pt x="0" y="0"/>
                </a:moveTo>
                <a:lnTo>
                  <a:pt x="0" y="34500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010 path"/>
          <p:cNvSpPr/>
          <p:nvPr/>
        </p:nvSpPr>
        <p:spPr>
          <a:xfrm>
            <a:off x="7571232" y="301815"/>
            <a:ext cx="63" cy="2190750"/>
          </a:xfrm>
          <a:custGeom>
            <a:avLst/>
            <a:gdLst/>
            <a:ahLst/>
            <a:cxnLst/>
            <a:rect l="l" t="t" r="r" b="b"/>
            <a:pathLst>
              <a:path w="10" h="345000" fill="none" stroke="1">
                <a:moveTo>
                  <a:pt x="0" y="0"/>
                </a:moveTo>
                <a:lnTo>
                  <a:pt x="0" y="34500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011 path"/>
          <p:cNvSpPr/>
          <p:nvPr/>
        </p:nvSpPr>
        <p:spPr>
          <a:xfrm>
            <a:off x="8403336" y="301815"/>
            <a:ext cx="63" cy="2190750"/>
          </a:xfrm>
          <a:custGeom>
            <a:avLst/>
            <a:gdLst/>
            <a:ahLst/>
            <a:cxnLst/>
            <a:rect l="l" t="t" r="r" b="b"/>
            <a:pathLst>
              <a:path w="10" h="345000" fill="none" stroke="1">
                <a:moveTo>
                  <a:pt x="0" y="0"/>
                </a:moveTo>
                <a:lnTo>
                  <a:pt x="0" y="34500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012 path"/>
          <p:cNvSpPr/>
          <p:nvPr/>
        </p:nvSpPr>
        <p:spPr>
          <a:xfrm>
            <a:off x="9226296" y="301815"/>
            <a:ext cx="63" cy="2190750"/>
          </a:xfrm>
          <a:custGeom>
            <a:avLst/>
            <a:gdLst/>
            <a:ahLst/>
            <a:cxnLst/>
            <a:rect l="l" t="t" r="r" b="b"/>
            <a:pathLst>
              <a:path w="10" h="345000" fill="none" stroke="1">
                <a:moveTo>
                  <a:pt x="0" y="0"/>
                </a:moveTo>
                <a:lnTo>
                  <a:pt x="0" y="34500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013 path"/>
          <p:cNvSpPr/>
          <p:nvPr/>
        </p:nvSpPr>
        <p:spPr>
          <a:xfrm>
            <a:off x="10049256" y="301815"/>
            <a:ext cx="63" cy="2190750"/>
          </a:xfrm>
          <a:custGeom>
            <a:avLst/>
            <a:gdLst/>
            <a:ahLst/>
            <a:cxnLst/>
            <a:rect l="l" t="t" r="r" b="b"/>
            <a:pathLst>
              <a:path w="10" h="345000" fill="none" stroke="1">
                <a:moveTo>
                  <a:pt x="0" y="0"/>
                </a:moveTo>
                <a:lnTo>
                  <a:pt x="0" y="34500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014 path"/>
          <p:cNvSpPr/>
          <p:nvPr/>
        </p:nvSpPr>
        <p:spPr>
          <a:xfrm>
            <a:off x="10881360" y="301815"/>
            <a:ext cx="63" cy="2190750"/>
          </a:xfrm>
          <a:custGeom>
            <a:avLst/>
            <a:gdLst/>
            <a:ahLst/>
            <a:cxnLst/>
            <a:rect l="l" t="t" r="r" b="b"/>
            <a:pathLst>
              <a:path w="10" h="345000" fill="none" stroke="1">
                <a:moveTo>
                  <a:pt x="0" y="0"/>
                </a:moveTo>
                <a:lnTo>
                  <a:pt x="0" y="34500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015 path"/>
          <p:cNvSpPr/>
          <p:nvPr/>
        </p:nvSpPr>
        <p:spPr>
          <a:xfrm>
            <a:off x="11704320" y="301815"/>
            <a:ext cx="63" cy="2190750"/>
          </a:xfrm>
          <a:custGeom>
            <a:avLst/>
            <a:gdLst/>
            <a:ahLst/>
            <a:cxnLst/>
            <a:rect l="l" t="t" r="r" b="b"/>
            <a:pathLst>
              <a:path w="10" h="345000" fill="none" stroke="1">
                <a:moveTo>
                  <a:pt x="0" y="0"/>
                </a:moveTo>
                <a:lnTo>
                  <a:pt x="0" y="34500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016 path"/>
          <p:cNvSpPr/>
          <p:nvPr/>
        </p:nvSpPr>
        <p:spPr>
          <a:xfrm>
            <a:off x="12499848" y="301815"/>
            <a:ext cx="63" cy="2190750"/>
          </a:xfrm>
          <a:custGeom>
            <a:avLst/>
            <a:gdLst/>
            <a:ahLst/>
            <a:cxnLst/>
            <a:rect l="l" t="t" r="r" b="b"/>
            <a:pathLst>
              <a:path w="10" h="345000" fill="none" stroke="1">
                <a:moveTo>
                  <a:pt x="0" y="0"/>
                </a:moveTo>
                <a:lnTo>
                  <a:pt x="0" y="34500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018 path"/>
          <p:cNvSpPr/>
          <p:nvPr/>
        </p:nvSpPr>
        <p:spPr>
          <a:xfrm>
            <a:off x="1801368" y="301053"/>
            <a:ext cx="10698480" cy="63"/>
          </a:xfrm>
          <a:custGeom>
            <a:avLst/>
            <a:gdLst/>
            <a:ahLst/>
            <a:cxnLst/>
            <a:rect l="l" t="t" r="r" b="b"/>
            <a:pathLst>
              <a:path w="1887000" h="10" fill="none" stroke="1">
                <a:moveTo>
                  <a:pt x="0" y="0"/>
                </a:moveTo>
                <a:lnTo>
                  <a:pt x="1887000" y="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019 path"/>
          <p:cNvSpPr/>
          <p:nvPr/>
        </p:nvSpPr>
        <p:spPr>
          <a:xfrm>
            <a:off x="1801368" y="849693"/>
            <a:ext cx="10698480" cy="63"/>
          </a:xfrm>
          <a:custGeom>
            <a:avLst/>
            <a:gdLst/>
            <a:ahLst/>
            <a:cxnLst/>
            <a:rect l="l" t="t" r="r" b="b"/>
            <a:pathLst>
              <a:path w="1887000" h="10" fill="none" stroke="1">
                <a:moveTo>
                  <a:pt x="0" y="0"/>
                </a:moveTo>
                <a:lnTo>
                  <a:pt x="1887000" y="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020 path"/>
          <p:cNvSpPr/>
          <p:nvPr/>
        </p:nvSpPr>
        <p:spPr>
          <a:xfrm>
            <a:off x="1801368" y="1398333"/>
            <a:ext cx="10698480" cy="63"/>
          </a:xfrm>
          <a:custGeom>
            <a:avLst/>
            <a:gdLst/>
            <a:ahLst/>
            <a:cxnLst/>
            <a:rect l="l" t="t" r="r" b="b"/>
            <a:pathLst>
              <a:path w="1887000" h="10" fill="none" stroke="1">
                <a:moveTo>
                  <a:pt x="0" y="0"/>
                </a:moveTo>
                <a:lnTo>
                  <a:pt x="1887000" y="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020 path"/>
          <p:cNvSpPr/>
          <p:nvPr/>
        </p:nvSpPr>
        <p:spPr>
          <a:xfrm>
            <a:off x="1801368" y="1946973"/>
            <a:ext cx="10698480" cy="63"/>
          </a:xfrm>
          <a:custGeom>
            <a:avLst/>
            <a:gdLst/>
            <a:ahLst/>
            <a:cxnLst/>
            <a:rect l="l" t="t" r="r" b="b"/>
            <a:pathLst>
              <a:path w="1887000" h="10" fill="none" stroke="1">
                <a:moveTo>
                  <a:pt x="0" y="0"/>
                </a:moveTo>
                <a:lnTo>
                  <a:pt x="1887000" y="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021 path"/>
          <p:cNvSpPr/>
          <p:nvPr/>
        </p:nvSpPr>
        <p:spPr>
          <a:xfrm>
            <a:off x="1801368" y="2495613"/>
            <a:ext cx="10698480" cy="63"/>
          </a:xfrm>
          <a:custGeom>
            <a:avLst/>
            <a:gdLst/>
            <a:ahLst/>
            <a:cxnLst/>
            <a:rect l="l" t="t" r="r" b="b"/>
            <a:pathLst>
              <a:path w="1887000" h="10" fill="none" stroke="1">
                <a:moveTo>
                  <a:pt x="0" y="0"/>
                </a:moveTo>
                <a:lnTo>
                  <a:pt x="1887000" y="0"/>
                </a:lnTo>
              </a:path>
            </a:pathLst>
          </a:custGeom>
          <a:noFill/>
          <a:ln w="6350">
            <a:solidFill>
              <a:srgbClr val="DCDCD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022 path"/>
          <p:cNvSpPr/>
          <p:nvPr/>
        </p:nvSpPr>
        <p:spPr>
          <a:xfrm>
            <a:off x="1801368" y="301815"/>
            <a:ext cx="63" cy="2197100"/>
          </a:xfrm>
          <a:custGeom>
            <a:avLst/>
            <a:gdLst/>
            <a:ahLst/>
            <a:cxnLst/>
            <a:rect l="l" t="t" r="r" b="b"/>
            <a:pathLst>
              <a:path w="10" h="346000" fill="none" stroke="1">
                <a:moveTo>
                  <a:pt x="0" y="0"/>
                </a:moveTo>
                <a:lnTo>
                  <a:pt x="0" y="346000"/>
                </a:lnTo>
              </a:path>
            </a:pathLst>
          </a:custGeom>
          <a:noFill/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023 path"/>
          <p:cNvSpPr/>
          <p:nvPr/>
        </p:nvSpPr>
        <p:spPr>
          <a:xfrm>
            <a:off x="1801368" y="2492565"/>
            <a:ext cx="10698480" cy="63"/>
          </a:xfrm>
          <a:custGeom>
            <a:avLst/>
            <a:gdLst/>
            <a:ahLst/>
            <a:cxnLst/>
            <a:rect l="l" t="t" r="r" b="b"/>
            <a:pathLst>
              <a:path w="1887000" h="10" fill="none" stroke="1">
                <a:moveTo>
                  <a:pt x="0" y="0"/>
                </a:moveTo>
                <a:lnTo>
                  <a:pt x="1887000" y="0"/>
                </a:lnTo>
              </a:path>
            </a:pathLst>
          </a:custGeom>
          <a:noFill/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024 1.0"/>
          <p:cNvSpPr txBox="1"/>
          <p:nvPr/>
        </p:nvSpPr>
        <p:spPr>
          <a:xfrm>
            <a:off x="1408176" y="183578"/>
            <a:ext cx="349250" cy="234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1.0</a:t>
            </a:r>
          </a:p>
        </p:txBody>
      </p:sp>
      <p:sp>
        <p:nvSpPr>
          <p:cNvPr id="26" name="025 0.0"/>
          <p:cNvSpPr txBox="1"/>
          <p:nvPr/>
        </p:nvSpPr>
        <p:spPr>
          <a:xfrm>
            <a:off x="1408176" y="2378138"/>
            <a:ext cx="349250" cy="234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0.0</a:t>
            </a:r>
          </a:p>
        </p:txBody>
      </p:sp>
      <p:sp>
        <p:nvSpPr>
          <p:cNvPr id="186" name="025 0.0"/>
          <p:cNvSpPr txBox="1"/>
          <p:nvPr/>
        </p:nvSpPr>
        <p:spPr>
          <a:xfrm>
            <a:off x="1408176" y="1280858"/>
            <a:ext cx="349250" cy="2349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0.5</a:t>
            </a:r>
          </a:p>
        </p:txBody>
      </p:sp>
      <p:sp>
        <p:nvSpPr>
          <p:cNvPr id="27" name="026 0"/>
          <p:cNvSpPr txBox="1"/>
          <p:nvPr/>
        </p:nvSpPr>
        <p:spPr>
          <a:xfrm>
            <a:off x="1706118" y="2568765"/>
            <a:ext cx="19050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28" name="027 Success probability"/>
          <p:cNvSpPr txBox="1"/>
          <p:nvPr/>
        </p:nvSpPr>
        <p:spPr>
          <a:xfrm rot="16200000">
            <a:off x="245618" y="1311465"/>
            <a:ext cx="17399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000000"/>
                </a:solidFill>
                <a:latin typeface="Times New Roman"/>
              </a:rPr>
              <a:t>Success probability</a:t>
            </a:r>
          </a:p>
        </p:txBody>
      </p:sp>
      <p:sp>
        <p:nvSpPr>
          <p:cNvPr id="29" name="028 Segment boundary k"/>
          <p:cNvSpPr txBox="1"/>
          <p:nvPr/>
        </p:nvSpPr>
        <p:spPr>
          <a:xfrm>
            <a:off x="6160008" y="2568765"/>
            <a:ext cx="19812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00000"/>
                </a:solidFill>
                <a:latin typeface="Times New Roman"/>
              </a:rPr>
              <a:t>Segment boundary k</a:t>
            </a:r>
          </a:p>
        </p:txBody>
      </p:sp>
      <p:sp>
        <p:nvSpPr>
          <p:cNvPr id="30" name="029 s{sub:0}"/>
          <p:cNvSpPr txBox="1"/>
          <p:nvPr/>
        </p:nvSpPr>
        <p:spPr>
          <a:xfrm>
            <a:off x="1874520" y="2213978"/>
            <a:ext cx="31115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1">
                <a:solidFill>
                  <a:srgbClr val="000000"/>
                </a:solidFill>
                <a:latin typeface="Times New Roman"/>
              </a:rPr>
              <a:t>s</a:t>
            </a:r>
            <a:r>
              <a:rPr sz="1287" b="1" i="1" baseline="-18000">
                <a:solidFill>
                  <a:srgbClr val="000000"/>
                </a:solidFill>
                <a:latin typeface="Times New Roman"/>
              </a:rPr>
              <a:t>0</a:t>
            </a:r>
          </a:p>
        </p:txBody>
      </p:sp>
      <p:sp>
        <p:nvSpPr>
          <p:cNvPr id="31" name="030 T"/>
          <p:cNvSpPr txBox="1"/>
          <p:nvPr/>
        </p:nvSpPr>
        <p:spPr>
          <a:xfrm>
            <a:off x="12376023" y="2575115"/>
            <a:ext cx="24765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1">
                <a:solidFill>
                  <a:srgbClr val="000000"/>
                </a:solidFill>
                <a:latin typeface="Times New Roman"/>
              </a:rPr>
              <a:t>T</a:t>
            </a:r>
          </a:p>
        </p:txBody>
      </p:sp>
      <p:sp>
        <p:nvSpPr>
          <p:cNvPr id="32" name="031 prediction/value discrepancy shading"/>
          <p:cNvSpPr/>
          <p:nvPr/>
        </p:nvSpPr>
        <p:spPr>
          <a:xfrm>
            <a:off x="1801368" y="255333"/>
            <a:ext cx="10698480" cy="2258568"/>
          </a:xfrm>
          <a:custGeom>
            <a:avLst/>
            <a:gdLst/>
            <a:ahLst/>
            <a:cxnLst/>
            <a:rect l="l" t="t" r="r" b="b"/>
            <a:pathLst>
              <a:path w="10698480" h="2258568" fill="norm" stroke="1">
                <a:moveTo>
                  <a:pt x="4946904" y="638251"/>
                </a:moveTo>
                <a:lnTo>
                  <a:pt x="5769864" y="660197"/>
                </a:lnTo>
                <a:lnTo>
                  <a:pt x="6601968" y="682142"/>
                </a:lnTo>
                <a:lnTo>
                  <a:pt x="7424928" y="682142"/>
                </a:lnTo>
                <a:lnTo>
                  <a:pt x="8247888" y="704088"/>
                </a:lnTo>
                <a:lnTo>
                  <a:pt x="9079992" y="704088"/>
                </a:lnTo>
                <a:lnTo>
                  <a:pt x="9902952" y="726034"/>
                </a:lnTo>
                <a:lnTo>
                  <a:pt x="10698480" y="2240280"/>
                </a:lnTo>
                <a:lnTo>
                  <a:pt x="10698480" y="2240280"/>
                </a:lnTo>
                <a:lnTo>
                  <a:pt x="10632186" y="2217439"/>
                </a:lnTo>
                <a:lnTo>
                  <a:pt x="10565892" y="2193133"/>
                </a:lnTo>
                <a:lnTo>
                  <a:pt x="10499598" y="2167850"/>
                </a:lnTo>
                <a:lnTo>
                  <a:pt x="10433304" y="2142079"/>
                </a:lnTo>
                <a:lnTo>
                  <a:pt x="10367010" y="2116308"/>
                </a:lnTo>
                <a:lnTo>
                  <a:pt x="10300716" y="2091025"/>
                </a:lnTo>
                <a:lnTo>
                  <a:pt x="10234422" y="2066719"/>
                </a:lnTo>
                <a:lnTo>
                  <a:pt x="10168128" y="2043878"/>
                </a:lnTo>
                <a:lnTo>
                  <a:pt x="10101834" y="2022991"/>
                </a:lnTo>
                <a:lnTo>
                  <a:pt x="10035540" y="2004545"/>
                </a:lnTo>
                <a:lnTo>
                  <a:pt x="9969246" y="1989030"/>
                </a:lnTo>
                <a:lnTo>
                  <a:pt x="9902952" y="1976933"/>
                </a:lnTo>
                <a:lnTo>
                  <a:pt x="9834372" y="1967404"/>
                </a:lnTo>
                <a:lnTo>
                  <a:pt x="9765792" y="1959802"/>
                </a:lnTo>
                <a:lnTo>
                  <a:pt x="9697212" y="1953868"/>
                </a:lnTo>
                <a:lnTo>
                  <a:pt x="9628632" y="1949344"/>
                </a:lnTo>
                <a:lnTo>
                  <a:pt x="9560052" y="1945974"/>
                </a:lnTo>
                <a:lnTo>
                  <a:pt x="9491472" y="1943500"/>
                </a:lnTo>
                <a:lnTo>
                  <a:pt x="9422892" y="1941664"/>
                </a:lnTo>
                <a:lnTo>
                  <a:pt x="9354312" y="1940208"/>
                </a:lnTo>
                <a:lnTo>
                  <a:pt x="9285732" y="1938876"/>
                </a:lnTo>
                <a:lnTo>
                  <a:pt x="9217152" y="1937409"/>
                </a:lnTo>
                <a:lnTo>
                  <a:pt x="9148572" y="1935550"/>
                </a:lnTo>
                <a:lnTo>
                  <a:pt x="9079992" y="1933042"/>
                </a:lnTo>
                <a:lnTo>
                  <a:pt x="9010650" y="1929979"/>
                </a:lnTo>
                <a:lnTo>
                  <a:pt x="8941308" y="1926713"/>
                </a:lnTo>
                <a:lnTo>
                  <a:pt x="8871966" y="1923272"/>
                </a:lnTo>
                <a:lnTo>
                  <a:pt x="8802624" y="1919684"/>
                </a:lnTo>
                <a:lnTo>
                  <a:pt x="8733282" y="1915979"/>
                </a:lnTo>
                <a:lnTo>
                  <a:pt x="8663940" y="1912185"/>
                </a:lnTo>
                <a:lnTo>
                  <a:pt x="8594598" y="1908331"/>
                </a:lnTo>
                <a:lnTo>
                  <a:pt x="8525256" y="1904444"/>
                </a:lnTo>
                <a:lnTo>
                  <a:pt x="8455914" y="1900555"/>
                </a:lnTo>
                <a:lnTo>
                  <a:pt x="8386572" y="1896690"/>
                </a:lnTo>
                <a:lnTo>
                  <a:pt x="8317230" y="1892879"/>
                </a:lnTo>
                <a:lnTo>
                  <a:pt x="8247888" y="1889150"/>
                </a:lnTo>
                <a:lnTo>
                  <a:pt x="8179308" y="1885510"/>
                </a:lnTo>
                <a:lnTo>
                  <a:pt x="8110728" y="1881863"/>
                </a:lnTo>
                <a:lnTo>
                  <a:pt x="8042148" y="1878212"/>
                </a:lnTo>
                <a:lnTo>
                  <a:pt x="7973568" y="1874556"/>
                </a:lnTo>
                <a:lnTo>
                  <a:pt x="7904988" y="1870897"/>
                </a:lnTo>
                <a:lnTo>
                  <a:pt x="7836408" y="1867235"/>
                </a:lnTo>
                <a:lnTo>
                  <a:pt x="7767828" y="1863572"/>
                </a:lnTo>
                <a:lnTo>
                  <a:pt x="7699248" y="1859907"/>
                </a:lnTo>
                <a:lnTo>
                  <a:pt x="7630668" y="1856243"/>
                </a:lnTo>
                <a:lnTo>
                  <a:pt x="7562088" y="1852580"/>
                </a:lnTo>
                <a:lnTo>
                  <a:pt x="7493508" y="1848918"/>
                </a:lnTo>
                <a:lnTo>
                  <a:pt x="7424928" y="1845259"/>
                </a:lnTo>
                <a:lnTo>
                  <a:pt x="7356348" y="1841518"/>
                </a:lnTo>
                <a:lnTo>
                  <a:pt x="7287768" y="1837642"/>
                </a:lnTo>
                <a:lnTo>
                  <a:pt x="7219188" y="1833674"/>
                </a:lnTo>
                <a:lnTo>
                  <a:pt x="7150608" y="1829662"/>
                </a:lnTo>
                <a:lnTo>
                  <a:pt x="7082028" y="1825649"/>
                </a:lnTo>
                <a:lnTo>
                  <a:pt x="7013448" y="1821681"/>
                </a:lnTo>
                <a:lnTo>
                  <a:pt x="6944868" y="1817805"/>
                </a:lnTo>
                <a:lnTo>
                  <a:pt x="6876288" y="1814064"/>
                </a:lnTo>
                <a:lnTo>
                  <a:pt x="6807708" y="1810505"/>
                </a:lnTo>
                <a:lnTo>
                  <a:pt x="6739128" y="1807172"/>
                </a:lnTo>
                <a:lnTo>
                  <a:pt x="6670548" y="1804111"/>
                </a:lnTo>
                <a:lnTo>
                  <a:pt x="6601968" y="1801368"/>
                </a:lnTo>
                <a:lnTo>
                  <a:pt x="6532626" y="1799122"/>
                </a:lnTo>
                <a:lnTo>
                  <a:pt x="6463284" y="1797310"/>
                </a:lnTo>
                <a:lnTo>
                  <a:pt x="6393942" y="1795525"/>
                </a:lnTo>
                <a:lnTo>
                  <a:pt x="6324600" y="1793361"/>
                </a:lnTo>
                <a:lnTo>
                  <a:pt x="6255258" y="1790410"/>
                </a:lnTo>
                <a:lnTo>
                  <a:pt x="6185916" y="1786267"/>
                </a:lnTo>
                <a:lnTo>
                  <a:pt x="6116574" y="1780524"/>
                </a:lnTo>
                <a:lnTo>
                  <a:pt x="6047232" y="1772775"/>
                </a:lnTo>
                <a:lnTo>
                  <a:pt x="5977890" y="1762613"/>
                </a:lnTo>
                <a:lnTo>
                  <a:pt x="5908548" y="1749632"/>
                </a:lnTo>
                <a:lnTo>
                  <a:pt x="5839206" y="1733425"/>
                </a:lnTo>
                <a:lnTo>
                  <a:pt x="5769864" y="1713586"/>
                </a:lnTo>
                <a:lnTo>
                  <a:pt x="5701284" y="1675613"/>
                </a:lnTo>
                <a:lnTo>
                  <a:pt x="5632704" y="1608875"/>
                </a:lnTo>
                <a:lnTo>
                  <a:pt x="5564124" y="1519483"/>
                </a:lnTo>
                <a:lnTo>
                  <a:pt x="5495544" y="1413550"/>
                </a:lnTo>
                <a:lnTo>
                  <a:pt x="5426964" y="1297188"/>
                </a:lnTo>
                <a:lnTo>
                  <a:pt x="5358384" y="1176509"/>
                </a:lnTo>
                <a:lnTo>
                  <a:pt x="5289804" y="1057627"/>
                </a:lnTo>
                <a:lnTo>
                  <a:pt x="5221224" y="946652"/>
                </a:lnTo>
                <a:lnTo>
                  <a:pt x="5152644" y="849699"/>
                </a:lnTo>
                <a:lnTo>
                  <a:pt x="5084064" y="772879"/>
                </a:lnTo>
                <a:lnTo>
                  <a:pt x="5015484" y="722304"/>
                </a:lnTo>
                <a:lnTo>
                  <a:pt x="4946904" y="704088"/>
                </a:lnTo>
                <a:close/>
              </a:path>
            </a:pathLst>
          </a:custGeom>
          <a:solidFill>
            <a:srgbClr val="F7A7A5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032 red curve soft halo"/>
          <p:cNvSpPr/>
          <p:nvPr/>
        </p:nvSpPr>
        <p:spPr>
          <a:xfrm>
            <a:off x="1801368" y="255333"/>
            <a:ext cx="10698480" cy="2258568"/>
          </a:xfrm>
          <a:custGeom>
            <a:avLst/>
            <a:gdLst/>
            <a:ahLst/>
            <a:cxnLst/>
            <a:rect l="l" t="t" r="r" b="b"/>
            <a:pathLst>
              <a:path w="10698480" h="2258568" fill="none" stroke="1">
                <a:moveTo>
                  <a:pt x="0" y="1976933"/>
                </a:moveTo>
                <a:cubicBezTo>
                  <a:pt x="274320" y="1903781"/>
                  <a:pt x="548640" y="1834286"/>
                  <a:pt x="822960" y="1757477"/>
                </a:cubicBezTo>
                <a:cubicBezTo>
                  <a:pt x="1097280" y="1680667"/>
                  <a:pt x="1371600" y="1589227"/>
                  <a:pt x="1645920" y="1516075"/>
                </a:cubicBezTo>
                <a:cubicBezTo>
                  <a:pt x="1920240" y="1442923"/>
                  <a:pt x="2194560" y="1380422"/>
                  <a:pt x="2468880" y="1318565"/>
                </a:cubicBezTo>
                <a:cubicBezTo>
                  <a:pt x="2746248" y="1256020"/>
                  <a:pt x="3023616" y="1209243"/>
                  <a:pt x="3300984" y="1143000"/>
                </a:cubicBezTo>
                <a:cubicBezTo>
                  <a:pt x="3575304" y="1077485"/>
                  <a:pt x="3849624" y="996696"/>
                  <a:pt x="4123944" y="923544"/>
                </a:cubicBezTo>
                <a:cubicBezTo>
                  <a:pt x="4398264" y="850392"/>
                  <a:pt x="4672584" y="704088"/>
                  <a:pt x="4946904" y="704088"/>
                </a:cubicBezTo>
                <a:cubicBezTo>
                  <a:pt x="5221224" y="704088"/>
                  <a:pt x="5495544" y="1627378"/>
                  <a:pt x="5769864" y="1713586"/>
                </a:cubicBezTo>
                <a:cubicBezTo>
                  <a:pt x="6047232" y="1800751"/>
                  <a:pt x="6324600" y="1790976"/>
                  <a:pt x="6601968" y="1801368"/>
                </a:cubicBezTo>
                <a:cubicBezTo>
                  <a:pt x="6876288" y="1811646"/>
                  <a:pt x="7150608" y="1830629"/>
                  <a:pt x="7424928" y="1845259"/>
                </a:cubicBezTo>
                <a:cubicBezTo>
                  <a:pt x="7699248" y="1859890"/>
                  <a:pt x="7973568" y="1874600"/>
                  <a:pt x="8247888" y="1889150"/>
                </a:cubicBezTo>
                <a:cubicBezTo>
                  <a:pt x="8525256" y="1903862"/>
                  <a:pt x="8802624" y="1921235"/>
                  <a:pt x="9079992" y="1933042"/>
                </a:cubicBezTo>
                <a:cubicBezTo>
                  <a:pt x="9354312" y="1944718"/>
                  <a:pt x="9628632" y="1934623"/>
                  <a:pt x="9902952" y="1976933"/>
                </a:cubicBezTo>
                <a:cubicBezTo>
                  <a:pt x="10168128" y="2017832"/>
                  <a:pt x="10433304" y="2152498"/>
                  <a:pt x="10698480" y="2240280"/>
                </a:cubicBezTo>
              </a:path>
            </a:pathLst>
          </a:custGeom>
          <a:noFill/>
          <a:ln w="184150">
            <a:solidFill>
              <a:srgbClr val="FC8781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033 red curve soft halo"/>
          <p:cNvSpPr/>
          <p:nvPr/>
        </p:nvSpPr>
        <p:spPr>
          <a:xfrm>
            <a:off x="1801368" y="255333"/>
            <a:ext cx="10698480" cy="2258568"/>
          </a:xfrm>
          <a:custGeom>
            <a:avLst/>
            <a:gdLst/>
            <a:ahLst/>
            <a:cxnLst/>
            <a:rect l="l" t="t" r="r" b="b"/>
            <a:pathLst>
              <a:path w="10698480" h="2258568" fill="none" stroke="1">
                <a:moveTo>
                  <a:pt x="0" y="1976933"/>
                </a:moveTo>
                <a:cubicBezTo>
                  <a:pt x="274320" y="1903781"/>
                  <a:pt x="548640" y="1834286"/>
                  <a:pt x="822960" y="1757477"/>
                </a:cubicBezTo>
                <a:cubicBezTo>
                  <a:pt x="1097280" y="1680667"/>
                  <a:pt x="1371600" y="1589227"/>
                  <a:pt x="1645920" y="1516075"/>
                </a:cubicBezTo>
                <a:cubicBezTo>
                  <a:pt x="1920240" y="1442923"/>
                  <a:pt x="2194560" y="1380422"/>
                  <a:pt x="2468880" y="1318565"/>
                </a:cubicBezTo>
                <a:cubicBezTo>
                  <a:pt x="2746248" y="1256020"/>
                  <a:pt x="3023616" y="1209243"/>
                  <a:pt x="3300984" y="1143000"/>
                </a:cubicBezTo>
                <a:cubicBezTo>
                  <a:pt x="3575304" y="1077485"/>
                  <a:pt x="3849624" y="996696"/>
                  <a:pt x="4123944" y="923544"/>
                </a:cubicBezTo>
                <a:cubicBezTo>
                  <a:pt x="4398264" y="850392"/>
                  <a:pt x="4672584" y="704088"/>
                  <a:pt x="4946904" y="704088"/>
                </a:cubicBezTo>
                <a:cubicBezTo>
                  <a:pt x="5221224" y="704088"/>
                  <a:pt x="5495544" y="1627378"/>
                  <a:pt x="5769864" y="1713586"/>
                </a:cubicBezTo>
                <a:cubicBezTo>
                  <a:pt x="6047232" y="1800751"/>
                  <a:pt x="6324600" y="1790976"/>
                  <a:pt x="6601968" y="1801368"/>
                </a:cubicBezTo>
                <a:cubicBezTo>
                  <a:pt x="6876288" y="1811646"/>
                  <a:pt x="7150608" y="1830629"/>
                  <a:pt x="7424928" y="1845259"/>
                </a:cubicBezTo>
                <a:cubicBezTo>
                  <a:pt x="7699248" y="1859890"/>
                  <a:pt x="7973568" y="1874600"/>
                  <a:pt x="8247888" y="1889150"/>
                </a:cubicBezTo>
                <a:cubicBezTo>
                  <a:pt x="8525256" y="1903862"/>
                  <a:pt x="8802624" y="1921235"/>
                  <a:pt x="9079992" y="1933042"/>
                </a:cubicBezTo>
                <a:cubicBezTo>
                  <a:pt x="9354312" y="1944718"/>
                  <a:pt x="9628632" y="1934623"/>
                  <a:pt x="9902952" y="1976933"/>
                </a:cubicBezTo>
                <a:cubicBezTo>
                  <a:pt x="10168128" y="2017832"/>
                  <a:pt x="10433304" y="2152498"/>
                  <a:pt x="10698480" y="2240280"/>
                </a:cubicBezTo>
              </a:path>
            </a:pathLst>
          </a:custGeom>
          <a:noFill/>
          <a:ln w="152400">
            <a:solidFill>
              <a:srgbClr val="FC8781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034 red curve soft halo"/>
          <p:cNvSpPr/>
          <p:nvPr/>
        </p:nvSpPr>
        <p:spPr>
          <a:xfrm>
            <a:off x="1801368" y="255333"/>
            <a:ext cx="10698480" cy="2258568"/>
          </a:xfrm>
          <a:custGeom>
            <a:avLst/>
            <a:gdLst/>
            <a:ahLst/>
            <a:cxnLst/>
            <a:rect l="l" t="t" r="r" b="b"/>
            <a:pathLst>
              <a:path w="10698480" h="2258568" fill="none" stroke="1">
                <a:moveTo>
                  <a:pt x="0" y="1976933"/>
                </a:moveTo>
                <a:cubicBezTo>
                  <a:pt x="274320" y="1903781"/>
                  <a:pt x="548640" y="1834286"/>
                  <a:pt x="822960" y="1757477"/>
                </a:cubicBezTo>
                <a:cubicBezTo>
                  <a:pt x="1097280" y="1680667"/>
                  <a:pt x="1371600" y="1589227"/>
                  <a:pt x="1645920" y="1516075"/>
                </a:cubicBezTo>
                <a:cubicBezTo>
                  <a:pt x="1920240" y="1442923"/>
                  <a:pt x="2194560" y="1380422"/>
                  <a:pt x="2468880" y="1318565"/>
                </a:cubicBezTo>
                <a:cubicBezTo>
                  <a:pt x="2746248" y="1256020"/>
                  <a:pt x="3023616" y="1209243"/>
                  <a:pt x="3300984" y="1143000"/>
                </a:cubicBezTo>
                <a:cubicBezTo>
                  <a:pt x="3575304" y="1077485"/>
                  <a:pt x="3849624" y="996696"/>
                  <a:pt x="4123944" y="923544"/>
                </a:cubicBezTo>
                <a:cubicBezTo>
                  <a:pt x="4398264" y="850392"/>
                  <a:pt x="4672584" y="704088"/>
                  <a:pt x="4946904" y="704088"/>
                </a:cubicBezTo>
                <a:cubicBezTo>
                  <a:pt x="5221224" y="704088"/>
                  <a:pt x="5495544" y="1627378"/>
                  <a:pt x="5769864" y="1713586"/>
                </a:cubicBezTo>
                <a:cubicBezTo>
                  <a:pt x="6047232" y="1800751"/>
                  <a:pt x="6324600" y="1790976"/>
                  <a:pt x="6601968" y="1801368"/>
                </a:cubicBezTo>
                <a:cubicBezTo>
                  <a:pt x="6876288" y="1811646"/>
                  <a:pt x="7150608" y="1830629"/>
                  <a:pt x="7424928" y="1845259"/>
                </a:cubicBezTo>
                <a:cubicBezTo>
                  <a:pt x="7699248" y="1859890"/>
                  <a:pt x="7973568" y="1874600"/>
                  <a:pt x="8247888" y="1889150"/>
                </a:cubicBezTo>
                <a:cubicBezTo>
                  <a:pt x="8525256" y="1903862"/>
                  <a:pt x="8802624" y="1921235"/>
                  <a:pt x="9079992" y="1933042"/>
                </a:cubicBezTo>
                <a:cubicBezTo>
                  <a:pt x="9354312" y="1944718"/>
                  <a:pt x="9628632" y="1934623"/>
                  <a:pt x="9902952" y="1976933"/>
                </a:cubicBezTo>
                <a:cubicBezTo>
                  <a:pt x="10168128" y="2017832"/>
                  <a:pt x="10433304" y="2152498"/>
                  <a:pt x="10698480" y="2240280"/>
                </a:cubicBezTo>
              </a:path>
            </a:pathLst>
          </a:custGeom>
          <a:noFill/>
          <a:ln w="120650">
            <a:solidFill>
              <a:srgbClr val="FC8781">
                <a:alpha val="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035 red curve soft halo"/>
          <p:cNvSpPr/>
          <p:nvPr/>
        </p:nvSpPr>
        <p:spPr>
          <a:xfrm>
            <a:off x="1801368" y="255333"/>
            <a:ext cx="10698480" cy="2258568"/>
          </a:xfrm>
          <a:custGeom>
            <a:avLst/>
            <a:gdLst/>
            <a:ahLst/>
            <a:cxnLst/>
            <a:rect l="l" t="t" r="r" b="b"/>
            <a:pathLst>
              <a:path w="10698480" h="2258568" fill="none" stroke="1">
                <a:moveTo>
                  <a:pt x="0" y="1976933"/>
                </a:moveTo>
                <a:cubicBezTo>
                  <a:pt x="274320" y="1903781"/>
                  <a:pt x="548640" y="1834286"/>
                  <a:pt x="822960" y="1757477"/>
                </a:cubicBezTo>
                <a:cubicBezTo>
                  <a:pt x="1097280" y="1680667"/>
                  <a:pt x="1371600" y="1589227"/>
                  <a:pt x="1645920" y="1516075"/>
                </a:cubicBezTo>
                <a:cubicBezTo>
                  <a:pt x="1920240" y="1442923"/>
                  <a:pt x="2194560" y="1380422"/>
                  <a:pt x="2468880" y="1318565"/>
                </a:cubicBezTo>
                <a:cubicBezTo>
                  <a:pt x="2746248" y="1256020"/>
                  <a:pt x="3023616" y="1209243"/>
                  <a:pt x="3300984" y="1143000"/>
                </a:cubicBezTo>
                <a:cubicBezTo>
                  <a:pt x="3575304" y="1077485"/>
                  <a:pt x="3849624" y="996696"/>
                  <a:pt x="4123944" y="923544"/>
                </a:cubicBezTo>
                <a:cubicBezTo>
                  <a:pt x="4398264" y="850392"/>
                  <a:pt x="4672584" y="704088"/>
                  <a:pt x="4946904" y="704088"/>
                </a:cubicBezTo>
                <a:cubicBezTo>
                  <a:pt x="5221224" y="704088"/>
                  <a:pt x="5495544" y="1627378"/>
                  <a:pt x="5769864" y="1713586"/>
                </a:cubicBezTo>
                <a:cubicBezTo>
                  <a:pt x="6047232" y="1800751"/>
                  <a:pt x="6324600" y="1790976"/>
                  <a:pt x="6601968" y="1801368"/>
                </a:cubicBezTo>
                <a:cubicBezTo>
                  <a:pt x="6876288" y="1811646"/>
                  <a:pt x="7150608" y="1830629"/>
                  <a:pt x="7424928" y="1845259"/>
                </a:cubicBezTo>
                <a:cubicBezTo>
                  <a:pt x="7699248" y="1859890"/>
                  <a:pt x="7973568" y="1874600"/>
                  <a:pt x="8247888" y="1889150"/>
                </a:cubicBezTo>
                <a:cubicBezTo>
                  <a:pt x="8525256" y="1903862"/>
                  <a:pt x="8802624" y="1921235"/>
                  <a:pt x="9079992" y="1933042"/>
                </a:cubicBezTo>
                <a:cubicBezTo>
                  <a:pt x="9354312" y="1944718"/>
                  <a:pt x="9628632" y="1934623"/>
                  <a:pt x="9902952" y="1976933"/>
                </a:cubicBezTo>
                <a:cubicBezTo>
                  <a:pt x="10168128" y="2017832"/>
                  <a:pt x="10433304" y="2152498"/>
                  <a:pt x="10698480" y="2240280"/>
                </a:cubicBezTo>
              </a:path>
            </a:pathLst>
          </a:custGeom>
          <a:noFill/>
          <a:ln w="88900">
            <a:solidFill>
              <a:srgbClr val="FC8781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036 purple curve soft halo"/>
          <p:cNvSpPr/>
          <p:nvPr/>
        </p:nvSpPr>
        <p:spPr>
          <a:xfrm>
            <a:off x="1801368" y="255333"/>
            <a:ext cx="10698480" cy="2258568"/>
          </a:xfrm>
          <a:custGeom>
            <a:avLst/>
            <a:gdLst/>
            <a:ahLst/>
            <a:cxnLst/>
            <a:rect l="l" t="t" r="r" b="b"/>
            <a:pathLst>
              <a:path w="10698480" h="2258568" fill="none" stroke="1">
                <a:moveTo>
                  <a:pt x="0" y="1933042"/>
                </a:moveTo>
                <a:lnTo>
                  <a:pt x="822960" y="1691640"/>
                </a:lnTo>
                <a:lnTo>
                  <a:pt x="1645920" y="1450238"/>
                </a:lnTo>
                <a:lnTo>
                  <a:pt x="2468880" y="1252728"/>
                </a:lnTo>
                <a:lnTo>
                  <a:pt x="3300984" y="1077163"/>
                </a:lnTo>
                <a:lnTo>
                  <a:pt x="4123944" y="857707"/>
                </a:lnTo>
                <a:lnTo>
                  <a:pt x="4946904" y="638251"/>
                </a:lnTo>
                <a:lnTo>
                  <a:pt x="5769864" y="660197"/>
                </a:lnTo>
                <a:lnTo>
                  <a:pt x="6601968" y="682142"/>
                </a:lnTo>
                <a:lnTo>
                  <a:pt x="7424928" y="682142"/>
                </a:lnTo>
                <a:lnTo>
                  <a:pt x="8247888" y="704088"/>
                </a:lnTo>
                <a:lnTo>
                  <a:pt x="9079992" y="704088"/>
                </a:lnTo>
                <a:lnTo>
                  <a:pt x="9902952" y="726034"/>
                </a:lnTo>
                <a:lnTo>
                  <a:pt x="10698480" y="2240280"/>
                </a:lnTo>
              </a:path>
            </a:pathLst>
          </a:custGeom>
          <a:noFill/>
          <a:ln w="120650">
            <a:solidFill>
              <a:srgbClr val="AAA1F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037 purple curve soft halo"/>
          <p:cNvSpPr/>
          <p:nvPr/>
        </p:nvSpPr>
        <p:spPr>
          <a:xfrm>
            <a:off x="1801368" y="255333"/>
            <a:ext cx="10698480" cy="2258568"/>
          </a:xfrm>
          <a:custGeom>
            <a:avLst/>
            <a:gdLst/>
            <a:ahLst/>
            <a:cxnLst/>
            <a:rect l="l" t="t" r="r" b="b"/>
            <a:pathLst>
              <a:path w="10698480" h="2258568" fill="none" stroke="1">
                <a:moveTo>
                  <a:pt x="0" y="1933042"/>
                </a:moveTo>
                <a:lnTo>
                  <a:pt x="822960" y="1691640"/>
                </a:lnTo>
                <a:lnTo>
                  <a:pt x="1645920" y="1450238"/>
                </a:lnTo>
                <a:lnTo>
                  <a:pt x="2468880" y="1252728"/>
                </a:lnTo>
                <a:lnTo>
                  <a:pt x="3300984" y="1077163"/>
                </a:lnTo>
                <a:lnTo>
                  <a:pt x="4123944" y="857707"/>
                </a:lnTo>
                <a:lnTo>
                  <a:pt x="4946904" y="638251"/>
                </a:lnTo>
                <a:lnTo>
                  <a:pt x="5769864" y="660197"/>
                </a:lnTo>
                <a:lnTo>
                  <a:pt x="6601968" y="682142"/>
                </a:lnTo>
                <a:lnTo>
                  <a:pt x="7424928" y="682142"/>
                </a:lnTo>
                <a:lnTo>
                  <a:pt x="8247888" y="704088"/>
                </a:lnTo>
                <a:lnTo>
                  <a:pt x="9079992" y="704088"/>
                </a:lnTo>
                <a:lnTo>
                  <a:pt x="9902952" y="726034"/>
                </a:lnTo>
                <a:lnTo>
                  <a:pt x="10698480" y="2240280"/>
                </a:lnTo>
              </a:path>
            </a:pathLst>
          </a:custGeom>
          <a:noFill/>
          <a:ln w="82550">
            <a:solidFill>
              <a:srgbClr val="AAA1FF">
                <a:alpha val="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038 Hindsight terminal-anchored probability"/>
          <p:cNvSpPr/>
          <p:nvPr/>
        </p:nvSpPr>
        <p:spPr>
          <a:xfrm>
            <a:off x="1801368" y="255333"/>
            <a:ext cx="10698480" cy="2258568"/>
          </a:xfrm>
          <a:custGeom>
            <a:avLst/>
            <a:gdLst/>
            <a:ahLst/>
            <a:cxnLst/>
            <a:rect l="l" t="t" r="r" b="b"/>
            <a:pathLst>
              <a:path w="10698480" h="2258568" fill="none" stroke="1">
                <a:moveTo>
                  <a:pt x="0" y="1933042"/>
                </a:moveTo>
                <a:lnTo>
                  <a:pt x="822960" y="1691640"/>
                </a:lnTo>
                <a:lnTo>
                  <a:pt x="1645920" y="1450238"/>
                </a:lnTo>
                <a:lnTo>
                  <a:pt x="2468880" y="1252728"/>
                </a:lnTo>
                <a:lnTo>
                  <a:pt x="3300984" y="1077163"/>
                </a:lnTo>
                <a:lnTo>
                  <a:pt x="4123944" y="857707"/>
                </a:lnTo>
                <a:lnTo>
                  <a:pt x="4946904" y="638251"/>
                </a:lnTo>
                <a:lnTo>
                  <a:pt x="5769864" y="660197"/>
                </a:lnTo>
                <a:lnTo>
                  <a:pt x="6601968" y="682142"/>
                </a:lnTo>
                <a:lnTo>
                  <a:pt x="7424928" y="682142"/>
                </a:lnTo>
                <a:lnTo>
                  <a:pt x="8247888" y="704088"/>
                </a:lnTo>
                <a:lnTo>
                  <a:pt x="9079992" y="704088"/>
                </a:lnTo>
                <a:lnTo>
                  <a:pt x="9902952" y="726034"/>
                </a:lnTo>
                <a:lnTo>
                  <a:pt x="10698480" y="2240280"/>
                </a:lnTo>
              </a:path>
            </a:pathLst>
          </a:custGeom>
          <a:noFill/>
          <a:ln w="44450">
            <a:solidFill>
              <a:srgbClr val="8875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039 Oracle value curve"/>
          <p:cNvSpPr/>
          <p:nvPr/>
        </p:nvSpPr>
        <p:spPr>
          <a:xfrm>
            <a:off x="1801368" y="255333"/>
            <a:ext cx="10698480" cy="2258568"/>
          </a:xfrm>
          <a:custGeom>
            <a:avLst/>
            <a:gdLst/>
            <a:ahLst/>
            <a:cxnLst/>
            <a:rect l="l" t="t" r="r" b="b"/>
            <a:pathLst>
              <a:path w="10698480" h="2258568" fill="none" stroke="1">
                <a:moveTo>
                  <a:pt x="0" y="1976933"/>
                </a:moveTo>
                <a:cubicBezTo>
                  <a:pt x="274320" y="1903781"/>
                  <a:pt x="548640" y="1834286"/>
                  <a:pt x="822960" y="1757477"/>
                </a:cubicBezTo>
                <a:cubicBezTo>
                  <a:pt x="1097280" y="1680667"/>
                  <a:pt x="1371600" y="1589227"/>
                  <a:pt x="1645920" y="1516075"/>
                </a:cubicBezTo>
                <a:cubicBezTo>
                  <a:pt x="1920240" y="1442923"/>
                  <a:pt x="2194560" y="1380422"/>
                  <a:pt x="2468880" y="1318565"/>
                </a:cubicBezTo>
                <a:cubicBezTo>
                  <a:pt x="2746248" y="1256020"/>
                  <a:pt x="3023616" y="1209243"/>
                  <a:pt x="3300984" y="1143000"/>
                </a:cubicBezTo>
                <a:cubicBezTo>
                  <a:pt x="3575304" y="1077485"/>
                  <a:pt x="3849624" y="996696"/>
                  <a:pt x="4123944" y="923544"/>
                </a:cubicBezTo>
                <a:cubicBezTo>
                  <a:pt x="4398264" y="850392"/>
                  <a:pt x="4672584" y="704088"/>
                  <a:pt x="4946904" y="704088"/>
                </a:cubicBezTo>
                <a:cubicBezTo>
                  <a:pt x="5221224" y="704088"/>
                  <a:pt x="5495544" y="1627378"/>
                  <a:pt x="5769864" y="1713586"/>
                </a:cubicBezTo>
                <a:cubicBezTo>
                  <a:pt x="6047232" y="1800751"/>
                  <a:pt x="6324600" y="1790976"/>
                  <a:pt x="6601968" y="1801368"/>
                </a:cubicBezTo>
                <a:cubicBezTo>
                  <a:pt x="6876288" y="1811646"/>
                  <a:pt x="7150608" y="1830629"/>
                  <a:pt x="7424928" y="1845259"/>
                </a:cubicBezTo>
                <a:cubicBezTo>
                  <a:pt x="7699248" y="1859890"/>
                  <a:pt x="7973568" y="1874600"/>
                  <a:pt x="8247888" y="1889150"/>
                </a:cubicBezTo>
                <a:cubicBezTo>
                  <a:pt x="8525256" y="1903862"/>
                  <a:pt x="8802624" y="1921235"/>
                  <a:pt x="9079992" y="1933042"/>
                </a:cubicBezTo>
                <a:cubicBezTo>
                  <a:pt x="9354312" y="1944718"/>
                  <a:pt x="9628632" y="1934623"/>
                  <a:pt x="9902952" y="1976933"/>
                </a:cubicBezTo>
                <a:cubicBezTo>
                  <a:pt x="10168128" y="2017832"/>
                  <a:pt x="10433304" y="2152498"/>
                  <a:pt x="10698480" y="2240280"/>
                </a:cubicBezTo>
              </a:path>
            </a:pathLst>
          </a:custGeom>
          <a:noFill/>
          <a:ln w="50800">
            <a:solidFill>
              <a:srgbClr val="F26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040 circle"/>
          <p:cNvSpPr/>
          <p:nvPr/>
        </p:nvSpPr>
        <p:spPr>
          <a:xfrm>
            <a:off x="1753743" y="2181466"/>
            <a:ext cx="95250" cy="10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EF0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041 circle"/>
          <p:cNvSpPr/>
          <p:nvPr/>
        </p:nvSpPr>
        <p:spPr>
          <a:xfrm>
            <a:off x="6684772" y="895921"/>
            <a:ext cx="127000" cy="127000"/>
          </a:xfrm>
          <a:prstGeom prst="ellipse">
            <a:avLst/>
          </a:prstGeom>
          <a:solidFill>
            <a:srgbClr val="F49C9A"/>
          </a:solidFill>
          <a:ln w="1905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042 circle"/>
          <p:cNvSpPr/>
          <p:nvPr/>
        </p:nvSpPr>
        <p:spPr>
          <a:xfrm>
            <a:off x="12436348" y="2432113"/>
            <a:ext cx="127000" cy="127000"/>
          </a:xfrm>
          <a:prstGeom prst="ellipse">
            <a:avLst/>
          </a:prstGeom>
          <a:solidFill>
            <a:srgbClr val="F2A0AD"/>
          </a:solidFill>
          <a:ln w="17145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043 box"/>
          <p:cNvSpPr/>
          <p:nvPr/>
        </p:nvSpPr>
        <p:spPr>
          <a:xfrm>
            <a:off x="1895856" y="378015"/>
            <a:ext cx="29972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1D1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044 path"/>
          <p:cNvSpPr/>
          <p:nvPr/>
        </p:nvSpPr>
        <p:spPr>
          <a:xfrm>
            <a:off x="2016506" y="555815"/>
            <a:ext cx="457200" cy="63"/>
          </a:xfrm>
          <a:custGeom>
            <a:avLst/>
            <a:gdLst/>
            <a:ahLst/>
            <a:cxnLst/>
            <a:rect l="l" t="t" r="r" b="b"/>
            <a:pathLst>
              <a:path w="72000" h="10" fill="none" stroke="1">
                <a:moveTo>
                  <a:pt x="0" y="0"/>
                </a:moveTo>
                <a:lnTo>
                  <a:pt x="72000" y="0"/>
                </a:lnTo>
              </a:path>
            </a:pathLst>
          </a:custGeom>
          <a:noFill/>
          <a:ln w="50800">
            <a:solidFill>
              <a:srgbClr val="8370F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045 Hindsight (terminal anchored)"/>
          <p:cNvSpPr txBox="1"/>
          <p:nvPr/>
        </p:nvSpPr>
        <p:spPr>
          <a:xfrm>
            <a:off x="2613406" y="428815"/>
            <a:ext cx="222885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Hindsight prediction f</a:t>
            </a:r>
            <a:r>
              <a:rPr sz="1092" b="0" i="0" baseline="-20000">
                <a:solidFill>
                  <a:srgbClr val="000000"/>
                </a:solidFill>
                <a:latin typeface="Times New Roman"/>
              </a:rPr>
              <a:t>k</a:t>
            </a:r>
          </a:p>
        </p:txBody>
      </p:sp>
      <p:sp>
        <p:nvSpPr>
          <p:cNvPr id="47" name="046 path"/>
          <p:cNvSpPr/>
          <p:nvPr/>
        </p:nvSpPr>
        <p:spPr>
          <a:xfrm>
            <a:off x="2029206" y="790765"/>
            <a:ext cx="438150" cy="63"/>
          </a:xfrm>
          <a:custGeom>
            <a:avLst/>
            <a:gdLst/>
            <a:ahLst/>
            <a:cxnLst/>
            <a:rect l="l" t="t" r="r" b="b"/>
            <a:pathLst>
              <a:path w="69000" h="10" fill="none" stroke="1">
                <a:moveTo>
                  <a:pt x="0" y="0"/>
                </a:moveTo>
                <a:lnTo>
                  <a:pt x="69000" y="0"/>
                </a:lnTo>
              </a:path>
            </a:pathLst>
          </a:custGeom>
          <a:noFill/>
          <a:ln w="50800">
            <a:solidFill>
              <a:srgbClr val="E939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047 Oracle value  V(s{sub:k})"/>
          <p:cNvSpPr txBox="1"/>
          <p:nvPr/>
        </p:nvSpPr>
        <p:spPr>
          <a:xfrm>
            <a:off x="2613406" y="676465"/>
            <a:ext cx="210185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000000"/>
                </a:solidFill>
                <a:latin typeface="Times New Roman"/>
              </a:rPr>
              <a:t>Oracle value V(s</a:t>
            </a:r>
            <a:r>
              <a:rPr sz="1131" b="0" i="0" baseline="-20000">
                <a:solidFill>
                  <a:srgbClr val="000000"/>
                </a:solidFill>
                <a:latin typeface="Times New Roman"/>
              </a:rPr>
              <a:t>k</a:t>
            </a:r>
            <a:r>
              <a:rPr sz="1450" b="0" i="0">
                <a:solidFill>
                  <a:srgbClr val="000000"/>
                </a:solidFill>
                <a:latin typeface="Times New Roman"/>
              </a:rPr>
              <a:t>)</a:t>
            </a:r>
          </a:p>
        </p:txBody>
      </p:sp>
      <p:sp>
        <p:nvSpPr>
          <p:cNvPr id="49" name="048 Error occurs here"/>
          <p:cNvSpPr txBox="1"/>
          <p:nvPr/>
        </p:nvSpPr>
        <p:spPr>
          <a:xfrm>
            <a:off x="6370828" y="285813"/>
            <a:ext cx="169545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00000"/>
                </a:solidFill>
                <a:latin typeface="Times New Roman"/>
              </a:rPr>
              <a:t>Error occurs here</a:t>
            </a:r>
          </a:p>
        </p:txBody>
      </p:sp>
      <p:sp>
        <p:nvSpPr>
          <p:cNvPr id="50" name="049 arrow curve"/>
          <p:cNvSpPr/>
          <p:nvPr/>
        </p:nvSpPr>
        <p:spPr>
          <a:xfrm>
            <a:off x="6808978" y="565213"/>
            <a:ext cx="234950" cy="304800"/>
          </a:xfrm>
          <a:custGeom>
            <a:avLst/>
            <a:gdLst/>
            <a:ahLst/>
            <a:cxnLst/>
            <a:rect l="l" t="t" r="r" b="b"/>
            <a:pathLst>
              <a:path w="37000" h="48000" fill="none" stroke="1">
                <a:moveTo>
                  <a:pt x="37000" y="0"/>
                </a:moveTo>
                <a:cubicBezTo>
                  <a:pt x="19000" y="16000"/>
                  <a:pt x="12000" y="30000"/>
                  <a:pt x="0" y="48000"/>
                </a:cubicBez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050 arrowhead"/>
          <p:cNvSpPr/>
          <p:nvPr/>
        </p:nvSpPr>
        <p:spPr>
          <a:xfrm>
            <a:off x="6808978" y="753247"/>
            <a:ext cx="100298" cy="116765"/>
          </a:xfrm>
          <a:custGeom>
            <a:avLst/>
            <a:gdLst/>
            <a:ahLst/>
            <a:cxnLst/>
            <a:rect l="l" t="t" r="r" b="b"/>
            <a:pathLst>
              <a:path w="15795" h="18388" fill="norm" stroke="1">
                <a:moveTo>
                  <a:pt x="0" y="18388"/>
                </a:moveTo>
                <a:lnTo>
                  <a:pt x="15795" y="8487"/>
                </a:lnTo>
                <a:lnTo>
                  <a:pt x="3065" y="0"/>
                </a:lnTo>
                <a:close/>
              </a:path>
            </a:pathLst>
          </a:custGeom>
          <a:solidFill>
            <a:srgbClr val="0000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051 High hindsight prediction&#10;despite low success pr"/>
          <p:cNvSpPr txBox="1"/>
          <p:nvPr/>
        </p:nvSpPr>
        <p:spPr>
          <a:xfrm>
            <a:off x="8059801" y="1169733"/>
            <a:ext cx="3155950" cy="5270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ED5F58"/>
                </a:solidFill>
                <a:latin typeface="Times New Roman"/>
              </a:rPr>
              <a:t>Prefix still matches reference c: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>
                <a:solidFill>
                  <a:srgbClr val="ED5F58"/>
                </a:solidFill>
                <a:latin typeface="Times New Roman"/>
              </a:rPr>
              <a:t>high f</a:t>
            </a:r>
            <a:r>
              <a:rPr sz="1287" b="0" i="0" baseline="-20000">
                <a:solidFill>
                  <a:srgbClr val="ED5F58"/>
                </a:solidFill>
                <a:latin typeface="Times New Roman"/>
              </a:rPr>
              <a:t>k</a:t>
            </a:r>
            <a:r>
              <a:rPr sz="1650" b="0" i="0">
                <a:solidFill>
                  <a:srgbClr val="ED5F58"/>
                </a:solidFill>
                <a:latin typeface="Times New Roman"/>
              </a:rPr>
              <a:t>, low V(s</a:t>
            </a:r>
            <a:r>
              <a:rPr sz="1287" b="0" i="0" baseline="-20000">
                <a:solidFill>
                  <a:srgbClr val="ED5F58"/>
                </a:solidFill>
                <a:latin typeface="Times New Roman"/>
              </a:rPr>
              <a:t>k</a:t>
            </a:r>
            <a:r>
              <a:rPr sz="1650" b="0" i="0">
                <a:solidFill>
                  <a:srgbClr val="ED5F58"/>
                </a:solidFill>
                <a:latin typeface="Times New Roman"/>
              </a:rPr>
              <a:t>)</a:t>
            </a:r>
          </a:p>
        </p:txBody>
      </p:sp>
      <p:sp>
        <p:nvSpPr>
          <p:cNvPr id="53" name="052 Hindsight&#10;blames here"/>
          <p:cNvSpPr txBox="1"/>
          <p:nvPr/>
        </p:nvSpPr>
        <p:spPr>
          <a:xfrm>
            <a:off x="11772900" y="670115"/>
            <a:ext cx="1162050" cy="533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00"/>
                </a:solidFill>
                <a:latin typeface="Times New Roman"/>
              </a:rPr>
              <a:t>Hindsight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000000"/>
                </a:solidFill>
                <a:latin typeface="Times New Roman"/>
              </a:rPr>
              <a:t>blames here</a:t>
            </a:r>
          </a:p>
        </p:txBody>
      </p:sp>
      <p:sp>
        <p:nvSpPr>
          <p:cNvPr id="54" name="053 arrow curve"/>
          <p:cNvSpPr/>
          <p:nvPr/>
        </p:nvSpPr>
        <p:spPr>
          <a:xfrm>
            <a:off x="11912600" y="1159065"/>
            <a:ext cx="273050" cy="323850"/>
          </a:xfrm>
          <a:custGeom>
            <a:avLst/>
            <a:gdLst/>
            <a:ahLst/>
            <a:cxnLst/>
            <a:rect l="l" t="t" r="r" b="b"/>
            <a:pathLst>
              <a:path w="43000" h="51000" fill="none" stroke="1">
                <a:moveTo>
                  <a:pt x="43000" y="0"/>
                </a:moveTo>
                <a:cubicBezTo>
                  <a:pt x="38000" y="24000"/>
                  <a:pt x="18000" y="37000"/>
                  <a:pt x="0" y="51000"/>
                </a:cubicBez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054 arrowhead"/>
          <p:cNvSpPr/>
          <p:nvPr/>
        </p:nvSpPr>
        <p:spPr>
          <a:xfrm>
            <a:off x="11912600" y="1372141"/>
            <a:ext cx="121800" cy="110773"/>
          </a:xfrm>
          <a:custGeom>
            <a:avLst/>
            <a:gdLst/>
            <a:ahLst/>
            <a:cxnLst/>
            <a:rect l="l" t="t" r="r" b="b"/>
            <a:pathLst>
              <a:path w="19181" h="17444" fill="norm" stroke="1">
                <a:moveTo>
                  <a:pt x="0" y="17445"/>
                </a:moveTo>
                <a:lnTo>
                  <a:pt x="19181" y="12788"/>
                </a:lnTo>
                <a:lnTo>
                  <a:pt x="9235" y="0"/>
                </a:lnTo>
                <a:close/>
              </a:path>
            </a:pathLst>
          </a:custGeom>
          <a:solidFill>
            <a:srgbClr val="000000"/>
          </a:solidFill>
          <a:ln w="381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099 circle"/>
          <p:cNvSpPr/>
          <p:nvPr/>
        </p:nvSpPr>
        <p:spPr>
          <a:xfrm>
            <a:off x="12617450" y="2130615"/>
            <a:ext cx="279400" cy="279400"/>
          </a:xfrm>
          <a:prstGeom prst="ellipse">
            <a:avLst/>
          </a:prstGeom>
          <a:solidFill>
            <a:srgbClr val="FF9E9E"/>
          </a:solidFill>
          <a:ln w="19050">
            <a:solidFill>
              <a:srgbClr val="1616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100 path"/>
          <p:cNvSpPr/>
          <p:nvPr/>
        </p:nvSpPr>
        <p:spPr>
          <a:xfrm>
            <a:off x="12700000" y="220681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8000" h="18000" fill="none" stroke="1">
                <a:moveTo>
                  <a:pt x="0" y="0"/>
                </a:moveTo>
                <a:lnTo>
                  <a:pt x="18000" y="18000"/>
                </a:lnTo>
              </a:path>
            </a:pathLst>
          </a:custGeom>
          <a:noFill/>
          <a:ln w="241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101 path"/>
          <p:cNvSpPr/>
          <p:nvPr/>
        </p:nvSpPr>
        <p:spPr>
          <a:xfrm>
            <a:off x="12700000" y="2206815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8000" h="18000" fill="none" stroke="1">
                <a:moveTo>
                  <a:pt x="18000" y="0"/>
                </a:moveTo>
                <a:lnTo>
                  <a:pt x="0" y="18000"/>
                </a:lnTo>
              </a:path>
            </a:pathLst>
          </a:custGeom>
          <a:noFill/>
          <a:ln w="241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racle credit strip"/>
          <p:cNvSpPr/>
          <p:nvPr/>
        </p:nvSpPr>
        <p:spPr>
          <a:xfrm>
            <a:off x="164592" y="2907093"/>
            <a:ext cx="12664440" cy="47548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 cap="rnd">
            <a:solidFill>
              <a:srgbClr val="C9C9C9"/>
            </a:solidFill>
            <a:round/>
          </a:ln>
        </p:spPr>
      </p:sp>
      <p:sp>
        <p:nvSpPr>
          <p:cNvPr id="188" name="Oracle credit label fill"/>
          <p:cNvSpPr/>
          <p:nvPr/>
        </p:nvSpPr>
        <p:spPr>
          <a:xfrm>
            <a:off x="164592" y="2907093"/>
            <a:ext cx="1508760" cy="475488"/>
          </a:xfrm>
          <a:custGeom>
            <a:avLst/>
            <a:gdLst/>
            <a:ahLst/>
            <a:cxnLst/>
            <a:rect l="l" t="t" r="r" b="b"/>
            <a:pathLst>
              <a:path w="1508760" h="475488" fill="norm">
                <a:moveTo>
                  <a:pt x="1508760" y="0"/>
                </a:moveTo>
                <a:lnTo>
                  <a:pt x="54864" y="0"/>
                </a:lnTo>
                <a:cubicBezTo>
                  <a:pt x="27432" y="0"/>
                  <a:pt x="0" y="27432"/>
                  <a:pt x="0" y="54864"/>
                </a:cubicBezTo>
                <a:lnTo>
                  <a:pt x="0" y="420624"/>
                </a:lnTo>
                <a:cubicBezTo>
                  <a:pt x="0" y="448056"/>
                  <a:pt x="27432" y="475488"/>
                  <a:pt x="54864" y="475488"/>
                </a:cubicBezTo>
                <a:lnTo>
                  <a:pt x="1508760" y="475488"/>
                </a:lnTo>
                <a:close/>
              </a:path>
            </a:pathLst>
          </a:custGeom>
          <a:solidFill>
            <a:srgbClr val="FFDCDC"/>
          </a:solidFill>
          <a:ln>
            <a:noFill/>
          </a:ln>
        </p:spPr>
      </p:sp>
      <p:sp>
        <p:nvSpPr>
          <p:cNvPr id="189" name="Oracle credit label"/>
          <p:cNvSpPr txBox="1"/>
          <p:nvPr/>
        </p:nvSpPr>
        <p:spPr>
          <a:xfrm>
            <a:off x="164592" y="2925381"/>
            <a:ext cx="1508760" cy="4389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000000"/>
                </a:solidFill>
                <a:latin typeface="Times New Roman"/>
                <a:cs typeface="Times New Roman"/>
              </a:rPr>
              <a:t>Oracle credit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000000"/>
                </a:solidFill>
                <a:latin typeface="Times New Roman"/>
                <a:cs typeface="Times New Roman"/>
              </a:rPr>
              <a:t>(ΔV)</a:t>
            </a:r>
          </a:p>
        </p:txBody>
      </p:sp>
      <p:sp>
        <p:nvSpPr>
          <p:cNvPr id="190" name="segment boundary"/>
          <p:cNvSpPr/>
          <p:nvPr/>
        </p:nvSpPr>
        <p:spPr>
          <a:xfrm>
            <a:off x="2624328" y="2943669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191" name="segment boundary"/>
          <p:cNvSpPr/>
          <p:nvPr/>
        </p:nvSpPr>
        <p:spPr>
          <a:xfrm>
            <a:off x="3447288" y="2943669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192" name="segment boundary"/>
          <p:cNvSpPr/>
          <p:nvPr/>
        </p:nvSpPr>
        <p:spPr>
          <a:xfrm>
            <a:off x="4270248" y="2943669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193" name="segment boundary"/>
          <p:cNvSpPr/>
          <p:nvPr/>
        </p:nvSpPr>
        <p:spPr>
          <a:xfrm>
            <a:off x="5102352" y="2943669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194" name="segment boundary"/>
          <p:cNvSpPr/>
          <p:nvPr/>
        </p:nvSpPr>
        <p:spPr>
          <a:xfrm>
            <a:off x="5925312" y="2943669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195" name="segment boundary"/>
          <p:cNvSpPr/>
          <p:nvPr/>
        </p:nvSpPr>
        <p:spPr>
          <a:xfrm>
            <a:off x="6748272" y="2943669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196" name="segment boundary"/>
          <p:cNvSpPr/>
          <p:nvPr/>
        </p:nvSpPr>
        <p:spPr>
          <a:xfrm>
            <a:off x="7571232" y="2943669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197" name="segment boundary"/>
          <p:cNvSpPr/>
          <p:nvPr/>
        </p:nvSpPr>
        <p:spPr>
          <a:xfrm>
            <a:off x="8403336" y="2943669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198" name="segment boundary"/>
          <p:cNvSpPr/>
          <p:nvPr/>
        </p:nvSpPr>
        <p:spPr>
          <a:xfrm>
            <a:off x="9226296" y="2943669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199" name="segment boundary"/>
          <p:cNvSpPr/>
          <p:nvPr/>
        </p:nvSpPr>
        <p:spPr>
          <a:xfrm>
            <a:off x="10049256" y="2943669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00" name="segment boundary"/>
          <p:cNvSpPr/>
          <p:nvPr/>
        </p:nvSpPr>
        <p:spPr>
          <a:xfrm>
            <a:off x="10881360" y="2943669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01" name="segment boundary"/>
          <p:cNvSpPr/>
          <p:nvPr/>
        </p:nvSpPr>
        <p:spPr>
          <a:xfrm>
            <a:off x="11704320" y="2943669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02" name="zero line"/>
          <p:cNvSpPr/>
          <p:nvPr/>
        </p:nvSpPr>
        <p:spPr>
          <a:xfrm>
            <a:off x="1801368" y="3144837"/>
            <a:ext cx="10698480" cy="1"/>
          </a:xfrm>
          <a:custGeom>
            <a:avLst/>
            <a:gdLst/>
            <a:ahLst/>
            <a:cxnLst/>
            <a:rect l="l" t="t" r="r" b="b"/>
            <a:pathLst>
              <a:path w="10698480" h="1" fill="none">
                <a:moveTo>
                  <a:pt x="0" y="0"/>
                </a:moveTo>
                <a:lnTo>
                  <a:pt x="10698480" y="0"/>
                </a:lnTo>
              </a:path>
            </a:pathLst>
          </a:custGeom>
          <a:noFill/>
          <a:ln w="11430" cap="rnd">
            <a:solidFill>
              <a:srgbClr val="C4C4C4"/>
            </a:solidFill>
            <a:round/>
          </a:ln>
        </p:spPr>
      </p:sp>
      <p:sp>
        <p:nvSpPr>
          <p:cNvPr id="203" name="credit stem"/>
          <p:cNvSpPr/>
          <p:nvPr/>
        </p:nvSpPr>
        <p:spPr>
          <a:xfrm>
            <a:off x="2212848" y="3115682"/>
            <a:ext cx="1" cy="29155"/>
          </a:xfrm>
          <a:custGeom>
            <a:avLst/>
            <a:gdLst/>
            <a:ahLst/>
            <a:cxnLst/>
            <a:rect l="l" t="t" r="r" b="b"/>
            <a:pathLst>
              <a:path w="1" h="29155" fill="none">
                <a:moveTo>
                  <a:pt x="0" y="29155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E5483F">
                <a:alpha val="55000"/>
              </a:srgbClr>
            </a:solidFill>
            <a:round/>
          </a:ln>
        </p:spPr>
      </p:sp>
      <p:sp>
        <p:nvSpPr>
          <p:cNvPr id="204" name="credit tip"/>
          <p:cNvSpPr/>
          <p:nvPr/>
        </p:nvSpPr>
        <p:spPr>
          <a:xfrm>
            <a:off x="2176272" y="3079106"/>
            <a:ext cx="73152" cy="73152"/>
          </a:xfrm>
          <a:prstGeom prst="ellipse">
            <a:avLst/>
          </a:prstGeom>
          <a:solidFill>
            <a:srgbClr val="E5483F">
              <a:alpha val="55000"/>
            </a:srgbClr>
          </a:solidFill>
          <a:ln>
            <a:noFill/>
          </a:ln>
        </p:spPr>
      </p:sp>
      <p:sp>
        <p:nvSpPr>
          <p:cNvPr id="205" name="credit stem"/>
          <p:cNvSpPr/>
          <p:nvPr/>
        </p:nvSpPr>
        <p:spPr>
          <a:xfrm>
            <a:off x="3035808" y="3112767"/>
            <a:ext cx="1" cy="32070"/>
          </a:xfrm>
          <a:custGeom>
            <a:avLst/>
            <a:gdLst/>
            <a:ahLst/>
            <a:cxnLst/>
            <a:rect l="l" t="t" r="r" b="b"/>
            <a:pathLst>
              <a:path w="1" h="32070" fill="none">
                <a:moveTo>
                  <a:pt x="0" y="32070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E5483F">
                <a:alpha val="55000"/>
              </a:srgbClr>
            </a:solidFill>
            <a:round/>
          </a:ln>
        </p:spPr>
      </p:sp>
      <p:sp>
        <p:nvSpPr>
          <p:cNvPr id="206" name="credit tip"/>
          <p:cNvSpPr/>
          <p:nvPr/>
        </p:nvSpPr>
        <p:spPr>
          <a:xfrm>
            <a:off x="2999232" y="3076191"/>
            <a:ext cx="73152" cy="73152"/>
          </a:xfrm>
          <a:prstGeom prst="ellipse">
            <a:avLst/>
          </a:prstGeom>
          <a:solidFill>
            <a:srgbClr val="E5483F">
              <a:alpha val="55000"/>
            </a:srgbClr>
          </a:solidFill>
          <a:ln>
            <a:noFill/>
          </a:ln>
        </p:spPr>
      </p:sp>
      <p:sp>
        <p:nvSpPr>
          <p:cNvPr id="207" name="credit stem"/>
          <p:cNvSpPr/>
          <p:nvPr/>
        </p:nvSpPr>
        <p:spPr>
          <a:xfrm>
            <a:off x="3858768" y="3118598"/>
            <a:ext cx="1" cy="26239"/>
          </a:xfrm>
          <a:custGeom>
            <a:avLst/>
            <a:gdLst/>
            <a:ahLst/>
            <a:cxnLst/>
            <a:rect l="l" t="t" r="r" b="b"/>
            <a:pathLst>
              <a:path w="1" h="26239" fill="none">
                <a:moveTo>
                  <a:pt x="0" y="26239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E5483F">
                <a:alpha val="55000"/>
              </a:srgbClr>
            </a:solidFill>
            <a:round/>
          </a:ln>
        </p:spPr>
      </p:sp>
      <p:sp>
        <p:nvSpPr>
          <p:cNvPr id="208" name="credit tip"/>
          <p:cNvSpPr/>
          <p:nvPr/>
        </p:nvSpPr>
        <p:spPr>
          <a:xfrm>
            <a:off x="3822192" y="3082022"/>
            <a:ext cx="73152" cy="73152"/>
          </a:xfrm>
          <a:prstGeom prst="ellipse">
            <a:avLst/>
          </a:prstGeom>
          <a:solidFill>
            <a:srgbClr val="E5483F">
              <a:alpha val="55000"/>
            </a:srgbClr>
          </a:solidFill>
          <a:ln>
            <a:noFill/>
          </a:ln>
        </p:spPr>
      </p:sp>
      <p:sp>
        <p:nvSpPr>
          <p:cNvPr id="209" name="credit stem"/>
          <p:cNvSpPr/>
          <p:nvPr/>
        </p:nvSpPr>
        <p:spPr>
          <a:xfrm>
            <a:off x="4686300" y="3121513"/>
            <a:ext cx="1" cy="23324"/>
          </a:xfrm>
          <a:custGeom>
            <a:avLst/>
            <a:gdLst/>
            <a:ahLst/>
            <a:cxnLst/>
            <a:rect l="l" t="t" r="r" b="b"/>
            <a:pathLst>
              <a:path w="1" h="23324" fill="none">
                <a:moveTo>
                  <a:pt x="0" y="23324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E5483F">
                <a:alpha val="55000"/>
              </a:srgbClr>
            </a:solidFill>
            <a:round/>
          </a:ln>
        </p:spPr>
      </p:sp>
      <p:sp>
        <p:nvSpPr>
          <p:cNvPr id="210" name="credit tip"/>
          <p:cNvSpPr/>
          <p:nvPr/>
        </p:nvSpPr>
        <p:spPr>
          <a:xfrm>
            <a:off x="4649724" y="3084937"/>
            <a:ext cx="73152" cy="73152"/>
          </a:xfrm>
          <a:prstGeom prst="ellipse">
            <a:avLst/>
          </a:prstGeom>
          <a:solidFill>
            <a:srgbClr val="E5483F">
              <a:alpha val="55000"/>
            </a:srgbClr>
          </a:solidFill>
          <a:ln>
            <a:noFill/>
          </a:ln>
        </p:spPr>
      </p:sp>
      <p:sp>
        <p:nvSpPr>
          <p:cNvPr id="211" name="credit stem"/>
          <p:cNvSpPr/>
          <p:nvPr/>
        </p:nvSpPr>
        <p:spPr>
          <a:xfrm>
            <a:off x="5513832" y="3115682"/>
            <a:ext cx="1" cy="29155"/>
          </a:xfrm>
          <a:custGeom>
            <a:avLst/>
            <a:gdLst/>
            <a:ahLst/>
            <a:cxnLst/>
            <a:rect l="l" t="t" r="r" b="b"/>
            <a:pathLst>
              <a:path w="1" h="29155" fill="none">
                <a:moveTo>
                  <a:pt x="0" y="29155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E5483F">
                <a:alpha val="55000"/>
              </a:srgbClr>
            </a:solidFill>
            <a:round/>
          </a:ln>
        </p:spPr>
      </p:sp>
      <p:sp>
        <p:nvSpPr>
          <p:cNvPr id="212" name="credit tip"/>
          <p:cNvSpPr/>
          <p:nvPr/>
        </p:nvSpPr>
        <p:spPr>
          <a:xfrm>
            <a:off x="5477256" y="3079106"/>
            <a:ext cx="73152" cy="73152"/>
          </a:xfrm>
          <a:prstGeom prst="ellipse">
            <a:avLst/>
          </a:prstGeom>
          <a:solidFill>
            <a:srgbClr val="E5483F">
              <a:alpha val="55000"/>
            </a:srgbClr>
          </a:solidFill>
          <a:ln>
            <a:noFill/>
          </a:ln>
        </p:spPr>
      </p:sp>
      <p:sp>
        <p:nvSpPr>
          <p:cNvPr id="213" name="credit stem"/>
          <p:cNvSpPr/>
          <p:nvPr/>
        </p:nvSpPr>
        <p:spPr>
          <a:xfrm>
            <a:off x="6336792" y="3115682"/>
            <a:ext cx="1" cy="29155"/>
          </a:xfrm>
          <a:custGeom>
            <a:avLst/>
            <a:gdLst/>
            <a:ahLst/>
            <a:cxnLst/>
            <a:rect l="l" t="t" r="r" b="b"/>
            <a:pathLst>
              <a:path w="1" h="29155" fill="none">
                <a:moveTo>
                  <a:pt x="0" y="29155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E5483F">
                <a:alpha val="55000"/>
              </a:srgbClr>
            </a:solidFill>
            <a:round/>
          </a:ln>
        </p:spPr>
      </p:sp>
      <p:sp>
        <p:nvSpPr>
          <p:cNvPr id="214" name="credit tip"/>
          <p:cNvSpPr/>
          <p:nvPr/>
        </p:nvSpPr>
        <p:spPr>
          <a:xfrm>
            <a:off x="6300216" y="3079106"/>
            <a:ext cx="73152" cy="73152"/>
          </a:xfrm>
          <a:prstGeom prst="ellipse">
            <a:avLst/>
          </a:prstGeom>
          <a:solidFill>
            <a:srgbClr val="E5483F">
              <a:alpha val="55000"/>
            </a:srgbClr>
          </a:solidFill>
          <a:ln>
            <a:noFill/>
          </a:ln>
        </p:spPr>
      </p:sp>
      <p:sp>
        <p:nvSpPr>
          <p:cNvPr id="215" name="credit stem"/>
          <p:cNvSpPr/>
          <p:nvPr/>
        </p:nvSpPr>
        <p:spPr>
          <a:xfrm>
            <a:off x="7159752" y="3144837"/>
            <a:ext cx="1" cy="134112"/>
          </a:xfrm>
          <a:custGeom>
            <a:avLst/>
            <a:gdLst/>
            <a:ahLst/>
            <a:cxnLst/>
            <a:rect l="l" t="t" r="r" b="b"/>
            <a:pathLst>
              <a:path w="1" h="134112" fill="none">
                <a:moveTo>
                  <a:pt x="0" y="0"/>
                </a:moveTo>
                <a:lnTo>
                  <a:pt x="0" y="134112"/>
                </a:lnTo>
              </a:path>
            </a:pathLst>
          </a:custGeom>
          <a:noFill/>
          <a:ln w="31750" cap="flat">
            <a:solidFill>
              <a:srgbClr val="E5483F"/>
            </a:solidFill>
            <a:round/>
          </a:ln>
        </p:spPr>
      </p:sp>
      <p:sp>
        <p:nvSpPr>
          <p:cNvPr id="216" name="credit tip"/>
          <p:cNvSpPr/>
          <p:nvPr/>
        </p:nvSpPr>
        <p:spPr>
          <a:xfrm>
            <a:off x="7123176" y="3242373"/>
            <a:ext cx="73152" cy="73152"/>
          </a:xfrm>
          <a:prstGeom prst="ellipse">
            <a:avLst/>
          </a:prstGeom>
          <a:solidFill>
            <a:srgbClr val="E5483F"/>
          </a:solidFill>
          <a:ln>
            <a:noFill/>
          </a:ln>
        </p:spPr>
      </p:sp>
      <p:sp>
        <p:nvSpPr>
          <p:cNvPr id="217" name="credit stem"/>
          <p:cNvSpPr/>
          <p:nvPr/>
        </p:nvSpPr>
        <p:spPr>
          <a:xfrm>
            <a:off x="7987284" y="3144837"/>
            <a:ext cx="1" cy="11662"/>
          </a:xfrm>
          <a:custGeom>
            <a:avLst/>
            <a:gdLst/>
            <a:ahLst/>
            <a:cxnLst/>
            <a:rect l="l" t="t" r="r" b="b"/>
            <a:pathLst>
              <a:path w="1" h="11662" fill="none">
                <a:moveTo>
                  <a:pt x="0" y="0"/>
                </a:moveTo>
                <a:lnTo>
                  <a:pt x="0" y="11662"/>
                </a:lnTo>
              </a:path>
            </a:pathLst>
          </a:custGeom>
          <a:noFill/>
          <a:ln w="31750" cap="flat">
            <a:solidFill>
              <a:srgbClr val="E5483F"/>
            </a:solidFill>
            <a:round/>
          </a:ln>
        </p:spPr>
      </p:sp>
      <p:sp>
        <p:nvSpPr>
          <p:cNvPr id="218" name="credit tip"/>
          <p:cNvSpPr/>
          <p:nvPr/>
        </p:nvSpPr>
        <p:spPr>
          <a:xfrm>
            <a:off x="7950708" y="3119923"/>
            <a:ext cx="73152" cy="73152"/>
          </a:xfrm>
          <a:prstGeom prst="ellipse">
            <a:avLst/>
          </a:prstGeom>
          <a:solidFill>
            <a:srgbClr val="E5483F"/>
          </a:solidFill>
          <a:ln>
            <a:noFill/>
          </a:ln>
        </p:spPr>
      </p:sp>
      <p:sp>
        <p:nvSpPr>
          <p:cNvPr id="219" name="zero credit"/>
          <p:cNvSpPr/>
          <p:nvPr/>
        </p:nvSpPr>
        <p:spPr>
          <a:xfrm>
            <a:off x="8787384" y="3117405"/>
            <a:ext cx="54864" cy="54864"/>
          </a:xfrm>
          <a:prstGeom prst="ellipse">
            <a:avLst/>
          </a:prstGeom>
          <a:solidFill>
            <a:srgbClr val="C9C9C9"/>
          </a:solidFill>
          <a:ln>
            <a:noFill/>
          </a:ln>
        </p:spPr>
      </p:sp>
      <p:sp>
        <p:nvSpPr>
          <p:cNvPr id="220" name="zero credit"/>
          <p:cNvSpPr/>
          <p:nvPr/>
        </p:nvSpPr>
        <p:spPr>
          <a:xfrm>
            <a:off x="9610344" y="3117405"/>
            <a:ext cx="54864" cy="54864"/>
          </a:xfrm>
          <a:prstGeom prst="ellipse">
            <a:avLst/>
          </a:prstGeom>
          <a:solidFill>
            <a:srgbClr val="C9C9C9"/>
          </a:solidFill>
          <a:ln>
            <a:noFill/>
          </a:ln>
        </p:spPr>
      </p:sp>
      <p:sp>
        <p:nvSpPr>
          <p:cNvPr id="221" name="zero credit"/>
          <p:cNvSpPr/>
          <p:nvPr/>
        </p:nvSpPr>
        <p:spPr>
          <a:xfrm>
            <a:off x="10437876" y="3117405"/>
            <a:ext cx="54864" cy="54864"/>
          </a:xfrm>
          <a:prstGeom prst="ellipse">
            <a:avLst/>
          </a:prstGeom>
          <a:solidFill>
            <a:srgbClr val="C9C9C9"/>
          </a:solidFill>
          <a:ln>
            <a:noFill/>
          </a:ln>
        </p:spPr>
      </p:sp>
      <p:sp>
        <p:nvSpPr>
          <p:cNvPr id="222" name="zero credit"/>
          <p:cNvSpPr/>
          <p:nvPr/>
        </p:nvSpPr>
        <p:spPr>
          <a:xfrm>
            <a:off x="11265408" y="3117405"/>
            <a:ext cx="54864" cy="54864"/>
          </a:xfrm>
          <a:prstGeom prst="ellipse">
            <a:avLst/>
          </a:prstGeom>
          <a:solidFill>
            <a:srgbClr val="C9C9C9"/>
          </a:solidFill>
          <a:ln>
            <a:noFill/>
          </a:ln>
        </p:spPr>
      </p:sp>
      <p:sp>
        <p:nvSpPr>
          <p:cNvPr id="223" name="credit stem"/>
          <p:cNvSpPr/>
          <p:nvPr/>
        </p:nvSpPr>
        <p:spPr>
          <a:xfrm>
            <a:off x="12102084" y="3144837"/>
            <a:ext cx="1" cy="34986"/>
          </a:xfrm>
          <a:custGeom>
            <a:avLst/>
            <a:gdLst/>
            <a:ahLst/>
            <a:cxnLst/>
            <a:rect l="l" t="t" r="r" b="b"/>
            <a:pathLst>
              <a:path w="1" h="34986" fill="none">
                <a:moveTo>
                  <a:pt x="0" y="0"/>
                </a:moveTo>
                <a:lnTo>
                  <a:pt x="0" y="34986"/>
                </a:lnTo>
              </a:path>
            </a:pathLst>
          </a:custGeom>
          <a:noFill/>
          <a:ln w="31750" cap="flat">
            <a:solidFill>
              <a:srgbClr val="E5483F"/>
            </a:solidFill>
            <a:round/>
          </a:ln>
        </p:spPr>
      </p:sp>
      <p:sp>
        <p:nvSpPr>
          <p:cNvPr id="224" name="credit tip"/>
          <p:cNvSpPr/>
          <p:nvPr/>
        </p:nvSpPr>
        <p:spPr>
          <a:xfrm>
            <a:off x="12065508" y="3143247"/>
            <a:ext cx="73152" cy="73152"/>
          </a:xfrm>
          <a:prstGeom prst="ellipse">
            <a:avLst/>
          </a:prstGeom>
          <a:solidFill>
            <a:srgbClr val="E5483F"/>
          </a:solidFill>
          <a:ln>
            <a:noFill/>
          </a:ln>
        </p:spPr>
      </p:sp>
      <p:sp>
        <p:nvSpPr>
          <p:cNvPr id="225" name="Hindsight credit strip"/>
          <p:cNvSpPr/>
          <p:nvPr/>
        </p:nvSpPr>
        <p:spPr>
          <a:xfrm>
            <a:off x="164592" y="3437445"/>
            <a:ext cx="12664440" cy="47548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 cap="rnd">
            <a:solidFill>
              <a:srgbClr val="C9C9C9"/>
            </a:solidFill>
            <a:round/>
          </a:ln>
        </p:spPr>
      </p:sp>
      <p:sp>
        <p:nvSpPr>
          <p:cNvPr id="226" name="Hindsight credit label fill"/>
          <p:cNvSpPr/>
          <p:nvPr/>
        </p:nvSpPr>
        <p:spPr>
          <a:xfrm>
            <a:off x="164592" y="3437445"/>
            <a:ext cx="1508760" cy="475488"/>
          </a:xfrm>
          <a:custGeom>
            <a:avLst/>
            <a:gdLst/>
            <a:ahLst/>
            <a:cxnLst/>
            <a:rect l="l" t="t" r="r" b="b"/>
            <a:pathLst>
              <a:path w="1508760" h="475488" fill="norm">
                <a:moveTo>
                  <a:pt x="1508760" y="0"/>
                </a:moveTo>
                <a:lnTo>
                  <a:pt x="54864" y="0"/>
                </a:lnTo>
                <a:cubicBezTo>
                  <a:pt x="27432" y="0"/>
                  <a:pt x="0" y="27432"/>
                  <a:pt x="0" y="54864"/>
                </a:cubicBezTo>
                <a:lnTo>
                  <a:pt x="0" y="420624"/>
                </a:lnTo>
                <a:cubicBezTo>
                  <a:pt x="0" y="448056"/>
                  <a:pt x="27432" y="475488"/>
                  <a:pt x="54864" y="475488"/>
                </a:cubicBezTo>
                <a:lnTo>
                  <a:pt x="1508760" y="475488"/>
                </a:lnTo>
                <a:close/>
              </a:path>
            </a:pathLst>
          </a:custGeom>
          <a:solidFill>
            <a:srgbClr val="E7E2FF"/>
          </a:solidFill>
          <a:ln>
            <a:noFill/>
          </a:ln>
        </p:spPr>
      </p:sp>
      <p:sp>
        <p:nvSpPr>
          <p:cNvPr id="227" name="Hindsight credit label"/>
          <p:cNvSpPr txBox="1"/>
          <p:nvPr/>
        </p:nvSpPr>
        <p:spPr>
          <a:xfrm>
            <a:off x="164592" y="3455733"/>
            <a:ext cx="1508760" cy="4389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000000"/>
                </a:solidFill>
                <a:latin typeface="Times New Roman"/>
                <a:cs typeface="Times New Roman"/>
              </a:rPr>
              <a:t>Hindsight credit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000000"/>
                </a:solidFill>
                <a:latin typeface="Times New Roman"/>
                <a:cs typeface="Times New Roman"/>
              </a:rPr>
              <a:t>(Δf)</a:t>
            </a:r>
          </a:p>
        </p:txBody>
      </p:sp>
      <p:sp>
        <p:nvSpPr>
          <p:cNvPr id="228" name="segment boundary"/>
          <p:cNvSpPr/>
          <p:nvPr/>
        </p:nvSpPr>
        <p:spPr>
          <a:xfrm>
            <a:off x="2624328" y="3474021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29" name="segment boundary"/>
          <p:cNvSpPr/>
          <p:nvPr/>
        </p:nvSpPr>
        <p:spPr>
          <a:xfrm>
            <a:off x="3447288" y="3474021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30" name="segment boundary"/>
          <p:cNvSpPr/>
          <p:nvPr/>
        </p:nvSpPr>
        <p:spPr>
          <a:xfrm>
            <a:off x="4270248" y="3474021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31" name="segment boundary"/>
          <p:cNvSpPr/>
          <p:nvPr/>
        </p:nvSpPr>
        <p:spPr>
          <a:xfrm>
            <a:off x="5102352" y="3474021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32" name="segment boundary"/>
          <p:cNvSpPr/>
          <p:nvPr/>
        </p:nvSpPr>
        <p:spPr>
          <a:xfrm>
            <a:off x="5925312" y="3474021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33" name="segment boundary"/>
          <p:cNvSpPr/>
          <p:nvPr/>
        </p:nvSpPr>
        <p:spPr>
          <a:xfrm>
            <a:off x="6748272" y="3474021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34" name="segment boundary"/>
          <p:cNvSpPr/>
          <p:nvPr/>
        </p:nvSpPr>
        <p:spPr>
          <a:xfrm>
            <a:off x="7571232" y="3474021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35" name="segment boundary"/>
          <p:cNvSpPr/>
          <p:nvPr/>
        </p:nvSpPr>
        <p:spPr>
          <a:xfrm>
            <a:off x="8403336" y="3474021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36" name="segment boundary"/>
          <p:cNvSpPr/>
          <p:nvPr/>
        </p:nvSpPr>
        <p:spPr>
          <a:xfrm>
            <a:off x="9226296" y="3474021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37" name="segment boundary"/>
          <p:cNvSpPr/>
          <p:nvPr/>
        </p:nvSpPr>
        <p:spPr>
          <a:xfrm>
            <a:off x="10049256" y="3474021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38" name="segment boundary"/>
          <p:cNvSpPr/>
          <p:nvPr/>
        </p:nvSpPr>
        <p:spPr>
          <a:xfrm>
            <a:off x="10881360" y="3474021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39" name="segment boundary"/>
          <p:cNvSpPr/>
          <p:nvPr/>
        </p:nvSpPr>
        <p:spPr>
          <a:xfrm>
            <a:off x="11704320" y="3474021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40" name="zero line"/>
          <p:cNvSpPr/>
          <p:nvPr/>
        </p:nvSpPr>
        <p:spPr>
          <a:xfrm>
            <a:off x="1801368" y="3675189"/>
            <a:ext cx="10698480" cy="1"/>
          </a:xfrm>
          <a:custGeom>
            <a:avLst/>
            <a:gdLst/>
            <a:ahLst/>
            <a:cxnLst/>
            <a:rect l="l" t="t" r="r" b="b"/>
            <a:pathLst>
              <a:path w="10698480" h="1" fill="none">
                <a:moveTo>
                  <a:pt x="0" y="0"/>
                </a:moveTo>
                <a:lnTo>
                  <a:pt x="10698480" y="0"/>
                </a:lnTo>
              </a:path>
            </a:pathLst>
          </a:custGeom>
          <a:noFill/>
          <a:ln w="11430" cap="rnd">
            <a:solidFill>
              <a:srgbClr val="C4C4C4"/>
            </a:solidFill>
            <a:round/>
          </a:ln>
        </p:spPr>
      </p:sp>
      <p:sp>
        <p:nvSpPr>
          <p:cNvPr id="241" name="credit stem"/>
          <p:cNvSpPr/>
          <p:nvPr/>
        </p:nvSpPr>
        <p:spPr>
          <a:xfrm>
            <a:off x="2212848" y="3643119"/>
            <a:ext cx="1" cy="32070"/>
          </a:xfrm>
          <a:custGeom>
            <a:avLst/>
            <a:gdLst/>
            <a:ahLst/>
            <a:cxnLst/>
            <a:rect l="l" t="t" r="r" b="b"/>
            <a:pathLst>
              <a:path w="1" h="32070" fill="none">
                <a:moveTo>
                  <a:pt x="0" y="32070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6A55E8">
                <a:alpha val="55000"/>
              </a:srgbClr>
            </a:solidFill>
            <a:round/>
          </a:ln>
        </p:spPr>
      </p:sp>
      <p:sp>
        <p:nvSpPr>
          <p:cNvPr id="242" name="credit tip"/>
          <p:cNvSpPr/>
          <p:nvPr/>
        </p:nvSpPr>
        <p:spPr>
          <a:xfrm>
            <a:off x="2176272" y="3606543"/>
            <a:ext cx="73152" cy="73152"/>
          </a:xfrm>
          <a:prstGeom prst="ellipse">
            <a:avLst/>
          </a:prstGeom>
          <a:solidFill>
            <a:srgbClr val="6A55E8">
              <a:alpha val="55000"/>
            </a:srgbClr>
          </a:solidFill>
          <a:ln>
            <a:noFill/>
          </a:ln>
        </p:spPr>
      </p:sp>
      <p:sp>
        <p:nvSpPr>
          <p:cNvPr id="243" name="credit stem"/>
          <p:cNvSpPr/>
          <p:nvPr/>
        </p:nvSpPr>
        <p:spPr>
          <a:xfrm>
            <a:off x="3035808" y="3643119"/>
            <a:ext cx="1" cy="32070"/>
          </a:xfrm>
          <a:custGeom>
            <a:avLst/>
            <a:gdLst/>
            <a:ahLst/>
            <a:cxnLst/>
            <a:rect l="l" t="t" r="r" b="b"/>
            <a:pathLst>
              <a:path w="1" h="32070" fill="none">
                <a:moveTo>
                  <a:pt x="0" y="32070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6A55E8">
                <a:alpha val="55000"/>
              </a:srgbClr>
            </a:solidFill>
            <a:round/>
          </a:ln>
        </p:spPr>
      </p:sp>
      <p:sp>
        <p:nvSpPr>
          <p:cNvPr id="244" name="credit tip"/>
          <p:cNvSpPr/>
          <p:nvPr/>
        </p:nvSpPr>
        <p:spPr>
          <a:xfrm>
            <a:off x="2999232" y="3606543"/>
            <a:ext cx="73152" cy="73152"/>
          </a:xfrm>
          <a:prstGeom prst="ellipse">
            <a:avLst/>
          </a:prstGeom>
          <a:solidFill>
            <a:srgbClr val="6A55E8">
              <a:alpha val="55000"/>
            </a:srgbClr>
          </a:solidFill>
          <a:ln>
            <a:noFill/>
          </a:ln>
        </p:spPr>
      </p:sp>
      <p:sp>
        <p:nvSpPr>
          <p:cNvPr id="245" name="credit stem"/>
          <p:cNvSpPr/>
          <p:nvPr/>
        </p:nvSpPr>
        <p:spPr>
          <a:xfrm>
            <a:off x="3858768" y="3648950"/>
            <a:ext cx="1" cy="26239"/>
          </a:xfrm>
          <a:custGeom>
            <a:avLst/>
            <a:gdLst/>
            <a:ahLst/>
            <a:cxnLst/>
            <a:rect l="l" t="t" r="r" b="b"/>
            <a:pathLst>
              <a:path w="1" h="26239" fill="none">
                <a:moveTo>
                  <a:pt x="0" y="26239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6A55E8">
                <a:alpha val="55000"/>
              </a:srgbClr>
            </a:solidFill>
            <a:round/>
          </a:ln>
        </p:spPr>
      </p:sp>
      <p:sp>
        <p:nvSpPr>
          <p:cNvPr id="246" name="credit tip"/>
          <p:cNvSpPr/>
          <p:nvPr/>
        </p:nvSpPr>
        <p:spPr>
          <a:xfrm>
            <a:off x="3822192" y="3612374"/>
            <a:ext cx="73152" cy="73152"/>
          </a:xfrm>
          <a:prstGeom prst="ellipse">
            <a:avLst/>
          </a:prstGeom>
          <a:solidFill>
            <a:srgbClr val="6A55E8">
              <a:alpha val="55000"/>
            </a:srgbClr>
          </a:solidFill>
          <a:ln>
            <a:noFill/>
          </a:ln>
        </p:spPr>
      </p:sp>
      <p:sp>
        <p:nvSpPr>
          <p:cNvPr id="247" name="credit stem"/>
          <p:cNvSpPr/>
          <p:nvPr/>
        </p:nvSpPr>
        <p:spPr>
          <a:xfrm>
            <a:off x="4686300" y="3651865"/>
            <a:ext cx="1" cy="23324"/>
          </a:xfrm>
          <a:custGeom>
            <a:avLst/>
            <a:gdLst/>
            <a:ahLst/>
            <a:cxnLst/>
            <a:rect l="l" t="t" r="r" b="b"/>
            <a:pathLst>
              <a:path w="1" h="23324" fill="none">
                <a:moveTo>
                  <a:pt x="0" y="23324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6A55E8">
                <a:alpha val="55000"/>
              </a:srgbClr>
            </a:solidFill>
            <a:round/>
          </a:ln>
        </p:spPr>
      </p:sp>
      <p:sp>
        <p:nvSpPr>
          <p:cNvPr id="248" name="credit tip"/>
          <p:cNvSpPr/>
          <p:nvPr/>
        </p:nvSpPr>
        <p:spPr>
          <a:xfrm>
            <a:off x="4649724" y="3615289"/>
            <a:ext cx="73152" cy="73152"/>
          </a:xfrm>
          <a:prstGeom prst="ellipse">
            <a:avLst/>
          </a:prstGeom>
          <a:solidFill>
            <a:srgbClr val="6A55E8">
              <a:alpha val="55000"/>
            </a:srgbClr>
          </a:solidFill>
          <a:ln>
            <a:noFill/>
          </a:ln>
        </p:spPr>
      </p:sp>
      <p:sp>
        <p:nvSpPr>
          <p:cNvPr id="249" name="credit stem"/>
          <p:cNvSpPr/>
          <p:nvPr/>
        </p:nvSpPr>
        <p:spPr>
          <a:xfrm>
            <a:off x="5513832" y="3646034"/>
            <a:ext cx="1" cy="29155"/>
          </a:xfrm>
          <a:custGeom>
            <a:avLst/>
            <a:gdLst/>
            <a:ahLst/>
            <a:cxnLst/>
            <a:rect l="l" t="t" r="r" b="b"/>
            <a:pathLst>
              <a:path w="1" h="29155" fill="none">
                <a:moveTo>
                  <a:pt x="0" y="29155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6A55E8">
                <a:alpha val="55000"/>
              </a:srgbClr>
            </a:solidFill>
            <a:round/>
          </a:ln>
        </p:spPr>
      </p:sp>
      <p:sp>
        <p:nvSpPr>
          <p:cNvPr id="250" name="credit tip"/>
          <p:cNvSpPr/>
          <p:nvPr/>
        </p:nvSpPr>
        <p:spPr>
          <a:xfrm>
            <a:off x="5477256" y="3609458"/>
            <a:ext cx="73152" cy="73152"/>
          </a:xfrm>
          <a:prstGeom prst="ellipse">
            <a:avLst/>
          </a:prstGeom>
          <a:solidFill>
            <a:srgbClr val="6A55E8">
              <a:alpha val="55000"/>
            </a:srgbClr>
          </a:solidFill>
          <a:ln>
            <a:noFill/>
          </a:ln>
        </p:spPr>
      </p:sp>
      <p:sp>
        <p:nvSpPr>
          <p:cNvPr id="251" name="credit stem"/>
          <p:cNvSpPr/>
          <p:nvPr/>
        </p:nvSpPr>
        <p:spPr>
          <a:xfrm>
            <a:off x="6336792" y="3646034"/>
            <a:ext cx="1" cy="29155"/>
          </a:xfrm>
          <a:custGeom>
            <a:avLst/>
            <a:gdLst/>
            <a:ahLst/>
            <a:cxnLst/>
            <a:rect l="l" t="t" r="r" b="b"/>
            <a:pathLst>
              <a:path w="1" h="29155" fill="none">
                <a:moveTo>
                  <a:pt x="0" y="29155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6A55E8">
                <a:alpha val="55000"/>
              </a:srgbClr>
            </a:solidFill>
            <a:round/>
          </a:ln>
        </p:spPr>
      </p:sp>
      <p:sp>
        <p:nvSpPr>
          <p:cNvPr id="252" name="credit tip"/>
          <p:cNvSpPr/>
          <p:nvPr/>
        </p:nvSpPr>
        <p:spPr>
          <a:xfrm>
            <a:off x="6300216" y="3609458"/>
            <a:ext cx="73152" cy="73152"/>
          </a:xfrm>
          <a:prstGeom prst="ellipse">
            <a:avLst/>
          </a:prstGeom>
          <a:solidFill>
            <a:srgbClr val="6A55E8">
              <a:alpha val="55000"/>
            </a:srgbClr>
          </a:solidFill>
          <a:ln>
            <a:noFill/>
          </a:ln>
        </p:spPr>
      </p:sp>
      <p:sp>
        <p:nvSpPr>
          <p:cNvPr id="253" name="zero credit"/>
          <p:cNvSpPr/>
          <p:nvPr/>
        </p:nvSpPr>
        <p:spPr>
          <a:xfrm>
            <a:off x="7132320" y="3647757"/>
            <a:ext cx="54864" cy="54864"/>
          </a:xfrm>
          <a:prstGeom prst="ellipse">
            <a:avLst/>
          </a:prstGeom>
          <a:solidFill>
            <a:srgbClr val="C9C9C9"/>
          </a:solidFill>
          <a:ln>
            <a:noFill/>
          </a:ln>
        </p:spPr>
      </p:sp>
      <p:sp>
        <p:nvSpPr>
          <p:cNvPr id="254" name="zero credit"/>
          <p:cNvSpPr/>
          <p:nvPr/>
        </p:nvSpPr>
        <p:spPr>
          <a:xfrm>
            <a:off x="7959852" y="3647757"/>
            <a:ext cx="54864" cy="54864"/>
          </a:xfrm>
          <a:prstGeom prst="ellipse">
            <a:avLst/>
          </a:prstGeom>
          <a:solidFill>
            <a:srgbClr val="C9C9C9"/>
          </a:solidFill>
          <a:ln>
            <a:noFill/>
          </a:ln>
        </p:spPr>
      </p:sp>
      <p:sp>
        <p:nvSpPr>
          <p:cNvPr id="255" name="zero credit"/>
          <p:cNvSpPr/>
          <p:nvPr/>
        </p:nvSpPr>
        <p:spPr>
          <a:xfrm>
            <a:off x="8787384" y="3647757"/>
            <a:ext cx="54864" cy="54864"/>
          </a:xfrm>
          <a:prstGeom prst="ellipse">
            <a:avLst/>
          </a:prstGeom>
          <a:solidFill>
            <a:srgbClr val="C9C9C9"/>
          </a:solidFill>
          <a:ln>
            <a:noFill/>
          </a:ln>
        </p:spPr>
      </p:sp>
      <p:sp>
        <p:nvSpPr>
          <p:cNvPr id="256" name="zero credit"/>
          <p:cNvSpPr/>
          <p:nvPr/>
        </p:nvSpPr>
        <p:spPr>
          <a:xfrm>
            <a:off x="9610344" y="3647757"/>
            <a:ext cx="54864" cy="54864"/>
          </a:xfrm>
          <a:prstGeom prst="ellipse">
            <a:avLst/>
          </a:prstGeom>
          <a:solidFill>
            <a:srgbClr val="C9C9C9"/>
          </a:solidFill>
          <a:ln>
            <a:noFill/>
          </a:ln>
        </p:spPr>
      </p:sp>
      <p:sp>
        <p:nvSpPr>
          <p:cNvPr id="257" name="zero credit"/>
          <p:cNvSpPr/>
          <p:nvPr/>
        </p:nvSpPr>
        <p:spPr>
          <a:xfrm>
            <a:off x="10437876" y="3647757"/>
            <a:ext cx="54864" cy="54864"/>
          </a:xfrm>
          <a:prstGeom prst="ellipse">
            <a:avLst/>
          </a:prstGeom>
          <a:solidFill>
            <a:srgbClr val="C9C9C9"/>
          </a:solidFill>
          <a:ln>
            <a:noFill/>
          </a:ln>
        </p:spPr>
      </p:sp>
      <p:sp>
        <p:nvSpPr>
          <p:cNvPr id="258" name="zero credit"/>
          <p:cNvSpPr/>
          <p:nvPr/>
        </p:nvSpPr>
        <p:spPr>
          <a:xfrm>
            <a:off x="11265408" y="3647757"/>
            <a:ext cx="54864" cy="54864"/>
          </a:xfrm>
          <a:prstGeom prst="ellipse">
            <a:avLst/>
          </a:prstGeom>
          <a:solidFill>
            <a:srgbClr val="C9C9C9"/>
          </a:solidFill>
          <a:ln>
            <a:noFill/>
          </a:ln>
        </p:spPr>
      </p:sp>
      <p:sp>
        <p:nvSpPr>
          <p:cNvPr id="259" name="credit stem"/>
          <p:cNvSpPr/>
          <p:nvPr/>
        </p:nvSpPr>
        <p:spPr>
          <a:xfrm>
            <a:off x="12102084" y="3675189"/>
            <a:ext cx="1" cy="201168"/>
          </a:xfrm>
          <a:custGeom>
            <a:avLst/>
            <a:gdLst/>
            <a:ahLst/>
            <a:cxnLst/>
            <a:rect l="l" t="t" r="r" b="b"/>
            <a:pathLst>
              <a:path w="1" h="201168" fill="none">
                <a:moveTo>
                  <a:pt x="0" y="0"/>
                </a:moveTo>
                <a:lnTo>
                  <a:pt x="0" y="201168"/>
                </a:lnTo>
              </a:path>
            </a:pathLst>
          </a:custGeom>
          <a:noFill/>
          <a:ln w="31750" cap="flat">
            <a:solidFill>
              <a:srgbClr val="6A55E8"/>
            </a:solidFill>
            <a:round/>
          </a:ln>
        </p:spPr>
      </p:sp>
      <p:sp>
        <p:nvSpPr>
          <p:cNvPr id="260" name="credit tip"/>
          <p:cNvSpPr/>
          <p:nvPr/>
        </p:nvSpPr>
        <p:spPr>
          <a:xfrm>
            <a:off x="12065508" y="3839781"/>
            <a:ext cx="73152" cy="73152"/>
          </a:xfrm>
          <a:prstGeom prst="ellipse">
            <a:avLst/>
          </a:prstGeom>
          <a:solidFill>
            <a:srgbClr val="6A55E8"/>
          </a:solidFill>
          <a:ln>
            <a:noFill/>
          </a:ln>
        </p:spPr>
      </p:sp>
      <p:sp>
        <p:nvSpPr>
          <p:cNvPr id="261" name="ForkOPD credit strip"/>
          <p:cNvSpPr/>
          <p:nvPr/>
        </p:nvSpPr>
        <p:spPr>
          <a:xfrm>
            <a:off x="164592" y="3967797"/>
            <a:ext cx="12664440" cy="475488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 cap="rnd">
            <a:solidFill>
              <a:srgbClr val="C9C9C9"/>
            </a:solidFill>
            <a:round/>
          </a:ln>
        </p:spPr>
      </p:sp>
      <p:sp>
        <p:nvSpPr>
          <p:cNvPr id="262" name="ForkOPD credit label fill"/>
          <p:cNvSpPr/>
          <p:nvPr/>
        </p:nvSpPr>
        <p:spPr>
          <a:xfrm>
            <a:off x="164592" y="3967797"/>
            <a:ext cx="1508760" cy="475488"/>
          </a:xfrm>
          <a:custGeom>
            <a:avLst/>
            <a:gdLst/>
            <a:ahLst/>
            <a:cxnLst/>
            <a:rect l="l" t="t" r="r" b="b"/>
            <a:pathLst>
              <a:path w="1508760" h="475488" fill="norm">
                <a:moveTo>
                  <a:pt x="1508760" y="0"/>
                </a:moveTo>
                <a:lnTo>
                  <a:pt x="54864" y="0"/>
                </a:lnTo>
                <a:cubicBezTo>
                  <a:pt x="27432" y="0"/>
                  <a:pt x="0" y="27432"/>
                  <a:pt x="0" y="54864"/>
                </a:cubicBezTo>
                <a:lnTo>
                  <a:pt x="0" y="420624"/>
                </a:lnTo>
                <a:cubicBezTo>
                  <a:pt x="0" y="448056"/>
                  <a:pt x="27432" y="475488"/>
                  <a:pt x="54864" y="475488"/>
                </a:cubicBezTo>
                <a:lnTo>
                  <a:pt x="1508760" y="475488"/>
                </a:lnTo>
                <a:close/>
              </a:path>
            </a:pathLst>
          </a:custGeom>
          <a:solidFill>
            <a:srgbClr val="FFE6D3"/>
          </a:solidFill>
          <a:ln>
            <a:noFill/>
          </a:ln>
        </p:spPr>
      </p:sp>
      <p:sp>
        <p:nvSpPr>
          <p:cNvPr id="263" name="ForkOPD credit label"/>
          <p:cNvSpPr txBox="1"/>
          <p:nvPr/>
        </p:nvSpPr>
        <p:spPr>
          <a:xfrm>
            <a:off x="164592" y="3986085"/>
            <a:ext cx="1508760" cy="4389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1" i="0">
                <a:solidFill>
                  <a:srgbClr val="000000"/>
                </a:solidFill>
                <a:latin typeface="Times New Roman"/>
                <a:cs typeface="Times New Roman"/>
              </a:rPr>
              <a:t>ForkOPD credit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350" b="0" i="0">
                <a:solidFill>
                  <a:srgbClr val="000000"/>
                </a:solidFill>
                <a:latin typeface="Times New Roman"/>
                <a:cs typeface="Times New Roman"/>
              </a:rPr>
              <a:t>(E[Â] = ΔV)</a:t>
            </a:r>
          </a:p>
        </p:txBody>
      </p:sp>
      <p:sp>
        <p:nvSpPr>
          <p:cNvPr id="264" name="segment boundary"/>
          <p:cNvSpPr/>
          <p:nvPr/>
        </p:nvSpPr>
        <p:spPr>
          <a:xfrm>
            <a:off x="2624328" y="4004373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65" name="segment boundary"/>
          <p:cNvSpPr/>
          <p:nvPr/>
        </p:nvSpPr>
        <p:spPr>
          <a:xfrm>
            <a:off x="3447288" y="4004373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66" name="segment boundary"/>
          <p:cNvSpPr/>
          <p:nvPr/>
        </p:nvSpPr>
        <p:spPr>
          <a:xfrm>
            <a:off x="4270248" y="4004373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67" name="segment boundary"/>
          <p:cNvSpPr/>
          <p:nvPr/>
        </p:nvSpPr>
        <p:spPr>
          <a:xfrm>
            <a:off x="5102352" y="4004373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68" name="segment boundary"/>
          <p:cNvSpPr/>
          <p:nvPr/>
        </p:nvSpPr>
        <p:spPr>
          <a:xfrm>
            <a:off x="5925312" y="4004373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69" name="segment boundary"/>
          <p:cNvSpPr/>
          <p:nvPr/>
        </p:nvSpPr>
        <p:spPr>
          <a:xfrm>
            <a:off x="6748272" y="4004373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70" name="segment boundary"/>
          <p:cNvSpPr/>
          <p:nvPr/>
        </p:nvSpPr>
        <p:spPr>
          <a:xfrm>
            <a:off x="7571232" y="4004373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71" name="segment boundary"/>
          <p:cNvSpPr/>
          <p:nvPr/>
        </p:nvSpPr>
        <p:spPr>
          <a:xfrm>
            <a:off x="8403336" y="4004373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72" name="segment boundary"/>
          <p:cNvSpPr/>
          <p:nvPr/>
        </p:nvSpPr>
        <p:spPr>
          <a:xfrm>
            <a:off x="9226296" y="4004373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73" name="segment boundary"/>
          <p:cNvSpPr/>
          <p:nvPr/>
        </p:nvSpPr>
        <p:spPr>
          <a:xfrm>
            <a:off x="10049256" y="4004373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74" name="segment boundary"/>
          <p:cNvSpPr/>
          <p:nvPr/>
        </p:nvSpPr>
        <p:spPr>
          <a:xfrm>
            <a:off x="10881360" y="4004373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75" name="segment boundary"/>
          <p:cNvSpPr/>
          <p:nvPr/>
        </p:nvSpPr>
        <p:spPr>
          <a:xfrm>
            <a:off x="11704320" y="4004373"/>
            <a:ext cx="1" cy="402336"/>
          </a:xfrm>
          <a:custGeom>
            <a:avLst/>
            <a:gdLst/>
            <a:ahLst/>
            <a:cxnLst/>
            <a:rect l="l" t="t" r="r" b="b"/>
            <a:pathLst>
              <a:path w="1" h="402336" fill="none">
                <a:moveTo>
                  <a:pt x="0" y="0"/>
                </a:moveTo>
                <a:lnTo>
                  <a:pt x="0" y="402336"/>
                </a:lnTo>
              </a:path>
            </a:pathLst>
          </a:custGeom>
          <a:noFill/>
          <a:ln w="6350" cap="rnd">
            <a:solidFill>
              <a:srgbClr val="DEDEDE"/>
            </a:solidFill>
            <a:prstDash val="dash"/>
            <a:round/>
          </a:ln>
        </p:spPr>
      </p:sp>
      <p:sp>
        <p:nvSpPr>
          <p:cNvPr id="276" name="zero line"/>
          <p:cNvSpPr/>
          <p:nvPr/>
        </p:nvSpPr>
        <p:spPr>
          <a:xfrm>
            <a:off x="1801368" y="4205541"/>
            <a:ext cx="10698480" cy="1"/>
          </a:xfrm>
          <a:custGeom>
            <a:avLst/>
            <a:gdLst/>
            <a:ahLst/>
            <a:cxnLst/>
            <a:rect l="l" t="t" r="r" b="b"/>
            <a:pathLst>
              <a:path w="10698480" h="1" fill="none">
                <a:moveTo>
                  <a:pt x="0" y="0"/>
                </a:moveTo>
                <a:lnTo>
                  <a:pt x="10698480" y="0"/>
                </a:lnTo>
              </a:path>
            </a:pathLst>
          </a:custGeom>
          <a:noFill/>
          <a:ln w="11430" cap="rnd">
            <a:solidFill>
              <a:srgbClr val="C4C4C4"/>
            </a:solidFill>
            <a:round/>
          </a:ln>
        </p:spPr>
      </p:sp>
      <p:sp>
        <p:nvSpPr>
          <p:cNvPr id="277" name="credit stem"/>
          <p:cNvSpPr/>
          <p:nvPr/>
        </p:nvSpPr>
        <p:spPr>
          <a:xfrm>
            <a:off x="2212848" y="4176386"/>
            <a:ext cx="1" cy="29155"/>
          </a:xfrm>
          <a:custGeom>
            <a:avLst/>
            <a:gdLst/>
            <a:ahLst/>
            <a:cxnLst/>
            <a:rect l="l" t="t" r="r" b="b"/>
            <a:pathLst>
              <a:path w="1" h="29155" fill="none">
                <a:moveTo>
                  <a:pt x="0" y="29155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E06A1F">
                <a:alpha val="55000"/>
              </a:srgbClr>
            </a:solidFill>
            <a:round/>
          </a:ln>
        </p:spPr>
      </p:sp>
      <p:sp>
        <p:nvSpPr>
          <p:cNvPr id="278" name="credit tip"/>
          <p:cNvSpPr/>
          <p:nvPr/>
        </p:nvSpPr>
        <p:spPr>
          <a:xfrm>
            <a:off x="2176272" y="4139810"/>
            <a:ext cx="73152" cy="73152"/>
          </a:xfrm>
          <a:prstGeom prst="ellipse">
            <a:avLst/>
          </a:prstGeom>
          <a:solidFill>
            <a:srgbClr val="E06A1F">
              <a:alpha val="55000"/>
            </a:srgbClr>
          </a:solidFill>
          <a:ln>
            <a:noFill/>
          </a:ln>
        </p:spPr>
      </p:sp>
      <p:sp>
        <p:nvSpPr>
          <p:cNvPr id="279" name="credit stem"/>
          <p:cNvSpPr/>
          <p:nvPr/>
        </p:nvSpPr>
        <p:spPr>
          <a:xfrm>
            <a:off x="3035808" y="4173471"/>
            <a:ext cx="1" cy="32070"/>
          </a:xfrm>
          <a:custGeom>
            <a:avLst/>
            <a:gdLst/>
            <a:ahLst/>
            <a:cxnLst/>
            <a:rect l="l" t="t" r="r" b="b"/>
            <a:pathLst>
              <a:path w="1" h="32070" fill="none">
                <a:moveTo>
                  <a:pt x="0" y="32070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E06A1F">
                <a:alpha val="55000"/>
              </a:srgbClr>
            </a:solidFill>
            <a:round/>
          </a:ln>
        </p:spPr>
      </p:sp>
      <p:sp>
        <p:nvSpPr>
          <p:cNvPr id="280" name="credit tip"/>
          <p:cNvSpPr/>
          <p:nvPr/>
        </p:nvSpPr>
        <p:spPr>
          <a:xfrm>
            <a:off x="2999232" y="4136895"/>
            <a:ext cx="73152" cy="73152"/>
          </a:xfrm>
          <a:prstGeom prst="ellipse">
            <a:avLst/>
          </a:prstGeom>
          <a:solidFill>
            <a:srgbClr val="E06A1F">
              <a:alpha val="55000"/>
            </a:srgbClr>
          </a:solidFill>
          <a:ln>
            <a:noFill/>
          </a:ln>
        </p:spPr>
      </p:sp>
      <p:sp>
        <p:nvSpPr>
          <p:cNvPr id="281" name="credit stem"/>
          <p:cNvSpPr/>
          <p:nvPr/>
        </p:nvSpPr>
        <p:spPr>
          <a:xfrm>
            <a:off x="3858768" y="4179302"/>
            <a:ext cx="1" cy="26239"/>
          </a:xfrm>
          <a:custGeom>
            <a:avLst/>
            <a:gdLst/>
            <a:ahLst/>
            <a:cxnLst/>
            <a:rect l="l" t="t" r="r" b="b"/>
            <a:pathLst>
              <a:path w="1" h="26239" fill="none">
                <a:moveTo>
                  <a:pt x="0" y="26239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E06A1F">
                <a:alpha val="55000"/>
              </a:srgbClr>
            </a:solidFill>
            <a:round/>
          </a:ln>
        </p:spPr>
      </p:sp>
      <p:sp>
        <p:nvSpPr>
          <p:cNvPr id="282" name="credit tip"/>
          <p:cNvSpPr/>
          <p:nvPr/>
        </p:nvSpPr>
        <p:spPr>
          <a:xfrm>
            <a:off x="3822192" y="4142726"/>
            <a:ext cx="73152" cy="73152"/>
          </a:xfrm>
          <a:prstGeom prst="ellipse">
            <a:avLst/>
          </a:prstGeom>
          <a:solidFill>
            <a:srgbClr val="E06A1F">
              <a:alpha val="55000"/>
            </a:srgbClr>
          </a:solidFill>
          <a:ln>
            <a:noFill/>
          </a:ln>
        </p:spPr>
      </p:sp>
      <p:sp>
        <p:nvSpPr>
          <p:cNvPr id="283" name="credit stem"/>
          <p:cNvSpPr/>
          <p:nvPr/>
        </p:nvSpPr>
        <p:spPr>
          <a:xfrm>
            <a:off x="4686300" y="4182217"/>
            <a:ext cx="1" cy="23324"/>
          </a:xfrm>
          <a:custGeom>
            <a:avLst/>
            <a:gdLst/>
            <a:ahLst/>
            <a:cxnLst/>
            <a:rect l="l" t="t" r="r" b="b"/>
            <a:pathLst>
              <a:path w="1" h="23324" fill="none">
                <a:moveTo>
                  <a:pt x="0" y="23324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E06A1F">
                <a:alpha val="55000"/>
              </a:srgbClr>
            </a:solidFill>
            <a:round/>
          </a:ln>
        </p:spPr>
      </p:sp>
      <p:sp>
        <p:nvSpPr>
          <p:cNvPr id="284" name="credit tip"/>
          <p:cNvSpPr/>
          <p:nvPr/>
        </p:nvSpPr>
        <p:spPr>
          <a:xfrm>
            <a:off x="4649724" y="4145641"/>
            <a:ext cx="73152" cy="73152"/>
          </a:xfrm>
          <a:prstGeom prst="ellipse">
            <a:avLst/>
          </a:prstGeom>
          <a:solidFill>
            <a:srgbClr val="E06A1F">
              <a:alpha val="55000"/>
            </a:srgbClr>
          </a:solidFill>
          <a:ln>
            <a:noFill/>
          </a:ln>
        </p:spPr>
      </p:sp>
      <p:sp>
        <p:nvSpPr>
          <p:cNvPr id="285" name="credit stem"/>
          <p:cNvSpPr/>
          <p:nvPr/>
        </p:nvSpPr>
        <p:spPr>
          <a:xfrm>
            <a:off x="5513832" y="4176386"/>
            <a:ext cx="1" cy="29155"/>
          </a:xfrm>
          <a:custGeom>
            <a:avLst/>
            <a:gdLst/>
            <a:ahLst/>
            <a:cxnLst/>
            <a:rect l="l" t="t" r="r" b="b"/>
            <a:pathLst>
              <a:path w="1" h="29155" fill="none">
                <a:moveTo>
                  <a:pt x="0" y="29155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E06A1F">
                <a:alpha val="55000"/>
              </a:srgbClr>
            </a:solidFill>
            <a:round/>
          </a:ln>
        </p:spPr>
      </p:sp>
      <p:sp>
        <p:nvSpPr>
          <p:cNvPr id="286" name="credit tip"/>
          <p:cNvSpPr/>
          <p:nvPr/>
        </p:nvSpPr>
        <p:spPr>
          <a:xfrm>
            <a:off x="5477256" y="4139810"/>
            <a:ext cx="73152" cy="73152"/>
          </a:xfrm>
          <a:prstGeom prst="ellipse">
            <a:avLst/>
          </a:prstGeom>
          <a:solidFill>
            <a:srgbClr val="E06A1F">
              <a:alpha val="55000"/>
            </a:srgbClr>
          </a:solidFill>
          <a:ln>
            <a:noFill/>
          </a:ln>
        </p:spPr>
      </p:sp>
      <p:sp>
        <p:nvSpPr>
          <p:cNvPr id="287" name="credit stem"/>
          <p:cNvSpPr/>
          <p:nvPr/>
        </p:nvSpPr>
        <p:spPr>
          <a:xfrm>
            <a:off x="6336792" y="4176386"/>
            <a:ext cx="1" cy="29155"/>
          </a:xfrm>
          <a:custGeom>
            <a:avLst/>
            <a:gdLst/>
            <a:ahLst/>
            <a:cxnLst/>
            <a:rect l="l" t="t" r="r" b="b"/>
            <a:pathLst>
              <a:path w="1" h="29155" fill="none">
                <a:moveTo>
                  <a:pt x="0" y="29155"/>
                </a:moveTo>
                <a:lnTo>
                  <a:pt x="0" y="0"/>
                </a:lnTo>
              </a:path>
            </a:pathLst>
          </a:custGeom>
          <a:noFill/>
          <a:ln w="31750" cap="flat">
            <a:solidFill>
              <a:srgbClr val="E06A1F">
                <a:alpha val="55000"/>
              </a:srgbClr>
            </a:solidFill>
            <a:round/>
          </a:ln>
        </p:spPr>
      </p:sp>
      <p:sp>
        <p:nvSpPr>
          <p:cNvPr id="288" name="credit tip"/>
          <p:cNvSpPr/>
          <p:nvPr/>
        </p:nvSpPr>
        <p:spPr>
          <a:xfrm>
            <a:off x="6300216" y="4139810"/>
            <a:ext cx="73152" cy="73152"/>
          </a:xfrm>
          <a:prstGeom prst="ellipse">
            <a:avLst/>
          </a:prstGeom>
          <a:solidFill>
            <a:srgbClr val="E06A1F">
              <a:alpha val="55000"/>
            </a:srgbClr>
          </a:solidFill>
          <a:ln>
            <a:noFill/>
          </a:ln>
        </p:spPr>
      </p:sp>
      <p:sp>
        <p:nvSpPr>
          <p:cNvPr id="289" name="credit stem"/>
          <p:cNvSpPr/>
          <p:nvPr/>
        </p:nvSpPr>
        <p:spPr>
          <a:xfrm>
            <a:off x="7159752" y="4205541"/>
            <a:ext cx="1" cy="134112"/>
          </a:xfrm>
          <a:custGeom>
            <a:avLst/>
            <a:gdLst/>
            <a:ahLst/>
            <a:cxnLst/>
            <a:rect l="l" t="t" r="r" b="b"/>
            <a:pathLst>
              <a:path w="1" h="134112" fill="none">
                <a:moveTo>
                  <a:pt x="0" y="0"/>
                </a:moveTo>
                <a:lnTo>
                  <a:pt x="0" y="134112"/>
                </a:lnTo>
              </a:path>
            </a:pathLst>
          </a:custGeom>
          <a:noFill/>
          <a:ln w="31750" cap="flat">
            <a:solidFill>
              <a:srgbClr val="E06A1F"/>
            </a:solidFill>
            <a:round/>
          </a:ln>
        </p:spPr>
      </p:sp>
      <p:sp>
        <p:nvSpPr>
          <p:cNvPr id="290" name="credit tip"/>
          <p:cNvSpPr/>
          <p:nvPr/>
        </p:nvSpPr>
        <p:spPr>
          <a:xfrm>
            <a:off x="7123176" y="4303077"/>
            <a:ext cx="73152" cy="73152"/>
          </a:xfrm>
          <a:prstGeom prst="ellipse">
            <a:avLst/>
          </a:prstGeom>
          <a:solidFill>
            <a:srgbClr val="E06A1F"/>
          </a:solidFill>
          <a:ln>
            <a:noFill/>
          </a:ln>
        </p:spPr>
      </p:sp>
      <p:sp>
        <p:nvSpPr>
          <p:cNvPr id="291" name="credit stem"/>
          <p:cNvSpPr/>
          <p:nvPr/>
        </p:nvSpPr>
        <p:spPr>
          <a:xfrm>
            <a:off x="7987284" y="4205541"/>
            <a:ext cx="1" cy="11662"/>
          </a:xfrm>
          <a:custGeom>
            <a:avLst/>
            <a:gdLst/>
            <a:ahLst/>
            <a:cxnLst/>
            <a:rect l="l" t="t" r="r" b="b"/>
            <a:pathLst>
              <a:path w="1" h="11662" fill="none">
                <a:moveTo>
                  <a:pt x="0" y="0"/>
                </a:moveTo>
                <a:lnTo>
                  <a:pt x="0" y="11662"/>
                </a:lnTo>
              </a:path>
            </a:pathLst>
          </a:custGeom>
          <a:noFill/>
          <a:ln w="31750" cap="flat">
            <a:solidFill>
              <a:srgbClr val="E06A1F"/>
            </a:solidFill>
            <a:round/>
          </a:ln>
        </p:spPr>
      </p:sp>
      <p:sp>
        <p:nvSpPr>
          <p:cNvPr id="292" name="credit tip"/>
          <p:cNvSpPr/>
          <p:nvPr/>
        </p:nvSpPr>
        <p:spPr>
          <a:xfrm>
            <a:off x="7950708" y="4180627"/>
            <a:ext cx="73152" cy="73152"/>
          </a:xfrm>
          <a:prstGeom prst="ellipse">
            <a:avLst/>
          </a:prstGeom>
          <a:solidFill>
            <a:srgbClr val="E06A1F"/>
          </a:solidFill>
          <a:ln>
            <a:noFill/>
          </a:ln>
        </p:spPr>
      </p:sp>
      <p:sp>
        <p:nvSpPr>
          <p:cNvPr id="293" name="zero credit"/>
          <p:cNvSpPr/>
          <p:nvPr/>
        </p:nvSpPr>
        <p:spPr>
          <a:xfrm>
            <a:off x="8787384" y="4178109"/>
            <a:ext cx="54864" cy="54864"/>
          </a:xfrm>
          <a:prstGeom prst="ellipse">
            <a:avLst/>
          </a:prstGeom>
          <a:solidFill>
            <a:srgbClr val="C9C9C9"/>
          </a:solidFill>
          <a:ln>
            <a:noFill/>
          </a:ln>
        </p:spPr>
      </p:sp>
      <p:sp>
        <p:nvSpPr>
          <p:cNvPr id="294" name="zero credit"/>
          <p:cNvSpPr/>
          <p:nvPr/>
        </p:nvSpPr>
        <p:spPr>
          <a:xfrm>
            <a:off x="9610344" y="4178109"/>
            <a:ext cx="54864" cy="54864"/>
          </a:xfrm>
          <a:prstGeom prst="ellipse">
            <a:avLst/>
          </a:prstGeom>
          <a:solidFill>
            <a:srgbClr val="C9C9C9"/>
          </a:solidFill>
          <a:ln>
            <a:noFill/>
          </a:ln>
        </p:spPr>
      </p:sp>
      <p:sp>
        <p:nvSpPr>
          <p:cNvPr id="295" name="zero credit"/>
          <p:cNvSpPr/>
          <p:nvPr/>
        </p:nvSpPr>
        <p:spPr>
          <a:xfrm>
            <a:off x="10437876" y="4178109"/>
            <a:ext cx="54864" cy="54864"/>
          </a:xfrm>
          <a:prstGeom prst="ellipse">
            <a:avLst/>
          </a:prstGeom>
          <a:solidFill>
            <a:srgbClr val="C9C9C9"/>
          </a:solidFill>
          <a:ln>
            <a:noFill/>
          </a:ln>
        </p:spPr>
      </p:sp>
      <p:sp>
        <p:nvSpPr>
          <p:cNvPr id="296" name="zero credit"/>
          <p:cNvSpPr/>
          <p:nvPr/>
        </p:nvSpPr>
        <p:spPr>
          <a:xfrm>
            <a:off x="11265408" y="4178109"/>
            <a:ext cx="54864" cy="54864"/>
          </a:xfrm>
          <a:prstGeom prst="ellipse">
            <a:avLst/>
          </a:prstGeom>
          <a:solidFill>
            <a:srgbClr val="C9C9C9"/>
          </a:solidFill>
          <a:ln>
            <a:noFill/>
          </a:ln>
        </p:spPr>
      </p:sp>
      <p:sp>
        <p:nvSpPr>
          <p:cNvPr id="297" name="credit stem"/>
          <p:cNvSpPr/>
          <p:nvPr/>
        </p:nvSpPr>
        <p:spPr>
          <a:xfrm>
            <a:off x="12102084" y="4205541"/>
            <a:ext cx="1" cy="34986"/>
          </a:xfrm>
          <a:custGeom>
            <a:avLst/>
            <a:gdLst/>
            <a:ahLst/>
            <a:cxnLst/>
            <a:rect l="l" t="t" r="r" b="b"/>
            <a:pathLst>
              <a:path w="1" h="34986" fill="none">
                <a:moveTo>
                  <a:pt x="0" y="0"/>
                </a:moveTo>
                <a:lnTo>
                  <a:pt x="0" y="34986"/>
                </a:lnTo>
              </a:path>
            </a:pathLst>
          </a:custGeom>
          <a:noFill/>
          <a:ln w="31750" cap="flat">
            <a:solidFill>
              <a:srgbClr val="E06A1F"/>
            </a:solidFill>
            <a:round/>
          </a:ln>
        </p:spPr>
      </p:sp>
      <p:sp>
        <p:nvSpPr>
          <p:cNvPr id="298" name="credit tip"/>
          <p:cNvSpPr/>
          <p:nvPr/>
        </p:nvSpPr>
        <p:spPr>
          <a:xfrm>
            <a:off x="12065508" y="4203951"/>
            <a:ext cx="73152" cy="73152"/>
          </a:xfrm>
          <a:prstGeom prst="ellipse">
            <a:avLst/>
          </a:prstGeom>
          <a:solidFill>
            <a:srgbClr val="E06A1F"/>
          </a:solidFill>
          <a:ln>
            <a:noFill/>
          </a:ln>
        </p:spPr>
      </p:sp>
      <p:sp>
        <p:nvSpPr>
          <p:cNvPr id="299" name="fork node"/>
          <p:cNvSpPr/>
          <p:nvPr/>
        </p:nvSpPr>
        <p:spPr>
          <a:xfrm>
            <a:off x="7539228" y="4022661"/>
            <a:ext cx="64008" cy="64008"/>
          </a:xfrm>
          <a:prstGeom prst="ellipse">
            <a:avLst/>
          </a:prstGeom>
          <a:solidFill>
            <a:srgbClr val="2F6DB5"/>
          </a:solidFill>
          <a:ln>
            <a:noFill/>
          </a:ln>
        </p:spPr>
      </p:sp>
      <p:sp>
        <p:nvSpPr>
          <p:cNvPr id="300" name="fork branch"/>
          <p:cNvSpPr/>
          <p:nvPr/>
        </p:nvSpPr>
        <p:spPr>
          <a:xfrm>
            <a:off x="7571232" y="4013517"/>
            <a:ext cx="219456" cy="41148"/>
          </a:xfrm>
          <a:custGeom>
            <a:avLst/>
            <a:gdLst/>
            <a:ahLst/>
            <a:cxnLst/>
            <a:rect l="l" t="t" r="r" b="b"/>
            <a:pathLst>
              <a:path w="219456" h="41148" fill="none">
                <a:moveTo>
                  <a:pt x="0" y="41148"/>
                </a:moveTo>
                <a:cubicBezTo>
                  <a:pt x="91440" y="41148"/>
                  <a:pt x="91440" y="0"/>
                  <a:pt x="219456" y="0"/>
                </a:cubicBezTo>
              </a:path>
            </a:pathLst>
          </a:custGeom>
          <a:noFill/>
          <a:ln w="15875" cap="rnd">
            <a:solidFill>
              <a:srgbClr val="2F6DB5"/>
            </a:solidFill>
            <a:round/>
          </a:ln>
        </p:spPr>
      </p:sp>
      <p:sp>
        <p:nvSpPr>
          <p:cNvPr id="301" name="fork fail"/>
          <p:cNvSpPr/>
          <p:nvPr/>
        </p:nvSpPr>
        <p:spPr>
          <a:xfrm>
            <a:off x="7807147" y="3975112"/>
            <a:ext cx="76810" cy="76810"/>
          </a:xfrm>
          <a:prstGeom prst="ellipse">
            <a:avLst/>
          </a:prstGeom>
          <a:solidFill>
            <a:srgbClr val="E5483F"/>
          </a:solidFill>
          <a:ln>
            <a:noFill/>
          </a:ln>
        </p:spPr>
      </p:sp>
      <p:sp>
        <p:nvSpPr>
          <p:cNvPr id="302" name="fork fail x"/>
          <p:cNvSpPr/>
          <p:nvPr/>
        </p:nvSpPr>
        <p:spPr>
          <a:xfrm>
            <a:off x="7822692" y="3990657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 fill="none">
                <a:moveTo>
                  <a:pt x="0" y="0"/>
                </a:moveTo>
                <a:lnTo>
                  <a:pt x="45720" y="45720"/>
                </a:lnTo>
              </a:path>
            </a:pathLst>
          </a:custGeom>
          <a:noFill/>
          <a:ln w="12700" cap="rnd">
            <a:solidFill>
              <a:srgbClr val="FFFFFF"/>
            </a:solidFill>
            <a:round/>
          </a:ln>
        </p:spPr>
      </p:sp>
      <p:sp>
        <p:nvSpPr>
          <p:cNvPr id="303" name="fork fail x"/>
          <p:cNvSpPr/>
          <p:nvPr/>
        </p:nvSpPr>
        <p:spPr>
          <a:xfrm>
            <a:off x="7822692" y="3990657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 fill="none">
                <a:moveTo>
                  <a:pt x="0" y="45720"/>
                </a:moveTo>
                <a:lnTo>
                  <a:pt x="45720" y="0"/>
                </a:lnTo>
              </a:path>
            </a:pathLst>
          </a:custGeom>
          <a:noFill/>
          <a:ln w="12700" cap="rnd">
            <a:solidFill>
              <a:srgbClr val="FFFFFF"/>
            </a:solidFill>
            <a:round/>
          </a:ln>
        </p:spPr>
      </p:sp>
      <p:sp>
        <p:nvSpPr>
          <p:cNvPr id="304" name="fork branch"/>
          <p:cNvSpPr/>
          <p:nvPr/>
        </p:nvSpPr>
        <p:spPr>
          <a:xfrm>
            <a:off x="7571232" y="4054665"/>
            <a:ext cx="219456" cy="41148"/>
          </a:xfrm>
          <a:custGeom>
            <a:avLst/>
            <a:gdLst/>
            <a:ahLst/>
            <a:cxnLst/>
            <a:rect l="l" t="t" r="r" b="b"/>
            <a:pathLst>
              <a:path w="219456" h="41148" fill="none">
                <a:moveTo>
                  <a:pt x="0" y="0"/>
                </a:moveTo>
                <a:cubicBezTo>
                  <a:pt x="91440" y="0"/>
                  <a:pt x="91440" y="41148"/>
                  <a:pt x="219456" y="41148"/>
                </a:cubicBezTo>
              </a:path>
            </a:pathLst>
          </a:custGeom>
          <a:noFill/>
          <a:ln w="15875" cap="rnd">
            <a:solidFill>
              <a:srgbClr val="2F6DB5"/>
            </a:solidFill>
            <a:round/>
          </a:ln>
        </p:spPr>
      </p:sp>
      <p:sp>
        <p:nvSpPr>
          <p:cNvPr id="305" name="fork fail"/>
          <p:cNvSpPr/>
          <p:nvPr/>
        </p:nvSpPr>
        <p:spPr>
          <a:xfrm>
            <a:off x="7807147" y="4057408"/>
            <a:ext cx="76810" cy="76810"/>
          </a:xfrm>
          <a:prstGeom prst="ellipse">
            <a:avLst/>
          </a:prstGeom>
          <a:solidFill>
            <a:srgbClr val="E5483F"/>
          </a:solidFill>
          <a:ln>
            <a:noFill/>
          </a:ln>
        </p:spPr>
      </p:sp>
      <p:sp>
        <p:nvSpPr>
          <p:cNvPr id="306" name="fork fail x"/>
          <p:cNvSpPr/>
          <p:nvPr/>
        </p:nvSpPr>
        <p:spPr>
          <a:xfrm>
            <a:off x="7822692" y="4072953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 fill="none">
                <a:moveTo>
                  <a:pt x="0" y="0"/>
                </a:moveTo>
                <a:lnTo>
                  <a:pt x="45720" y="45720"/>
                </a:lnTo>
              </a:path>
            </a:pathLst>
          </a:custGeom>
          <a:noFill/>
          <a:ln w="12700" cap="rnd">
            <a:solidFill>
              <a:srgbClr val="FFFFFF"/>
            </a:solidFill>
            <a:round/>
          </a:ln>
        </p:spPr>
      </p:sp>
      <p:sp>
        <p:nvSpPr>
          <p:cNvPr id="307" name="fork fail x"/>
          <p:cNvSpPr/>
          <p:nvPr/>
        </p:nvSpPr>
        <p:spPr>
          <a:xfrm>
            <a:off x="7822692" y="4072953"/>
            <a:ext cx="45720" cy="45720"/>
          </a:xfrm>
          <a:custGeom>
            <a:avLst/>
            <a:gdLst/>
            <a:ahLst/>
            <a:cxnLst/>
            <a:rect l="l" t="t" r="r" b="b"/>
            <a:pathLst>
              <a:path w="45720" h="45720" fill="none">
                <a:moveTo>
                  <a:pt x="0" y="45720"/>
                </a:moveTo>
                <a:lnTo>
                  <a:pt x="45720" y="0"/>
                </a:lnTo>
              </a:path>
            </a:pathLst>
          </a:custGeom>
          <a:noFill/>
          <a:ln w="12700" cap="rnd">
            <a:solidFill>
              <a:srgbClr val="FFFFFF"/>
            </a:solidFill>
            <a:round/>
          </a:ln>
        </p:spPr>
      </p:sp>
      <p:sp>
        <p:nvSpPr>
          <p:cNvPr id="308" name="fork label"/>
          <p:cNvSpPr txBox="1"/>
          <p:nvPr/>
        </p:nvSpPr>
        <p:spPr>
          <a:xfrm>
            <a:off x="7955280" y="3967797"/>
            <a:ext cx="2194560" cy="1828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50" b="0" i="1">
                <a:solidFill>
                  <a:srgbClr val="2F6DB5"/>
                </a:solidFill>
                <a:latin typeface="Times New Roman"/>
                <a:cs typeface="Times New Roman"/>
              </a:rPr>
              <a:t>fork at s</a:t>
            </a:r>
            <a:r>
              <a:rPr lang="en-US" sz="897" b="0" i="1" baseline="-20000">
                <a:solidFill>
                  <a:srgbClr val="2F6DB5"/>
                </a:solidFill>
                <a:latin typeface="Times New Roman"/>
                <a:cs typeface="Times New Roman"/>
              </a:rPr>
              <a:t>7</a:t>
            </a:r>
            <a:r>
              <a:rPr lang="en-US" sz="1150" b="0" i="1">
                <a:solidFill>
                  <a:srgbClr val="2F6DB5"/>
                </a:solidFill>
                <a:latin typeface="Times New Roman"/>
                <a:cs typeface="Times New Roman"/>
              </a:rPr>
              <a:t>: both verified continuations fail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